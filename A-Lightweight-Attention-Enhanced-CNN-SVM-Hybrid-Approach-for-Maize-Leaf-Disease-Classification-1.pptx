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3000"/>
  <p:notesSz cx="20104100" cy="11303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3930"/>
            <a:ext cx="17088486" cy="23736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29680"/>
            <a:ext cx="14072870" cy="2825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599690"/>
            <a:ext cx="8745284" cy="7459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599690"/>
            <a:ext cx="8745284" cy="7459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94483" y="-24261"/>
            <a:ext cx="13964285" cy="19386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67203" y="2192359"/>
            <a:ext cx="18138140" cy="6388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8107046" y="11008300"/>
            <a:ext cx="1884044" cy="176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50" b="0" i="0">
                <a:solidFill>
                  <a:srgbClr val="18181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1790"/>
            <a:ext cx="4623943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1790"/>
            <a:ext cx="4623943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jpg"/><Relationship Id="rId4" Type="http://schemas.openxmlformats.org/officeDocument/2006/relationships/image" Target="../media/image5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13.jp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jpg"/><Relationship Id="rId11" Type="http://schemas.openxmlformats.org/officeDocument/2006/relationships/image" Target="../media/image17.jpg"/><Relationship Id="rId12" Type="http://schemas.openxmlformats.org/officeDocument/2006/relationships/image" Target="../media/image1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2.jpg"/><Relationship Id="rId6" Type="http://schemas.openxmlformats.org/officeDocument/2006/relationships/image" Target="../media/image23.jpg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image" Target="../media/image26.jpg"/><Relationship Id="rId10" Type="http://schemas.openxmlformats.org/officeDocument/2006/relationships/image" Target="../media/image27.jpg"/><Relationship Id="rId11" Type="http://schemas.openxmlformats.org/officeDocument/2006/relationships/image" Target="../media/image28.jpg"/><Relationship Id="rId12" Type="http://schemas.openxmlformats.org/officeDocument/2006/relationships/image" Target="../media/image2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png"/><Relationship Id="rId6" Type="http://schemas.openxmlformats.org/officeDocument/2006/relationships/image" Target="../media/image35.jpg"/><Relationship Id="rId7" Type="http://schemas.openxmlformats.org/officeDocument/2006/relationships/image" Target="../media/image36.jpg"/><Relationship Id="rId8" Type="http://schemas.openxmlformats.org/officeDocument/2006/relationships/image" Target="../media/image37.jpg"/><Relationship Id="rId9" Type="http://schemas.openxmlformats.org/officeDocument/2006/relationships/image" Target="../media/image38.png"/><Relationship Id="rId10" Type="http://schemas.openxmlformats.org/officeDocument/2006/relationships/image" Target="../media/image3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png"/><Relationship Id="rId3" Type="http://schemas.openxmlformats.org/officeDocument/2006/relationships/image" Target="../media/image41.jpg"/><Relationship Id="rId4" Type="http://schemas.openxmlformats.org/officeDocument/2006/relationships/image" Target="../media/image42.jpg"/><Relationship Id="rId5" Type="http://schemas.openxmlformats.org/officeDocument/2006/relationships/image" Target="../media/image4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87755" y="1387237"/>
            <a:ext cx="11061275" cy="37797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201024" y="604520"/>
            <a:ext cx="11779250" cy="1832610"/>
          </a:xfrm>
          <a:prstGeom prst="rect"/>
        </p:spPr>
        <p:txBody>
          <a:bodyPr wrap="square" lIns="0" tIns="80645" rIns="0" bIns="0" rtlCol="0" vert="horz">
            <a:spAutoFit/>
          </a:bodyPr>
          <a:lstStyle/>
          <a:p>
            <a:pPr algn="ctr" marL="37465" marR="30480">
              <a:lnSpc>
                <a:spcPct val="89800"/>
              </a:lnSpc>
              <a:spcBef>
                <a:spcPts val="635"/>
              </a:spcBef>
            </a:pPr>
            <a:r>
              <a:rPr dirty="0" baseline="1277" sz="6525">
                <a:latin typeface="Arial"/>
                <a:cs typeface="Arial"/>
              </a:rPr>
              <a:t>9</a:t>
            </a:r>
            <a:r>
              <a:rPr dirty="0" baseline="27777" sz="3900">
                <a:latin typeface="Arial"/>
                <a:cs typeface="Arial"/>
              </a:rPr>
              <a:t>TH</a:t>
            </a:r>
            <a:r>
              <a:rPr dirty="0" baseline="27777" sz="3900" spc="869">
                <a:latin typeface="Arial"/>
                <a:cs typeface="Arial"/>
              </a:rPr>
              <a:t> </a:t>
            </a:r>
            <a:r>
              <a:rPr dirty="0" baseline="1277" sz="6525" spc="-630">
                <a:latin typeface="Arial"/>
                <a:cs typeface="Arial"/>
              </a:rPr>
              <a:t>INTERNATI</a:t>
            </a:r>
            <a:r>
              <a:rPr dirty="0" sz="4350" spc="-420">
                <a:latin typeface="Arial"/>
                <a:cs typeface="Arial"/>
              </a:rPr>
              <a:t>O</a:t>
            </a:r>
            <a:r>
              <a:rPr dirty="0" baseline="1277" sz="6525" spc="-630">
                <a:latin typeface="Arial"/>
                <a:cs typeface="Arial"/>
              </a:rPr>
              <a:t>NALCONFERENCE</a:t>
            </a:r>
            <a:r>
              <a:rPr dirty="0" baseline="1277" sz="6525" spc="547">
                <a:latin typeface="Arial"/>
                <a:cs typeface="Arial"/>
              </a:rPr>
              <a:t> </a:t>
            </a:r>
            <a:r>
              <a:rPr dirty="0" baseline="1277" sz="6525" spc="-494">
                <a:latin typeface="Arial"/>
                <a:cs typeface="Arial"/>
              </a:rPr>
              <a:t>ON</a:t>
            </a:r>
            <a:r>
              <a:rPr dirty="0" baseline="1277" sz="6525" spc="-150">
                <a:latin typeface="Arial"/>
                <a:cs typeface="Arial"/>
              </a:rPr>
              <a:t> </a:t>
            </a:r>
            <a:r>
              <a:rPr dirty="0" baseline="1277" sz="6525" spc="-607">
                <a:latin typeface="Arial"/>
                <a:cs typeface="Arial"/>
              </a:rPr>
              <a:t>EMER</a:t>
            </a:r>
            <a:r>
              <a:rPr dirty="0" sz="4350" spc="-405">
                <a:latin typeface="Arial"/>
                <a:cs typeface="Arial"/>
              </a:rPr>
              <a:t>G</a:t>
            </a:r>
            <a:r>
              <a:rPr dirty="0" baseline="1277" sz="6525" spc="-607">
                <a:latin typeface="Arial"/>
                <a:cs typeface="Arial"/>
              </a:rPr>
              <a:t>ING </a:t>
            </a:r>
            <a:r>
              <a:rPr dirty="0" sz="4300" spc="-400">
                <a:latin typeface="Arial"/>
                <a:cs typeface="Arial"/>
              </a:rPr>
              <a:t>APPLICATIONS</a:t>
            </a:r>
            <a:r>
              <a:rPr dirty="0" sz="4300" spc="355">
                <a:latin typeface="Arial"/>
                <a:cs typeface="Arial"/>
              </a:rPr>
              <a:t> </a:t>
            </a:r>
            <a:r>
              <a:rPr dirty="0" sz="4300" spc="-600">
                <a:latin typeface="Arial"/>
                <a:cs typeface="Arial"/>
              </a:rPr>
              <a:t>OF</a:t>
            </a:r>
            <a:r>
              <a:rPr dirty="0" sz="4300" spc="-305">
                <a:latin typeface="Arial"/>
                <a:cs typeface="Arial"/>
              </a:rPr>
              <a:t> </a:t>
            </a:r>
            <a:r>
              <a:rPr dirty="0" sz="4300" spc="-280">
                <a:latin typeface="Arial"/>
                <a:cs typeface="Arial"/>
              </a:rPr>
              <a:t>INFORMATION</a:t>
            </a:r>
            <a:r>
              <a:rPr dirty="0" sz="4300" spc="455">
                <a:latin typeface="Arial"/>
                <a:cs typeface="Arial"/>
              </a:rPr>
              <a:t> </a:t>
            </a:r>
            <a:r>
              <a:rPr dirty="0" sz="4300" spc="-560">
                <a:latin typeface="Arial"/>
                <a:cs typeface="Arial"/>
              </a:rPr>
              <a:t>TECHNOLOGY </a:t>
            </a:r>
            <a:r>
              <a:rPr dirty="0" sz="4050">
                <a:latin typeface="Arial"/>
                <a:cs typeface="Arial"/>
              </a:rPr>
              <a:t>(ERT </a:t>
            </a:r>
            <a:r>
              <a:rPr dirty="0" sz="4050" spc="-10">
                <a:latin typeface="Arial"/>
                <a:cs typeface="Arial"/>
              </a:rPr>
              <a:t>2026)</a:t>
            </a:r>
            <a:endParaRPr sz="405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52531" y="9413111"/>
            <a:ext cx="3152322" cy="79615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88207" y="3970972"/>
            <a:ext cx="16860520" cy="610425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algn="ctr" marL="379095" marR="337820">
              <a:lnSpc>
                <a:spcPct val="99200"/>
              </a:lnSpc>
              <a:spcBef>
                <a:spcPts val="180"/>
              </a:spcBef>
            </a:pPr>
            <a:r>
              <a:rPr dirty="0" sz="6000">
                <a:latin typeface="Arial"/>
                <a:cs typeface="Arial"/>
              </a:rPr>
              <a:t>A</a:t>
            </a:r>
            <a:r>
              <a:rPr dirty="0" sz="6000" spc="180">
                <a:latin typeface="Arial"/>
                <a:cs typeface="Arial"/>
              </a:rPr>
              <a:t> </a:t>
            </a:r>
            <a:r>
              <a:rPr dirty="0" sz="6000" spc="210">
                <a:latin typeface="Arial"/>
                <a:cs typeface="Arial"/>
              </a:rPr>
              <a:t>Lightweight</a:t>
            </a:r>
            <a:r>
              <a:rPr dirty="0" sz="6000" spc="660">
                <a:latin typeface="Arial"/>
                <a:cs typeface="Arial"/>
              </a:rPr>
              <a:t> </a:t>
            </a:r>
            <a:r>
              <a:rPr dirty="0" sz="6000" spc="70">
                <a:latin typeface="Arial"/>
                <a:cs typeface="Arial"/>
              </a:rPr>
              <a:t>Att</a:t>
            </a:r>
            <a:r>
              <a:rPr dirty="0" sz="6000" spc="70">
                <a:latin typeface="Arial"/>
                <a:cs typeface="Arial"/>
              </a:rPr>
              <a:t>e</a:t>
            </a:r>
            <a:r>
              <a:rPr dirty="0" sz="6000" spc="70">
                <a:latin typeface="Arial"/>
                <a:cs typeface="Arial"/>
              </a:rPr>
              <a:t>ntion-</a:t>
            </a:r>
            <a:r>
              <a:rPr dirty="0" sz="6000" spc="95">
                <a:latin typeface="Arial"/>
                <a:cs typeface="Arial"/>
              </a:rPr>
              <a:t>Enhanced</a:t>
            </a:r>
            <a:r>
              <a:rPr dirty="0" sz="6000" spc="-20">
                <a:latin typeface="Arial"/>
                <a:cs typeface="Arial"/>
              </a:rPr>
              <a:t>  </a:t>
            </a:r>
            <a:r>
              <a:rPr dirty="0" sz="6000" spc="105">
                <a:latin typeface="Arial"/>
                <a:cs typeface="Arial"/>
              </a:rPr>
              <a:t>CNN-</a:t>
            </a:r>
            <a:r>
              <a:rPr dirty="0" sz="6000" spc="90">
                <a:latin typeface="Arial"/>
                <a:cs typeface="Arial"/>
              </a:rPr>
              <a:t>SVN </a:t>
            </a:r>
            <a:r>
              <a:rPr dirty="0" sz="6000" spc="285">
                <a:latin typeface="Arial"/>
                <a:cs typeface="Arial"/>
              </a:rPr>
              <a:t>Hybrid</a:t>
            </a:r>
            <a:r>
              <a:rPr dirty="0" sz="6000" spc="-20">
                <a:latin typeface="Arial"/>
                <a:cs typeface="Arial"/>
              </a:rPr>
              <a:t> </a:t>
            </a:r>
            <a:r>
              <a:rPr dirty="0" sz="6000" spc="120">
                <a:latin typeface="Arial"/>
                <a:cs typeface="Arial"/>
              </a:rPr>
              <a:t>Approach</a:t>
            </a:r>
            <a:r>
              <a:rPr dirty="0" sz="6000" spc="355">
                <a:latin typeface="Arial"/>
                <a:cs typeface="Arial"/>
              </a:rPr>
              <a:t> </a:t>
            </a:r>
            <a:r>
              <a:rPr dirty="0" sz="6000" spc="90">
                <a:latin typeface="Arial"/>
                <a:cs typeface="Arial"/>
              </a:rPr>
              <a:t>for</a:t>
            </a:r>
            <a:r>
              <a:rPr dirty="0" sz="6000" spc="825">
                <a:latin typeface="Arial"/>
                <a:cs typeface="Arial"/>
              </a:rPr>
              <a:t> </a:t>
            </a:r>
            <a:r>
              <a:rPr dirty="0" sz="6000" spc="60">
                <a:latin typeface="Arial"/>
                <a:cs typeface="Arial"/>
              </a:rPr>
              <a:t>Maize</a:t>
            </a:r>
            <a:r>
              <a:rPr dirty="0" sz="6000" spc="130">
                <a:latin typeface="Arial"/>
                <a:cs typeface="Arial"/>
              </a:rPr>
              <a:t> </a:t>
            </a:r>
            <a:r>
              <a:rPr dirty="0" sz="6000">
                <a:latin typeface="Arial"/>
                <a:cs typeface="Arial"/>
              </a:rPr>
              <a:t>Leaf</a:t>
            </a:r>
            <a:r>
              <a:rPr dirty="0" sz="6000" spc="305">
                <a:latin typeface="Arial"/>
                <a:cs typeface="Arial"/>
              </a:rPr>
              <a:t> </a:t>
            </a:r>
            <a:r>
              <a:rPr dirty="0" sz="6000" spc="-10">
                <a:latin typeface="Arial"/>
                <a:cs typeface="Arial"/>
              </a:rPr>
              <a:t>Dise</a:t>
            </a:r>
            <a:r>
              <a:rPr dirty="0" sz="6000" spc="-10">
                <a:latin typeface="Arial"/>
                <a:cs typeface="Arial"/>
              </a:rPr>
              <a:t>a</a:t>
            </a:r>
            <a:r>
              <a:rPr dirty="0" sz="6000" spc="-10">
                <a:latin typeface="Arial"/>
                <a:cs typeface="Arial"/>
              </a:rPr>
              <a:t>se </a:t>
            </a:r>
            <a:r>
              <a:rPr dirty="0" sz="5900" spc="130">
                <a:latin typeface="Arial"/>
                <a:cs typeface="Arial"/>
              </a:rPr>
              <a:t>Classification</a:t>
            </a:r>
            <a:endParaRPr sz="5900">
              <a:latin typeface="Arial"/>
              <a:cs typeface="Arial"/>
            </a:endParaRPr>
          </a:p>
          <a:p>
            <a:pPr algn="ctr" marL="12700" marR="5080">
              <a:lnSpc>
                <a:spcPct val="157600"/>
              </a:lnSpc>
              <a:spcBef>
                <a:spcPts val="2750"/>
              </a:spcBef>
            </a:pPr>
            <a:r>
              <a:rPr dirty="0" baseline="1587" sz="5250" spc="-67">
                <a:latin typeface="Times New Roman"/>
                <a:cs typeface="Times New Roman"/>
              </a:rPr>
              <a:t>MD</a:t>
            </a:r>
            <a:r>
              <a:rPr dirty="0" baseline="1587" sz="5250" spc="-262">
                <a:latin typeface="Times New Roman"/>
                <a:cs typeface="Times New Roman"/>
              </a:rPr>
              <a:t> </a:t>
            </a:r>
            <a:r>
              <a:rPr dirty="0" baseline="1587" sz="5250" spc="-30">
                <a:latin typeface="Times New Roman"/>
                <a:cs typeface="Times New Roman"/>
              </a:rPr>
              <a:t>Soyeb</a:t>
            </a:r>
            <a:r>
              <a:rPr dirty="0" baseline="1587" sz="5250" spc="-262">
                <a:latin typeface="Times New Roman"/>
                <a:cs typeface="Times New Roman"/>
              </a:rPr>
              <a:t> </a:t>
            </a:r>
            <a:r>
              <a:rPr dirty="0" baseline="1587" sz="5250" spc="-75">
                <a:latin typeface="Times New Roman"/>
                <a:cs typeface="Times New Roman"/>
              </a:rPr>
              <a:t>Hoque,</a:t>
            </a:r>
            <a:r>
              <a:rPr dirty="0" baseline="1587" sz="5250" spc="-254">
                <a:latin typeface="Times New Roman"/>
                <a:cs typeface="Times New Roman"/>
              </a:rPr>
              <a:t> </a:t>
            </a:r>
            <a:r>
              <a:rPr dirty="0" sz="3500" spc="-35">
                <a:latin typeface="Times New Roman"/>
                <a:cs typeface="Times New Roman"/>
              </a:rPr>
              <a:t>G</a:t>
            </a:r>
            <a:r>
              <a:rPr dirty="0" baseline="1587" sz="5250" spc="-52">
                <a:latin typeface="Times New Roman"/>
                <a:cs typeface="Times New Roman"/>
              </a:rPr>
              <a:t>unjan</a:t>
            </a:r>
            <a:r>
              <a:rPr dirty="0" baseline="1587" sz="5250" spc="-270">
                <a:latin typeface="Times New Roman"/>
                <a:cs typeface="Times New Roman"/>
              </a:rPr>
              <a:t> </a:t>
            </a:r>
            <a:r>
              <a:rPr dirty="0" baseline="1587" sz="5250" spc="-44">
                <a:latin typeface="Times New Roman"/>
                <a:cs typeface="Times New Roman"/>
              </a:rPr>
              <a:t>Basak,</a:t>
            </a:r>
            <a:r>
              <a:rPr dirty="0" baseline="1587" sz="5250" spc="-284">
                <a:latin typeface="Times New Roman"/>
                <a:cs typeface="Times New Roman"/>
              </a:rPr>
              <a:t> </a:t>
            </a:r>
            <a:r>
              <a:rPr dirty="0" baseline="1587" sz="5250" spc="-75">
                <a:latin typeface="Times New Roman"/>
                <a:cs typeface="Times New Roman"/>
              </a:rPr>
              <a:t>Dipan</a:t>
            </a:r>
            <a:r>
              <a:rPr dirty="0" baseline="1587" sz="5250" spc="-254">
                <a:latin typeface="Times New Roman"/>
                <a:cs typeface="Times New Roman"/>
              </a:rPr>
              <a:t> </a:t>
            </a:r>
            <a:r>
              <a:rPr dirty="0" baseline="1587" sz="5250">
                <a:latin typeface="Times New Roman"/>
                <a:cs typeface="Times New Roman"/>
              </a:rPr>
              <a:t>Deb,</a:t>
            </a:r>
            <a:r>
              <a:rPr dirty="0" baseline="1587" sz="5250" spc="-37">
                <a:latin typeface="Times New Roman"/>
                <a:cs typeface="Times New Roman"/>
              </a:rPr>
              <a:t> </a:t>
            </a:r>
            <a:r>
              <a:rPr dirty="0" baseline="1587" sz="5250" spc="-112">
                <a:latin typeface="Times New Roman"/>
                <a:cs typeface="Times New Roman"/>
              </a:rPr>
              <a:t>Nikhil</a:t>
            </a:r>
            <a:r>
              <a:rPr dirty="0" baseline="1587" sz="5250" spc="-217">
                <a:latin typeface="Times New Roman"/>
                <a:cs typeface="Times New Roman"/>
              </a:rPr>
              <a:t> </a:t>
            </a:r>
            <a:r>
              <a:rPr dirty="0" baseline="1587" sz="5250" spc="-52">
                <a:latin typeface="Times New Roman"/>
                <a:cs typeface="Times New Roman"/>
              </a:rPr>
              <a:t>Sah,</a:t>
            </a:r>
            <a:r>
              <a:rPr dirty="0" baseline="1587" sz="5250" spc="-277">
                <a:latin typeface="Times New Roman"/>
                <a:cs typeface="Times New Roman"/>
              </a:rPr>
              <a:t> </a:t>
            </a:r>
            <a:r>
              <a:rPr dirty="0" baseline="1587" sz="5250" spc="-104">
                <a:latin typeface="Times New Roman"/>
                <a:cs typeface="Times New Roman"/>
              </a:rPr>
              <a:t>Arghyasree</a:t>
            </a:r>
            <a:r>
              <a:rPr dirty="0" baseline="1587" sz="5250" spc="15">
                <a:latin typeface="Times New Roman"/>
                <a:cs typeface="Times New Roman"/>
              </a:rPr>
              <a:t> </a:t>
            </a:r>
            <a:r>
              <a:rPr dirty="0" baseline="1587" sz="5250" spc="-30">
                <a:latin typeface="Times New Roman"/>
                <a:cs typeface="Times New Roman"/>
              </a:rPr>
              <a:t>Saha,</a:t>
            </a:r>
            <a:r>
              <a:rPr dirty="0" baseline="1587" sz="5250" spc="-247">
                <a:latin typeface="Times New Roman"/>
                <a:cs typeface="Times New Roman"/>
              </a:rPr>
              <a:t> </a:t>
            </a:r>
            <a:r>
              <a:rPr dirty="0" baseline="1587" sz="5250" spc="-60">
                <a:latin typeface="Times New Roman"/>
                <a:cs typeface="Times New Roman"/>
              </a:rPr>
              <a:t>Pawan</a:t>
            </a:r>
            <a:r>
              <a:rPr dirty="0" baseline="1587" sz="5250" spc="-15">
                <a:latin typeface="Times New Roman"/>
                <a:cs typeface="Times New Roman"/>
              </a:rPr>
              <a:t> </a:t>
            </a:r>
            <a:r>
              <a:rPr dirty="0" baseline="1587" sz="5250" spc="-127">
                <a:latin typeface="Times New Roman"/>
                <a:cs typeface="Times New Roman"/>
              </a:rPr>
              <a:t>Kumar</a:t>
            </a:r>
            <a:r>
              <a:rPr dirty="0" baseline="1587" sz="5250" spc="-195">
                <a:latin typeface="Times New Roman"/>
                <a:cs typeface="Times New Roman"/>
              </a:rPr>
              <a:t> </a:t>
            </a:r>
            <a:r>
              <a:rPr dirty="0" baseline="1587" sz="5250" spc="-15">
                <a:latin typeface="Times New Roman"/>
                <a:cs typeface="Times New Roman"/>
              </a:rPr>
              <a:t>Singh </a:t>
            </a:r>
            <a:r>
              <a:rPr dirty="0" baseline="1587" sz="5250" spc="-75">
                <a:latin typeface="Times New Roman"/>
                <a:cs typeface="Times New Roman"/>
              </a:rPr>
              <a:t>Affiliation</a:t>
            </a:r>
            <a:r>
              <a:rPr dirty="0" baseline="1587" sz="5250" spc="-195">
                <a:latin typeface="Times New Roman"/>
                <a:cs typeface="Times New Roman"/>
              </a:rPr>
              <a:t> </a:t>
            </a:r>
            <a:r>
              <a:rPr dirty="0" baseline="1587" sz="5250">
                <a:latin typeface="Times New Roman"/>
                <a:cs typeface="Times New Roman"/>
              </a:rPr>
              <a:t>:</a:t>
            </a:r>
            <a:r>
              <a:rPr dirty="0" baseline="1587" sz="5250" spc="-322">
                <a:latin typeface="Times New Roman"/>
                <a:cs typeface="Times New Roman"/>
              </a:rPr>
              <a:t> </a:t>
            </a:r>
            <a:r>
              <a:rPr dirty="0" baseline="1587" sz="5250" spc="-82">
                <a:latin typeface="Times New Roman"/>
                <a:cs typeface="Times New Roman"/>
              </a:rPr>
              <a:t>Department</a:t>
            </a:r>
            <a:r>
              <a:rPr dirty="0" baseline="1587" sz="5250" spc="37">
                <a:latin typeface="Times New Roman"/>
                <a:cs typeface="Times New Roman"/>
              </a:rPr>
              <a:t> </a:t>
            </a:r>
            <a:r>
              <a:rPr dirty="0" baseline="1587" sz="5250">
                <a:latin typeface="Times New Roman"/>
                <a:cs typeface="Times New Roman"/>
              </a:rPr>
              <a:t>of</a:t>
            </a:r>
            <a:r>
              <a:rPr dirty="0" baseline="1587" sz="5250" spc="-150">
                <a:latin typeface="Times New Roman"/>
                <a:cs typeface="Times New Roman"/>
              </a:rPr>
              <a:t> </a:t>
            </a:r>
            <a:r>
              <a:rPr dirty="0" baseline="1587" sz="5250" spc="-142">
                <a:latin typeface="Times New Roman"/>
                <a:cs typeface="Times New Roman"/>
              </a:rPr>
              <a:t>IT,</a:t>
            </a:r>
            <a:r>
              <a:rPr dirty="0" baseline="1587" sz="5250" spc="7">
                <a:latin typeface="Times New Roman"/>
                <a:cs typeface="Times New Roman"/>
              </a:rPr>
              <a:t> </a:t>
            </a:r>
            <a:r>
              <a:rPr dirty="0" baseline="1587" sz="5250" spc="-37">
                <a:latin typeface="Times New Roman"/>
                <a:cs typeface="Times New Roman"/>
              </a:rPr>
              <a:t>Jadavpur</a:t>
            </a:r>
            <a:r>
              <a:rPr dirty="0" baseline="1587" sz="5250" spc="-112">
                <a:latin typeface="Times New Roman"/>
                <a:cs typeface="Times New Roman"/>
              </a:rPr>
              <a:t> </a:t>
            </a:r>
            <a:r>
              <a:rPr dirty="0" baseline="1587" sz="5250" spc="-104">
                <a:latin typeface="Times New Roman"/>
                <a:cs typeface="Times New Roman"/>
              </a:rPr>
              <a:t>University,</a:t>
            </a:r>
            <a:r>
              <a:rPr dirty="0" baseline="1587" sz="5250" spc="75">
                <a:latin typeface="Times New Roman"/>
                <a:cs typeface="Times New Roman"/>
              </a:rPr>
              <a:t> </a:t>
            </a:r>
            <a:r>
              <a:rPr dirty="0" baseline="1587" sz="5250" spc="-60">
                <a:latin typeface="Times New Roman"/>
                <a:cs typeface="Times New Roman"/>
              </a:rPr>
              <a:t>Kolkata-700106,</a:t>
            </a:r>
            <a:r>
              <a:rPr dirty="0" baseline="1587" sz="5250" spc="-450">
                <a:latin typeface="Times New Roman"/>
                <a:cs typeface="Times New Roman"/>
              </a:rPr>
              <a:t> </a:t>
            </a:r>
            <a:r>
              <a:rPr dirty="0" sz="3500" spc="-10">
                <a:latin typeface="Times New Roman"/>
                <a:cs typeface="Times New Roman"/>
              </a:rPr>
              <a:t>I</a:t>
            </a:r>
            <a:r>
              <a:rPr dirty="0" baseline="1587" sz="5250" spc="-15">
                <a:latin typeface="Times New Roman"/>
                <a:cs typeface="Times New Roman"/>
              </a:rPr>
              <a:t>ndia.</a:t>
            </a:r>
            <a:endParaRPr baseline="1587" sz="5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200"/>
              </a:spcBef>
            </a:pPr>
            <a:endParaRPr sz="3500">
              <a:latin typeface="Times New Roman"/>
              <a:cs typeface="Times New Roman"/>
            </a:endParaRPr>
          </a:p>
          <a:p>
            <a:pPr algn="r" marR="13970">
              <a:lnSpc>
                <a:spcPct val="100000"/>
              </a:lnSpc>
              <a:spcBef>
                <a:spcPts val="5"/>
              </a:spcBef>
            </a:pPr>
            <a:r>
              <a:rPr dirty="0" sz="3550" spc="-70">
                <a:latin typeface="Arial"/>
                <a:cs typeface="Arial"/>
              </a:rPr>
              <a:t>Paper</a:t>
            </a:r>
            <a:r>
              <a:rPr dirty="0" sz="3550" spc="-145">
                <a:latin typeface="Arial"/>
                <a:cs typeface="Arial"/>
              </a:rPr>
              <a:t> </a:t>
            </a:r>
            <a:r>
              <a:rPr dirty="0" sz="3550" spc="-10">
                <a:latin typeface="Arial"/>
                <a:cs typeface="Arial"/>
              </a:rPr>
              <a:t>ID:</a:t>
            </a:r>
            <a:r>
              <a:rPr dirty="0" sz="3550" spc="-240">
                <a:latin typeface="Arial"/>
                <a:cs typeface="Arial"/>
              </a:rPr>
              <a:t> </a:t>
            </a:r>
            <a:r>
              <a:rPr dirty="0" sz="3550" spc="-25">
                <a:latin typeface="Arial"/>
                <a:cs typeface="Arial"/>
              </a:rPr>
              <a:t>195</a:t>
            </a:r>
            <a:endParaRPr sz="355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250969" y="0"/>
            <a:ext cx="3321197" cy="8054021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29177" rIns="0" bIns="0" rtlCol="0" vert="horz">
            <a:spAutoFit/>
          </a:bodyPr>
          <a:lstStyle/>
          <a:p>
            <a:pPr marL="4460875">
              <a:lnSpc>
                <a:spcPct val="100000"/>
              </a:lnSpc>
              <a:spcBef>
                <a:spcPts val="90"/>
              </a:spcBef>
            </a:pPr>
            <a:r>
              <a:rPr dirty="0" sz="6650" spc="-80"/>
              <a:t>Presentation</a:t>
            </a:r>
            <a:r>
              <a:rPr dirty="0" sz="6650" spc="-285"/>
              <a:t> </a:t>
            </a:r>
            <a:r>
              <a:rPr dirty="0" sz="6650" spc="-50"/>
              <a:t>Outline</a:t>
            </a:r>
            <a:endParaRPr sz="6650"/>
          </a:p>
        </p:txBody>
      </p:sp>
      <p:sp>
        <p:nvSpPr>
          <p:cNvPr id="20" name="object 20"/>
          <p:cNvSpPr/>
          <p:nvPr/>
        </p:nvSpPr>
        <p:spPr>
          <a:xfrm>
            <a:off x="1415328" y="3070688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7124" y="0"/>
                </a:lnTo>
              </a:path>
            </a:pathLst>
          </a:custGeom>
          <a:ln w="1072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415328" y="2864276"/>
            <a:ext cx="217170" cy="212090"/>
            <a:chOff x="1415328" y="2864276"/>
            <a:chExt cx="217170" cy="212090"/>
          </a:xfrm>
        </p:grpSpPr>
        <p:sp>
          <p:nvSpPr>
            <p:cNvPr id="22" name="object 22"/>
            <p:cNvSpPr/>
            <p:nvPr/>
          </p:nvSpPr>
          <p:spPr>
            <a:xfrm>
              <a:off x="1415328" y="2864276"/>
              <a:ext cx="217170" cy="212090"/>
            </a:xfrm>
            <a:custGeom>
              <a:avLst/>
              <a:gdLst/>
              <a:ahLst/>
              <a:cxnLst/>
              <a:rect l="l" t="t" r="r" b="b"/>
              <a:pathLst>
                <a:path w="217169" h="212089">
                  <a:moveTo>
                    <a:pt x="0" y="5361"/>
                  </a:moveTo>
                  <a:lnTo>
                    <a:pt x="217124" y="5361"/>
                  </a:lnTo>
                </a:path>
                <a:path w="217169" h="212089">
                  <a:moveTo>
                    <a:pt x="5361" y="211771"/>
                  </a:moveTo>
                  <a:lnTo>
                    <a:pt x="5361" y="0"/>
                  </a:lnTo>
                </a:path>
              </a:pathLst>
            </a:custGeom>
            <a:ln w="10722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627091" y="2864276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w="0" h="212089">
                  <a:moveTo>
                    <a:pt x="0" y="211771"/>
                  </a:moveTo>
                  <a:lnTo>
                    <a:pt x="0" y="0"/>
                  </a:lnTo>
                </a:path>
              </a:pathLst>
            </a:custGeom>
            <a:ln w="10722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1415328" y="391509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7124" y="0"/>
                </a:lnTo>
              </a:path>
            </a:pathLst>
          </a:custGeom>
          <a:ln w="10722">
            <a:solidFill>
              <a:srgbClr val="131313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1415328" y="3703321"/>
            <a:ext cx="217170" cy="217170"/>
            <a:chOff x="1415328" y="3703321"/>
            <a:chExt cx="217170" cy="217170"/>
          </a:xfrm>
        </p:grpSpPr>
        <p:sp>
          <p:nvSpPr>
            <p:cNvPr id="18" name="object 18"/>
            <p:cNvSpPr/>
            <p:nvPr/>
          </p:nvSpPr>
          <p:spPr>
            <a:xfrm>
              <a:off x="1415328" y="3703321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69" h="217170">
                  <a:moveTo>
                    <a:pt x="0" y="5361"/>
                  </a:moveTo>
                  <a:lnTo>
                    <a:pt x="217124" y="5361"/>
                  </a:lnTo>
                </a:path>
                <a:path w="217169" h="217170">
                  <a:moveTo>
                    <a:pt x="5361" y="217132"/>
                  </a:moveTo>
                  <a:lnTo>
                    <a:pt x="5361" y="0"/>
                  </a:lnTo>
                </a:path>
              </a:pathLst>
            </a:custGeom>
            <a:ln w="10722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627091" y="3703321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70">
                  <a:moveTo>
                    <a:pt x="0" y="217132"/>
                  </a:moveTo>
                  <a:lnTo>
                    <a:pt x="0" y="0"/>
                  </a:lnTo>
                </a:path>
              </a:pathLst>
            </a:custGeom>
            <a:ln w="10722">
              <a:solidFill>
                <a:srgbClr val="13131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/>
          <p:nvPr/>
        </p:nvSpPr>
        <p:spPr>
          <a:xfrm>
            <a:off x="1415328" y="5595862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7124" y="0"/>
                </a:lnTo>
              </a:path>
            </a:pathLst>
          </a:custGeom>
          <a:ln w="1072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/>
          <p:cNvGrpSpPr/>
          <p:nvPr/>
        </p:nvGrpSpPr>
        <p:grpSpPr>
          <a:xfrm>
            <a:off x="1415328" y="5389452"/>
            <a:ext cx="217170" cy="212090"/>
            <a:chOff x="1415328" y="5389452"/>
            <a:chExt cx="217170" cy="212090"/>
          </a:xfrm>
        </p:grpSpPr>
        <p:sp>
          <p:nvSpPr>
            <p:cNvPr id="14" name="object 14"/>
            <p:cNvSpPr/>
            <p:nvPr/>
          </p:nvSpPr>
          <p:spPr>
            <a:xfrm>
              <a:off x="1415328" y="5389452"/>
              <a:ext cx="217170" cy="212090"/>
            </a:xfrm>
            <a:custGeom>
              <a:avLst/>
              <a:gdLst/>
              <a:ahLst/>
              <a:cxnLst/>
              <a:rect l="l" t="t" r="r" b="b"/>
              <a:pathLst>
                <a:path w="217169" h="212089">
                  <a:moveTo>
                    <a:pt x="0" y="5361"/>
                  </a:moveTo>
                  <a:lnTo>
                    <a:pt x="217124" y="5361"/>
                  </a:lnTo>
                </a:path>
                <a:path w="217169" h="212089">
                  <a:moveTo>
                    <a:pt x="5361" y="211771"/>
                  </a:moveTo>
                  <a:lnTo>
                    <a:pt x="5361" y="0"/>
                  </a:lnTo>
                </a:path>
              </a:pathLst>
            </a:custGeom>
            <a:ln w="10722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627091" y="5389452"/>
              <a:ext cx="0" cy="212090"/>
            </a:xfrm>
            <a:custGeom>
              <a:avLst/>
              <a:gdLst/>
              <a:ahLst/>
              <a:cxnLst/>
              <a:rect l="l" t="t" r="r" b="b"/>
              <a:pathLst>
                <a:path w="0" h="212089">
                  <a:moveTo>
                    <a:pt x="0" y="211771"/>
                  </a:moveTo>
                  <a:lnTo>
                    <a:pt x="0" y="0"/>
                  </a:lnTo>
                </a:path>
              </a:pathLst>
            </a:custGeom>
            <a:ln w="10722">
              <a:solidFill>
                <a:srgbClr val="1C1C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415328" y="6440268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7124" y="0"/>
                </a:lnTo>
              </a:path>
            </a:pathLst>
          </a:custGeom>
          <a:ln w="10722">
            <a:solidFill>
              <a:srgbClr val="18181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1415328" y="6228495"/>
            <a:ext cx="217170" cy="217170"/>
            <a:chOff x="1415328" y="6228495"/>
            <a:chExt cx="217170" cy="217170"/>
          </a:xfrm>
        </p:grpSpPr>
        <p:sp>
          <p:nvSpPr>
            <p:cNvPr id="10" name="object 10"/>
            <p:cNvSpPr/>
            <p:nvPr/>
          </p:nvSpPr>
          <p:spPr>
            <a:xfrm>
              <a:off x="1415328" y="6228495"/>
              <a:ext cx="217170" cy="217170"/>
            </a:xfrm>
            <a:custGeom>
              <a:avLst/>
              <a:gdLst/>
              <a:ahLst/>
              <a:cxnLst/>
              <a:rect l="l" t="t" r="r" b="b"/>
              <a:pathLst>
                <a:path w="217169" h="217170">
                  <a:moveTo>
                    <a:pt x="0" y="5361"/>
                  </a:moveTo>
                  <a:lnTo>
                    <a:pt x="217124" y="5361"/>
                  </a:lnTo>
                </a:path>
                <a:path w="217169" h="217170">
                  <a:moveTo>
                    <a:pt x="5361" y="217132"/>
                  </a:moveTo>
                  <a:lnTo>
                    <a:pt x="5361" y="0"/>
                  </a:lnTo>
                </a:path>
              </a:pathLst>
            </a:custGeom>
            <a:ln w="10722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27091" y="6228495"/>
              <a:ext cx="0" cy="217170"/>
            </a:xfrm>
            <a:custGeom>
              <a:avLst/>
              <a:gdLst/>
              <a:ahLst/>
              <a:cxnLst/>
              <a:rect l="l" t="t" r="r" b="b"/>
              <a:pathLst>
                <a:path w="0" h="217170">
                  <a:moveTo>
                    <a:pt x="0" y="217132"/>
                  </a:moveTo>
                  <a:lnTo>
                    <a:pt x="0" y="0"/>
                  </a:lnTo>
                </a:path>
              </a:pathLst>
            </a:custGeom>
            <a:ln w="10722">
              <a:solidFill>
                <a:srgbClr val="18181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" name="object 4"/>
          <p:cNvSpPr/>
          <p:nvPr/>
        </p:nvSpPr>
        <p:spPr>
          <a:xfrm>
            <a:off x="1415328" y="7279311"/>
            <a:ext cx="217170" cy="0"/>
          </a:xfrm>
          <a:custGeom>
            <a:avLst/>
            <a:gdLst/>
            <a:ahLst/>
            <a:cxnLst/>
            <a:rect l="l" t="t" r="r" b="b"/>
            <a:pathLst>
              <a:path w="217169" h="0">
                <a:moveTo>
                  <a:pt x="0" y="0"/>
                </a:moveTo>
                <a:lnTo>
                  <a:pt x="217124" y="0"/>
                </a:lnTo>
              </a:path>
            </a:pathLst>
          </a:custGeom>
          <a:ln w="10722">
            <a:solidFill>
              <a:srgbClr val="0F0F0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/>
          <p:cNvGrpSpPr/>
          <p:nvPr/>
        </p:nvGrpSpPr>
        <p:grpSpPr>
          <a:xfrm>
            <a:off x="1415328" y="7070221"/>
            <a:ext cx="217170" cy="214629"/>
            <a:chOff x="1415328" y="7070221"/>
            <a:chExt cx="217170" cy="214629"/>
          </a:xfrm>
        </p:grpSpPr>
        <p:sp>
          <p:nvSpPr>
            <p:cNvPr id="6" name="object 6"/>
            <p:cNvSpPr/>
            <p:nvPr/>
          </p:nvSpPr>
          <p:spPr>
            <a:xfrm>
              <a:off x="1415328" y="7070221"/>
              <a:ext cx="217170" cy="214629"/>
            </a:xfrm>
            <a:custGeom>
              <a:avLst/>
              <a:gdLst/>
              <a:ahLst/>
              <a:cxnLst/>
              <a:rect l="l" t="t" r="r" b="b"/>
              <a:pathLst>
                <a:path w="217169" h="214629">
                  <a:moveTo>
                    <a:pt x="0" y="5361"/>
                  </a:moveTo>
                  <a:lnTo>
                    <a:pt x="217124" y="5361"/>
                  </a:lnTo>
                </a:path>
                <a:path w="217169" h="214629">
                  <a:moveTo>
                    <a:pt x="5361" y="214452"/>
                  </a:moveTo>
                  <a:lnTo>
                    <a:pt x="5361" y="0"/>
                  </a:lnTo>
                </a:path>
              </a:pathLst>
            </a:custGeom>
            <a:ln w="10722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27091" y="7070221"/>
              <a:ext cx="0" cy="214629"/>
            </a:xfrm>
            <a:custGeom>
              <a:avLst/>
              <a:gdLst/>
              <a:ahLst/>
              <a:cxnLst/>
              <a:rect l="l" t="t" r="r" b="b"/>
              <a:pathLst>
                <a:path w="0" h="214629">
                  <a:moveTo>
                    <a:pt x="0" y="214452"/>
                  </a:moveTo>
                  <a:lnTo>
                    <a:pt x="0" y="0"/>
                  </a:lnTo>
                </a:path>
              </a:pathLst>
            </a:custGeom>
            <a:ln w="10722">
              <a:solidFill>
                <a:srgbClr val="0F0F0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1125283" y="2318782"/>
            <a:ext cx="7226300" cy="5926455"/>
          </a:xfrm>
          <a:prstGeom prst="rect">
            <a:avLst/>
          </a:prstGeom>
        </p:spPr>
        <p:txBody>
          <a:bodyPr wrap="square" lIns="0" tIns="303530" rIns="0" bIns="0" rtlCol="0" vert="horz">
            <a:spAutoFit/>
          </a:bodyPr>
          <a:lstStyle/>
          <a:p>
            <a:pPr marL="877569">
              <a:lnSpc>
                <a:spcPct val="100000"/>
              </a:lnSpc>
              <a:spcBef>
                <a:spcPts val="2390"/>
              </a:spcBef>
            </a:pPr>
            <a:r>
              <a:rPr dirty="0" sz="3700" spc="-10">
                <a:solidFill>
                  <a:srgbClr val="363636"/>
                </a:solidFill>
                <a:latin typeface="Calibri"/>
                <a:cs typeface="Calibri"/>
              </a:rPr>
              <a:t>Introduction</a:t>
            </a:r>
            <a:endParaRPr sz="3700">
              <a:latin typeface="Calibri"/>
              <a:cs typeface="Calibri"/>
            </a:endParaRPr>
          </a:p>
          <a:p>
            <a:pPr marL="871219">
              <a:lnSpc>
                <a:spcPct val="100000"/>
              </a:lnSpc>
              <a:spcBef>
                <a:spcPts val="2245"/>
              </a:spcBef>
            </a:pPr>
            <a:r>
              <a:rPr dirty="0" sz="3600" spc="-25">
                <a:solidFill>
                  <a:srgbClr val="3D3D3D"/>
                </a:solidFill>
                <a:latin typeface="Calibri"/>
                <a:cs typeface="Calibri"/>
              </a:rPr>
              <a:t>Why</a:t>
            </a:r>
            <a:r>
              <a:rPr dirty="0" sz="3600" spc="2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600" spc="55">
                <a:solidFill>
                  <a:srgbClr val="3B3B3B"/>
                </a:solidFill>
                <a:latin typeface="Calibri"/>
                <a:cs typeface="Calibri"/>
              </a:rPr>
              <a:t>This</a:t>
            </a:r>
            <a:r>
              <a:rPr dirty="0" sz="3600" spc="7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600" spc="-60">
                <a:solidFill>
                  <a:srgbClr val="3B3B3B"/>
                </a:solidFill>
                <a:latin typeface="Calibri"/>
                <a:cs typeface="Calibri"/>
              </a:rPr>
              <a:t>Work</a:t>
            </a:r>
            <a:r>
              <a:rPr dirty="0" sz="3600" spc="-6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600" spc="-10">
                <a:solidFill>
                  <a:srgbClr val="3B3B3B"/>
                </a:solidFill>
                <a:latin typeface="Calibri"/>
                <a:cs typeface="Calibri"/>
              </a:rPr>
              <a:t>Matters?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  <a:tabLst>
                <a:tab pos="864235" algn="l"/>
              </a:tabLst>
            </a:pPr>
            <a:r>
              <a:rPr dirty="0" sz="3750" spc="-50">
                <a:latin typeface="Calibri"/>
                <a:cs typeface="Calibri"/>
              </a:rPr>
              <a:t>a</a:t>
            </a:r>
            <a:r>
              <a:rPr dirty="0" sz="3750">
                <a:latin typeface="Calibri"/>
                <a:cs typeface="Calibri"/>
              </a:rPr>
              <a:t>	</a:t>
            </a:r>
            <a:r>
              <a:rPr dirty="0" sz="3750">
                <a:solidFill>
                  <a:srgbClr val="383838"/>
                </a:solidFill>
                <a:latin typeface="Calibri"/>
                <a:cs typeface="Calibri"/>
              </a:rPr>
              <a:t>Literature</a:t>
            </a:r>
            <a:r>
              <a:rPr dirty="0" sz="3750" spc="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750" spc="-10">
                <a:solidFill>
                  <a:srgbClr val="343434"/>
                </a:solidFill>
                <a:latin typeface="Calibri"/>
                <a:cs typeface="Calibri"/>
              </a:rPr>
              <a:t>Analysis</a:t>
            </a:r>
            <a:endParaRPr sz="3750">
              <a:latin typeface="Calibri"/>
              <a:cs typeface="Calibri"/>
            </a:endParaRPr>
          </a:p>
          <a:p>
            <a:pPr marL="866140">
              <a:lnSpc>
                <a:spcPct val="100000"/>
              </a:lnSpc>
              <a:spcBef>
                <a:spcPts val="2250"/>
              </a:spcBef>
            </a:pPr>
            <a:r>
              <a:rPr dirty="0" sz="3650" spc="-35">
                <a:solidFill>
                  <a:srgbClr val="3A3A3A"/>
                </a:solidFill>
                <a:latin typeface="Calibri"/>
                <a:cs typeface="Calibri"/>
              </a:rPr>
              <a:t>Proposed</a:t>
            </a:r>
            <a:r>
              <a:rPr dirty="0" sz="3650" spc="-6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3650" spc="-10">
                <a:solidFill>
                  <a:srgbClr val="363636"/>
                </a:solidFill>
                <a:latin typeface="Calibri"/>
                <a:cs typeface="Calibri"/>
              </a:rPr>
              <a:t>Methodology</a:t>
            </a:r>
            <a:endParaRPr sz="3650">
              <a:latin typeface="Calibri"/>
              <a:cs typeface="Calibri"/>
            </a:endParaRPr>
          </a:p>
          <a:p>
            <a:pPr marL="294005">
              <a:lnSpc>
                <a:spcPct val="100000"/>
              </a:lnSpc>
              <a:spcBef>
                <a:spcPts val="2190"/>
              </a:spcBef>
              <a:tabLst>
                <a:tab pos="865505" algn="l"/>
              </a:tabLst>
            </a:pPr>
            <a:r>
              <a:rPr dirty="0" sz="3700" spc="-305">
                <a:latin typeface="Calibri"/>
                <a:cs typeface="Calibri"/>
              </a:rPr>
              <a:t>v</a:t>
            </a:r>
            <a:r>
              <a:rPr dirty="0" sz="3700">
                <a:latin typeface="Calibri"/>
                <a:cs typeface="Calibri"/>
              </a:rPr>
              <a:t>	</a:t>
            </a:r>
            <a:r>
              <a:rPr dirty="0" sz="3700">
                <a:solidFill>
                  <a:srgbClr val="3B3B3B"/>
                </a:solidFill>
                <a:latin typeface="Calibri"/>
                <a:cs typeface="Calibri"/>
              </a:rPr>
              <a:t>Result</a:t>
            </a:r>
            <a:r>
              <a:rPr dirty="0" sz="3700" spc="-15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3700">
                <a:solidFill>
                  <a:srgbClr val="363636"/>
                </a:solidFill>
                <a:latin typeface="Calibri"/>
                <a:cs typeface="Calibri"/>
              </a:rPr>
              <a:t>Analysis</a:t>
            </a:r>
            <a:r>
              <a:rPr dirty="0" sz="3700" spc="6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700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dirty="0" sz="3700" spc="-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3700" spc="-10">
                <a:solidFill>
                  <a:srgbClr val="383838"/>
                </a:solidFill>
                <a:latin typeface="Calibri"/>
                <a:cs typeface="Calibri"/>
              </a:rPr>
              <a:t>Discussion</a:t>
            </a:r>
            <a:endParaRPr sz="3700">
              <a:latin typeface="Calibri"/>
              <a:cs typeface="Calibri"/>
            </a:endParaRPr>
          </a:p>
          <a:p>
            <a:pPr marL="870585">
              <a:lnSpc>
                <a:spcPct val="100000"/>
              </a:lnSpc>
              <a:spcBef>
                <a:spcPts val="2175"/>
              </a:spcBef>
            </a:pPr>
            <a:r>
              <a:rPr dirty="0" sz="3700" spc="-10">
                <a:solidFill>
                  <a:srgbClr val="363636"/>
                </a:solidFill>
                <a:latin typeface="Calibri"/>
                <a:cs typeface="Calibri"/>
              </a:rPr>
              <a:t>Conclusion</a:t>
            </a:r>
            <a:r>
              <a:rPr dirty="0" sz="3700" spc="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3700">
                <a:solidFill>
                  <a:srgbClr val="3A3A3A"/>
                </a:solidFill>
                <a:latin typeface="Calibri"/>
                <a:cs typeface="Calibri"/>
              </a:rPr>
              <a:t>and</a:t>
            </a:r>
            <a:r>
              <a:rPr dirty="0" sz="3700" spc="-3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3700">
                <a:solidFill>
                  <a:srgbClr val="3D3D3D"/>
                </a:solidFill>
                <a:latin typeface="Calibri"/>
                <a:cs typeface="Calibri"/>
              </a:rPr>
              <a:t>Future</a:t>
            </a:r>
            <a:r>
              <a:rPr dirty="0" sz="3700" spc="-4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3700" spc="-10">
                <a:solidFill>
                  <a:srgbClr val="3B3B3B"/>
                </a:solidFill>
                <a:latin typeface="Calibri"/>
                <a:cs typeface="Calibri"/>
              </a:rPr>
              <a:t>Directions</a:t>
            </a:r>
            <a:endParaRPr sz="37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2180"/>
              </a:spcBef>
              <a:tabLst>
                <a:tab pos="865505" algn="l"/>
              </a:tabLst>
            </a:pPr>
            <a:r>
              <a:rPr dirty="0" sz="3700" spc="-50">
                <a:latin typeface="Calibri"/>
                <a:cs typeface="Calibri"/>
              </a:rPr>
              <a:t>a</a:t>
            </a:r>
            <a:r>
              <a:rPr dirty="0" sz="3700">
                <a:latin typeface="Calibri"/>
                <a:cs typeface="Calibri"/>
              </a:rPr>
              <a:t>	</a:t>
            </a:r>
            <a:r>
              <a:rPr dirty="0" sz="3700" spc="-10">
                <a:solidFill>
                  <a:srgbClr val="3A3A3A"/>
                </a:solidFill>
                <a:latin typeface="Calibri"/>
                <a:cs typeface="Calibri"/>
              </a:rPr>
              <a:t>References</a:t>
            </a:r>
            <a:endParaRPr sz="37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2694" y="8319404"/>
            <a:ext cx="394040" cy="2115034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24815" y="8319404"/>
            <a:ext cx="1833493" cy="2589510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8373" rIns="0" bIns="0" rtlCol="0" vert="horz">
            <a:spAutoFit/>
          </a:bodyPr>
          <a:lstStyle/>
          <a:p>
            <a:pPr marL="5859780">
              <a:lnSpc>
                <a:spcPct val="100000"/>
              </a:lnSpc>
              <a:spcBef>
                <a:spcPts val="90"/>
              </a:spcBef>
            </a:pPr>
            <a:r>
              <a:rPr dirty="0" sz="6650" spc="-125"/>
              <a:t>Introduction</a:t>
            </a:r>
            <a:endParaRPr sz="6650"/>
          </a:p>
        </p:txBody>
      </p:sp>
      <p:sp>
        <p:nvSpPr>
          <p:cNvPr id="6" name="object 6"/>
          <p:cNvSpPr txBox="1"/>
          <p:nvPr/>
        </p:nvSpPr>
        <p:spPr>
          <a:xfrm>
            <a:off x="969308" y="2170468"/>
            <a:ext cx="1149223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31190" indent="-618490">
              <a:lnSpc>
                <a:spcPct val="100000"/>
              </a:lnSpc>
              <a:spcBef>
                <a:spcPts val="95"/>
              </a:spcBef>
              <a:buChar char="•"/>
              <a:tabLst>
                <a:tab pos="631190" algn="l"/>
              </a:tabLst>
            </a:pPr>
            <a:r>
              <a:rPr dirty="0" sz="2950">
                <a:latin typeface="Calibri"/>
                <a:cs typeface="Calibri"/>
              </a:rPr>
              <a:t>Maize</a:t>
            </a:r>
            <a:r>
              <a:rPr dirty="0" sz="2950" spc="35">
                <a:latin typeface="Calibri"/>
                <a:cs typeface="Calibri"/>
              </a:rPr>
              <a:t> </a:t>
            </a:r>
            <a:r>
              <a:rPr dirty="0" sz="2950" spc="85" i="1">
                <a:latin typeface="Calibri"/>
                <a:cs typeface="Calibri"/>
              </a:rPr>
              <a:t>(Zea</a:t>
            </a:r>
            <a:r>
              <a:rPr dirty="0" sz="2950" spc="-75" i="1">
                <a:latin typeface="Calibri"/>
                <a:cs typeface="Calibri"/>
              </a:rPr>
              <a:t> </a:t>
            </a:r>
            <a:r>
              <a:rPr dirty="0" sz="2950" spc="90">
                <a:latin typeface="Calibri"/>
                <a:cs typeface="Calibri"/>
              </a:rPr>
              <a:t>mays</a:t>
            </a:r>
            <a:r>
              <a:rPr dirty="0" sz="2950" spc="-50">
                <a:latin typeface="Calibri"/>
                <a:cs typeface="Calibri"/>
              </a:rPr>
              <a:t> </a:t>
            </a:r>
            <a:r>
              <a:rPr dirty="0" sz="2950" spc="50">
                <a:latin typeface="Calibri"/>
                <a:cs typeface="Calibri"/>
              </a:rPr>
              <a:t>L.)</a:t>
            </a:r>
            <a:r>
              <a:rPr dirty="0" sz="2950" spc="240">
                <a:latin typeface="Calibri"/>
                <a:cs typeface="Calibri"/>
              </a:rPr>
              <a:t> </a:t>
            </a:r>
            <a:r>
              <a:rPr dirty="0" sz="2950" spc="-50">
                <a:latin typeface="Calibri"/>
                <a:cs typeface="Calibri"/>
              </a:rPr>
              <a:t>-</a:t>
            </a:r>
            <a:r>
              <a:rPr dirty="0" sz="2950">
                <a:latin typeface="Calibri"/>
                <a:cs typeface="Calibri"/>
              </a:rPr>
              <a:t>&gt;</a:t>
            </a:r>
            <a:r>
              <a:rPr dirty="0" sz="2950" spc="4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one</a:t>
            </a:r>
            <a:r>
              <a:rPr dirty="0" sz="2950" spc="2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of</a:t>
            </a:r>
            <a:r>
              <a:rPr dirty="0" sz="2950" spc="-8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the</a:t>
            </a:r>
            <a:r>
              <a:rPr dirty="0" sz="2950" spc="-7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most</a:t>
            </a:r>
            <a:r>
              <a:rPr dirty="0" sz="2950" spc="7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widely</a:t>
            </a:r>
            <a:r>
              <a:rPr dirty="0" sz="2950" spc="14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cultivated</a:t>
            </a:r>
            <a:r>
              <a:rPr dirty="0" sz="2950" spc="32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cereal</a:t>
            </a:r>
            <a:r>
              <a:rPr dirty="0" sz="2950" spc="18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crops.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84655" y="3079209"/>
            <a:ext cx="14224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5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3985" y="3091271"/>
            <a:ext cx="670877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1883" sz="4425" spc="-67">
                <a:latin typeface="Arial"/>
                <a:cs typeface="Arial"/>
              </a:rPr>
              <a:t>Vital</a:t>
            </a:r>
            <a:r>
              <a:rPr dirty="0" baseline="1883" sz="4425" spc="-247">
                <a:latin typeface="Arial"/>
                <a:cs typeface="Arial"/>
              </a:rPr>
              <a:t> </a:t>
            </a:r>
            <a:r>
              <a:rPr dirty="0" baseline="1883" sz="4425" spc="-52">
                <a:latin typeface="Arial"/>
                <a:cs typeface="Arial"/>
              </a:rPr>
              <a:t>role</a:t>
            </a:r>
            <a:r>
              <a:rPr dirty="0" baseline="1883" sz="4425" spc="-254">
                <a:latin typeface="Arial"/>
                <a:cs typeface="Arial"/>
              </a:rPr>
              <a:t> </a:t>
            </a:r>
            <a:r>
              <a:rPr dirty="0" baseline="1883" sz="4425" spc="-135">
                <a:latin typeface="Arial"/>
                <a:cs typeface="Arial"/>
              </a:rPr>
              <a:t>in</a:t>
            </a:r>
            <a:r>
              <a:rPr dirty="0" baseline="1883" sz="4425" spc="-172">
                <a:latin typeface="Arial"/>
                <a:cs typeface="Arial"/>
              </a:rPr>
              <a:t> </a:t>
            </a:r>
            <a:r>
              <a:rPr dirty="0" baseline="1883" sz="4425" spc="-120">
                <a:latin typeface="Arial"/>
                <a:cs typeface="Arial"/>
              </a:rPr>
              <a:t>global</a:t>
            </a:r>
            <a:r>
              <a:rPr dirty="0" baseline="1883" sz="4425" spc="-187">
                <a:latin typeface="Arial"/>
                <a:cs typeface="Arial"/>
              </a:rPr>
              <a:t> </a:t>
            </a:r>
            <a:r>
              <a:rPr dirty="0" baseline="1883" sz="4425" spc="-15">
                <a:latin typeface="Arial"/>
                <a:cs typeface="Arial"/>
              </a:rPr>
              <a:t>food</a:t>
            </a:r>
            <a:r>
              <a:rPr dirty="0" baseline="1883" sz="4425" spc="-277">
                <a:latin typeface="Arial"/>
                <a:cs typeface="Arial"/>
              </a:rPr>
              <a:t> </a:t>
            </a:r>
            <a:r>
              <a:rPr dirty="0" baseline="1883" sz="4425" spc="-157">
                <a:latin typeface="Arial"/>
                <a:cs typeface="Arial"/>
              </a:rPr>
              <a:t>security,</a:t>
            </a:r>
            <a:r>
              <a:rPr dirty="0" baseline="1883" sz="4425" spc="75">
                <a:latin typeface="Arial"/>
                <a:cs typeface="Arial"/>
              </a:rPr>
              <a:t> </a:t>
            </a:r>
            <a:r>
              <a:rPr dirty="0" baseline="1883" sz="4425" spc="-157">
                <a:latin typeface="Arial"/>
                <a:cs typeface="Arial"/>
              </a:rPr>
              <a:t>servin</a:t>
            </a:r>
            <a:r>
              <a:rPr dirty="0" sz="2950" spc="-105">
                <a:latin typeface="Arial"/>
                <a:cs typeface="Arial"/>
              </a:rPr>
              <a:t>g</a:t>
            </a:r>
            <a:r>
              <a:rPr dirty="0" sz="2950" spc="-340">
                <a:latin typeface="Arial"/>
                <a:cs typeface="Arial"/>
              </a:rPr>
              <a:t> </a:t>
            </a:r>
            <a:r>
              <a:rPr dirty="0" baseline="1883" sz="4425" spc="-135">
                <a:latin typeface="Arial"/>
                <a:cs typeface="Arial"/>
              </a:rPr>
              <a:t>as:</a:t>
            </a:r>
            <a:endParaRPr baseline="1883" sz="4425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4357" y="3527995"/>
            <a:ext cx="11176635" cy="22910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97025" indent="-595630">
              <a:lnSpc>
                <a:spcPts val="3600"/>
              </a:lnSpc>
              <a:spcBef>
                <a:spcPts val="90"/>
              </a:spcBef>
              <a:buChar char="—"/>
              <a:tabLst>
                <a:tab pos="1597025" algn="l"/>
              </a:tabLst>
            </a:pPr>
            <a:r>
              <a:rPr dirty="0" sz="3000" spc="-380">
                <a:latin typeface="Arial"/>
                <a:cs typeface="Arial"/>
              </a:rPr>
              <a:t>A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 spc="-135">
                <a:latin typeface="Arial"/>
                <a:cs typeface="Arial"/>
              </a:rPr>
              <a:t>staple</a:t>
            </a:r>
            <a:r>
              <a:rPr dirty="0" sz="3000" spc="-75">
                <a:latin typeface="Arial"/>
                <a:cs typeface="Arial"/>
              </a:rPr>
              <a:t> </a:t>
            </a:r>
            <a:r>
              <a:rPr dirty="0" sz="3000" spc="-85">
                <a:latin typeface="Arial"/>
                <a:cs typeface="Arial"/>
              </a:rPr>
              <a:t>food</a:t>
            </a:r>
            <a:r>
              <a:rPr dirty="0" sz="3000" spc="-125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for</a:t>
            </a:r>
            <a:r>
              <a:rPr dirty="0" sz="3000" spc="-18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humans</a:t>
            </a:r>
            <a:endParaRPr sz="3000">
              <a:latin typeface="Arial"/>
              <a:cs typeface="Arial"/>
            </a:endParaRPr>
          </a:p>
          <a:p>
            <a:pPr marL="1597025" indent="-595630">
              <a:lnSpc>
                <a:spcPts val="3515"/>
              </a:lnSpc>
              <a:buChar char="—"/>
              <a:tabLst>
                <a:tab pos="1597025" algn="l"/>
              </a:tabLst>
            </a:pPr>
            <a:r>
              <a:rPr dirty="0" sz="2950" spc="-335">
                <a:latin typeface="Arial"/>
                <a:cs typeface="Arial"/>
              </a:rPr>
              <a:t>A</a:t>
            </a:r>
            <a:r>
              <a:rPr dirty="0" sz="2950" spc="-120">
                <a:latin typeface="Arial"/>
                <a:cs typeface="Arial"/>
              </a:rPr>
              <a:t> </a:t>
            </a:r>
            <a:r>
              <a:rPr dirty="0" sz="2950" spc="-45">
                <a:latin typeface="Arial"/>
                <a:cs typeface="Arial"/>
              </a:rPr>
              <a:t>primary</a:t>
            </a:r>
            <a:r>
              <a:rPr dirty="0" sz="2950" spc="-165">
                <a:latin typeface="Arial"/>
                <a:cs typeface="Arial"/>
              </a:rPr>
              <a:t> </a:t>
            </a:r>
            <a:r>
              <a:rPr dirty="0" sz="2950" spc="-170">
                <a:latin typeface="Arial"/>
                <a:cs typeface="Arial"/>
              </a:rPr>
              <a:t>source</a:t>
            </a:r>
            <a:r>
              <a:rPr dirty="0" sz="2950" spc="-30">
                <a:latin typeface="Arial"/>
                <a:cs typeface="Arial"/>
              </a:rPr>
              <a:t> </a:t>
            </a:r>
            <a:r>
              <a:rPr dirty="0" sz="2950" spc="-45">
                <a:latin typeface="Arial"/>
                <a:cs typeface="Arial"/>
              </a:rPr>
              <a:t>of</a:t>
            </a:r>
            <a:r>
              <a:rPr dirty="0" sz="2950" spc="-165">
                <a:latin typeface="Arial"/>
                <a:cs typeface="Arial"/>
              </a:rPr>
              <a:t> </a:t>
            </a:r>
            <a:r>
              <a:rPr dirty="0" sz="2950">
                <a:latin typeface="Arial"/>
                <a:cs typeface="Arial"/>
              </a:rPr>
              <a:t>animal</a:t>
            </a:r>
            <a:r>
              <a:rPr dirty="0" sz="2950" spc="-150">
                <a:latin typeface="Arial"/>
                <a:cs typeface="Arial"/>
              </a:rPr>
              <a:t> </a:t>
            </a:r>
            <a:r>
              <a:rPr dirty="0" sz="2950" spc="-20">
                <a:latin typeface="Arial"/>
                <a:cs typeface="Arial"/>
              </a:rPr>
              <a:t>feed</a:t>
            </a:r>
            <a:endParaRPr sz="2950">
              <a:latin typeface="Arial"/>
              <a:cs typeface="Arial"/>
            </a:endParaRPr>
          </a:p>
          <a:p>
            <a:pPr marL="1597025" indent="-595630">
              <a:lnSpc>
                <a:spcPts val="3579"/>
              </a:lnSpc>
              <a:buChar char="—"/>
              <a:tabLst>
                <a:tab pos="1597025" algn="l"/>
              </a:tabLst>
            </a:pPr>
            <a:r>
              <a:rPr dirty="0" sz="3000" spc="-380">
                <a:latin typeface="Arial"/>
                <a:cs typeface="Arial"/>
              </a:rPr>
              <a:t>A</a:t>
            </a:r>
            <a:r>
              <a:rPr dirty="0" sz="3000" spc="-135">
                <a:latin typeface="Arial"/>
                <a:cs typeface="Arial"/>
              </a:rPr>
              <a:t> </a:t>
            </a:r>
            <a:r>
              <a:rPr dirty="0" sz="3000" spc="-165">
                <a:latin typeface="Arial"/>
                <a:cs typeface="Arial"/>
              </a:rPr>
              <a:t>raw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 spc="-75">
                <a:latin typeface="Arial"/>
                <a:cs typeface="Arial"/>
              </a:rPr>
              <a:t>material</a:t>
            </a:r>
            <a:r>
              <a:rPr dirty="0" sz="3000" spc="-125">
                <a:latin typeface="Arial"/>
                <a:cs typeface="Arial"/>
              </a:rPr>
              <a:t> </a:t>
            </a:r>
            <a:r>
              <a:rPr dirty="0" sz="3000" spc="-25">
                <a:latin typeface="Arial"/>
                <a:cs typeface="Arial"/>
              </a:rPr>
              <a:t>for</a:t>
            </a:r>
            <a:r>
              <a:rPr dirty="0" sz="3000" spc="-18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industrial</a:t>
            </a:r>
            <a:r>
              <a:rPr dirty="0" sz="3000" spc="-60">
                <a:latin typeface="Arial"/>
                <a:cs typeface="Arial"/>
              </a:rPr>
              <a:t> </a:t>
            </a:r>
            <a:r>
              <a:rPr dirty="0" sz="3000" spc="-85">
                <a:latin typeface="Arial"/>
                <a:cs typeface="Arial"/>
              </a:rPr>
              <a:t>and</a:t>
            </a:r>
            <a:r>
              <a:rPr dirty="0" sz="3000" spc="-125">
                <a:latin typeface="Arial"/>
                <a:cs typeface="Arial"/>
              </a:rPr>
              <a:t> </a:t>
            </a:r>
            <a:r>
              <a:rPr dirty="0" sz="3000" spc="-30">
                <a:latin typeface="Arial"/>
                <a:cs typeface="Arial"/>
              </a:rPr>
              <a:t>biofuel</a:t>
            </a:r>
            <a:r>
              <a:rPr dirty="0" sz="3000" spc="-16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production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3000">
              <a:latin typeface="Arial"/>
              <a:cs typeface="Arial"/>
            </a:endParaRPr>
          </a:p>
          <a:p>
            <a:pPr marL="624205" indent="-611505">
              <a:lnSpc>
                <a:spcPct val="100000"/>
              </a:lnSpc>
              <a:buChar char="•"/>
              <a:tabLst>
                <a:tab pos="624205" algn="l"/>
              </a:tabLst>
            </a:pPr>
            <a:r>
              <a:rPr dirty="0" sz="3000" spc="-200">
                <a:latin typeface="Arial"/>
                <a:cs typeface="Arial"/>
              </a:rPr>
              <a:t>Also</a:t>
            </a:r>
            <a:r>
              <a:rPr dirty="0" sz="3000" spc="-10">
                <a:latin typeface="Arial"/>
                <a:cs typeface="Arial"/>
              </a:rPr>
              <a:t> </a:t>
            </a:r>
            <a:r>
              <a:rPr dirty="0" sz="3000" spc="-95">
                <a:latin typeface="Arial"/>
                <a:cs typeface="Arial"/>
              </a:rPr>
              <a:t>contributes</a:t>
            </a:r>
            <a:r>
              <a:rPr dirty="0" sz="3000" spc="-8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to</a:t>
            </a:r>
            <a:r>
              <a:rPr dirty="0" sz="3000" spc="-204">
                <a:latin typeface="Arial"/>
                <a:cs typeface="Arial"/>
              </a:rPr>
              <a:t> </a:t>
            </a:r>
            <a:r>
              <a:rPr dirty="0" sz="3000" spc="-30">
                <a:latin typeface="Arial"/>
                <a:cs typeface="Arial"/>
              </a:rPr>
              <a:t>agricultural</a:t>
            </a:r>
            <a:r>
              <a:rPr dirty="0" sz="3000" spc="-95">
                <a:latin typeface="Arial"/>
                <a:cs typeface="Arial"/>
              </a:rPr>
              <a:t> economies,</a:t>
            </a:r>
            <a:r>
              <a:rPr dirty="0" sz="3000" spc="100">
                <a:latin typeface="Arial"/>
                <a:cs typeface="Arial"/>
              </a:rPr>
              <a:t> </a:t>
            </a:r>
            <a:r>
              <a:rPr dirty="0" sz="3000" spc="-125">
                <a:latin typeface="Arial"/>
                <a:cs typeface="Arial"/>
              </a:rPr>
              <a:t>in</a:t>
            </a:r>
            <a:r>
              <a:rPr dirty="0" sz="3000" spc="-145">
                <a:latin typeface="Arial"/>
                <a:cs typeface="Arial"/>
              </a:rPr>
              <a:t> </a:t>
            </a:r>
            <a:r>
              <a:rPr dirty="0" sz="3000" spc="-114">
                <a:latin typeface="Arial"/>
                <a:cs typeface="Arial"/>
              </a:rPr>
              <a:t>developing</a:t>
            </a:r>
            <a:r>
              <a:rPr dirty="0" sz="3000" spc="25">
                <a:latin typeface="Arial"/>
                <a:cs typeface="Arial"/>
              </a:rPr>
              <a:t> </a:t>
            </a:r>
            <a:r>
              <a:rPr dirty="0" sz="3000" spc="-65">
                <a:latin typeface="Arial"/>
                <a:cs typeface="Arial"/>
              </a:rPr>
              <a:t>countries.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98322" y="5766083"/>
            <a:ext cx="88458" cy="249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984655" y="6247741"/>
            <a:ext cx="14224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5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2684" y="6259803"/>
            <a:ext cx="10920730" cy="9201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">
              <a:lnSpc>
                <a:spcPts val="3460"/>
              </a:lnSpc>
              <a:spcBef>
                <a:spcPts val="95"/>
              </a:spcBef>
            </a:pPr>
            <a:r>
              <a:rPr dirty="0" baseline="1883" sz="4425" spc="-120">
                <a:latin typeface="Arial"/>
                <a:cs typeface="Arial"/>
              </a:rPr>
              <a:t>Maize</a:t>
            </a:r>
            <a:r>
              <a:rPr dirty="0" baseline="1883" sz="4425" spc="284">
                <a:latin typeface="Arial"/>
                <a:cs typeface="Arial"/>
              </a:rPr>
              <a:t> </a:t>
            </a:r>
            <a:r>
              <a:rPr dirty="0" baseline="1883" sz="4425" spc="-60">
                <a:latin typeface="Arial"/>
                <a:cs typeface="Arial"/>
              </a:rPr>
              <a:t>production</a:t>
            </a:r>
            <a:r>
              <a:rPr dirty="0" baseline="1883" sz="4425" spc="652">
                <a:latin typeface="Arial"/>
                <a:cs typeface="Arial"/>
              </a:rPr>
              <a:t> </a:t>
            </a:r>
            <a:r>
              <a:rPr dirty="0" baseline="1883" sz="4425" spc="-254">
                <a:latin typeface="Arial"/>
                <a:cs typeface="Arial"/>
              </a:rPr>
              <a:t>-</a:t>
            </a:r>
            <a:r>
              <a:rPr dirty="0" baseline="1883" sz="4425" spc="-419">
                <a:latin typeface="Arial"/>
                <a:cs typeface="Arial"/>
              </a:rPr>
              <a:t>&gt;</a:t>
            </a:r>
            <a:r>
              <a:rPr dirty="0" baseline="1883" sz="4425" spc="390">
                <a:latin typeface="Arial"/>
                <a:cs typeface="Arial"/>
              </a:rPr>
              <a:t> </a:t>
            </a:r>
            <a:r>
              <a:rPr dirty="0" baseline="1883" sz="4425" spc="-15">
                <a:latin typeface="Arial"/>
                <a:cs typeface="Arial"/>
              </a:rPr>
              <a:t>highly</a:t>
            </a:r>
            <a:r>
              <a:rPr dirty="0" baseline="1883" sz="4425" spc="494">
                <a:latin typeface="Arial"/>
                <a:cs typeface="Arial"/>
              </a:rPr>
              <a:t> </a:t>
            </a:r>
            <a:r>
              <a:rPr dirty="0" baseline="1883" sz="4425" spc="-127">
                <a:latin typeface="Arial"/>
                <a:cs typeface="Arial"/>
              </a:rPr>
              <a:t>sus</a:t>
            </a:r>
            <a:r>
              <a:rPr dirty="0" sz="2950" spc="-85">
                <a:latin typeface="Arial"/>
                <a:cs typeface="Arial"/>
              </a:rPr>
              <a:t>c</a:t>
            </a:r>
            <a:r>
              <a:rPr dirty="0" baseline="1883" sz="4425" spc="-127">
                <a:latin typeface="Arial"/>
                <a:cs typeface="Arial"/>
              </a:rPr>
              <a:t>eptible</a:t>
            </a:r>
            <a:r>
              <a:rPr dirty="0" baseline="1883" sz="4425" spc="104">
                <a:latin typeface="Arial"/>
                <a:cs typeface="Arial"/>
              </a:rPr>
              <a:t> </a:t>
            </a:r>
            <a:r>
              <a:rPr dirty="0" baseline="1883" sz="4425" spc="82">
                <a:latin typeface="Arial"/>
                <a:cs typeface="Arial"/>
              </a:rPr>
              <a:t>to</a:t>
            </a:r>
            <a:r>
              <a:rPr dirty="0" baseline="1883" sz="4425" spc="195">
                <a:latin typeface="Arial"/>
                <a:cs typeface="Arial"/>
              </a:rPr>
              <a:t> </a:t>
            </a:r>
            <a:r>
              <a:rPr dirty="0" baseline="1883" sz="4425">
                <a:latin typeface="Arial"/>
                <a:cs typeface="Arial"/>
              </a:rPr>
              <a:t>leaf</a:t>
            </a:r>
            <a:r>
              <a:rPr dirty="0" baseline="1883" sz="4425" spc="209">
                <a:latin typeface="Arial"/>
                <a:cs typeface="Arial"/>
              </a:rPr>
              <a:t> </a:t>
            </a:r>
            <a:r>
              <a:rPr dirty="0" baseline="1883" sz="4425" spc="-142">
                <a:latin typeface="Arial"/>
                <a:cs typeface="Arial"/>
              </a:rPr>
              <a:t>diseases</a:t>
            </a:r>
            <a:r>
              <a:rPr dirty="0" baseline="1883" sz="4425" spc="405">
                <a:latin typeface="Arial"/>
                <a:cs typeface="Arial"/>
              </a:rPr>
              <a:t> </a:t>
            </a:r>
            <a:r>
              <a:rPr dirty="0" baseline="1883" sz="4425">
                <a:latin typeface="Arial"/>
                <a:cs typeface="Arial"/>
              </a:rPr>
              <a:t>-</a:t>
            </a:r>
            <a:r>
              <a:rPr dirty="0" baseline="1883" sz="4425" spc="209">
                <a:latin typeface="Arial"/>
                <a:cs typeface="Arial"/>
              </a:rPr>
              <a:t> </a:t>
            </a:r>
            <a:r>
              <a:rPr dirty="0" baseline="1883" sz="4425" spc="-15">
                <a:latin typeface="Arial"/>
                <a:cs typeface="Arial"/>
              </a:rPr>
              <a:t>curvularia</a:t>
            </a:r>
            <a:endParaRPr baseline="1883" sz="4425">
              <a:latin typeface="Arial"/>
              <a:cs typeface="Arial"/>
            </a:endParaRPr>
          </a:p>
          <a:p>
            <a:pPr marL="12700">
              <a:lnSpc>
                <a:spcPts val="3579"/>
              </a:lnSpc>
            </a:pPr>
            <a:r>
              <a:rPr dirty="0" sz="3050" spc="-55">
                <a:latin typeface="Arial"/>
                <a:cs typeface="Arial"/>
              </a:rPr>
              <a:t>leaf</a:t>
            </a:r>
            <a:r>
              <a:rPr dirty="0" sz="3050" spc="-160">
                <a:latin typeface="Arial"/>
                <a:cs typeface="Arial"/>
              </a:rPr>
              <a:t> </a:t>
            </a:r>
            <a:r>
              <a:rPr dirty="0" sz="3050" spc="-70">
                <a:latin typeface="Arial"/>
                <a:cs typeface="Arial"/>
              </a:rPr>
              <a:t>spot,</a:t>
            </a:r>
            <a:r>
              <a:rPr dirty="0" sz="3050" spc="-130">
                <a:latin typeface="Arial"/>
                <a:cs typeface="Arial"/>
              </a:rPr>
              <a:t> </a:t>
            </a:r>
            <a:r>
              <a:rPr dirty="0" sz="3050" spc="-114">
                <a:latin typeface="Arial"/>
                <a:cs typeface="Arial"/>
              </a:rPr>
              <a:t>small</a:t>
            </a:r>
            <a:r>
              <a:rPr dirty="0" sz="3050" spc="-95">
                <a:latin typeface="Arial"/>
                <a:cs typeface="Arial"/>
              </a:rPr>
              <a:t> </a:t>
            </a:r>
            <a:r>
              <a:rPr dirty="0" sz="3050" spc="-70">
                <a:latin typeface="Arial"/>
                <a:cs typeface="Arial"/>
              </a:rPr>
              <a:t>spot</a:t>
            </a:r>
            <a:r>
              <a:rPr dirty="0" sz="3050" spc="-114">
                <a:latin typeface="Arial"/>
                <a:cs typeface="Arial"/>
              </a:rPr>
              <a:t> </a:t>
            </a:r>
            <a:r>
              <a:rPr dirty="0" sz="3050" spc="-260">
                <a:latin typeface="Arial"/>
                <a:cs typeface="Arial"/>
              </a:rPr>
              <a:t>and</a:t>
            </a:r>
            <a:r>
              <a:rPr dirty="0" sz="3050" spc="-15">
                <a:latin typeface="Arial"/>
                <a:cs typeface="Arial"/>
              </a:rPr>
              <a:t> </a:t>
            </a:r>
            <a:r>
              <a:rPr dirty="0" sz="3050" spc="-10">
                <a:latin typeface="Arial"/>
                <a:cs typeface="Arial"/>
              </a:rPr>
              <a:t>rust.</a:t>
            </a:r>
            <a:endParaRPr sz="305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918392" y="6909191"/>
            <a:ext cx="135255" cy="1733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950" spc="-20">
                <a:solidFill>
                  <a:srgbClr val="DBD87E"/>
                </a:solidFill>
                <a:latin typeface="Arial"/>
                <a:cs typeface="Arial"/>
              </a:rPr>
              <a:t>I.</a:t>
            </a:r>
            <a:r>
              <a:rPr dirty="0" sz="950" spc="-150">
                <a:solidFill>
                  <a:srgbClr val="DBD87E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C1C860"/>
                </a:solidFill>
                <a:latin typeface="Arial"/>
                <a:cs typeface="Arial"/>
              </a:rPr>
              <a:t>,</a:t>
            </a:r>
            <a:endParaRPr sz="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4655" y="7610852"/>
            <a:ext cx="14224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5">
                <a:latin typeface="Arial"/>
                <a:cs typeface="Arial"/>
              </a:rPr>
              <a:t>•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86858" y="7622914"/>
            <a:ext cx="1021524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baseline="1883" sz="4425" spc="-300">
                <a:latin typeface="Arial"/>
                <a:cs typeface="Arial"/>
              </a:rPr>
              <a:t>These</a:t>
            </a:r>
            <a:r>
              <a:rPr dirty="0" baseline="1883" sz="4425" spc="-7">
                <a:latin typeface="Arial"/>
                <a:cs typeface="Arial"/>
              </a:rPr>
              <a:t> </a:t>
            </a:r>
            <a:r>
              <a:rPr dirty="0" baseline="1883" sz="4425" spc="-104">
                <a:latin typeface="Arial"/>
                <a:cs typeface="Arial"/>
              </a:rPr>
              <a:t>commonly</a:t>
            </a:r>
            <a:r>
              <a:rPr dirty="0" baseline="1883" sz="4425" spc="-209">
                <a:latin typeface="Arial"/>
                <a:cs typeface="Arial"/>
              </a:rPr>
              <a:t> </a:t>
            </a:r>
            <a:r>
              <a:rPr dirty="0" baseline="1883" sz="4425" spc="-419">
                <a:latin typeface="Arial"/>
                <a:cs typeface="Arial"/>
              </a:rPr>
              <a:t>occUr</a:t>
            </a:r>
            <a:r>
              <a:rPr dirty="0" baseline="1883" sz="4425" spc="30">
                <a:latin typeface="Arial"/>
                <a:cs typeface="Arial"/>
              </a:rPr>
              <a:t> </a:t>
            </a:r>
            <a:r>
              <a:rPr dirty="0" baseline="1883" sz="4425" spc="-135">
                <a:latin typeface="Arial"/>
                <a:cs typeface="Arial"/>
              </a:rPr>
              <a:t>under</a:t>
            </a:r>
            <a:r>
              <a:rPr dirty="0" baseline="1883" sz="4425" spc="-37">
                <a:latin typeface="Arial"/>
                <a:cs typeface="Arial"/>
              </a:rPr>
              <a:t> </a:t>
            </a:r>
            <a:r>
              <a:rPr dirty="0" baseline="1883" sz="4425" spc="-254">
                <a:latin typeface="Arial"/>
                <a:cs typeface="Arial"/>
              </a:rPr>
              <a:t>-</a:t>
            </a:r>
            <a:r>
              <a:rPr dirty="0" baseline="1883" sz="4425" spc="-419">
                <a:latin typeface="Arial"/>
                <a:cs typeface="Arial"/>
              </a:rPr>
              <a:t>&gt;</a:t>
            </a:r>
            <a:r>
              <a:rPr dirty="0" baseline="1883" sz="4425" spc="-225">
                <a:latin typeface="Arial"/>
                <a:cs typeface="Arial"/>
              </a:rPr>
              <a:t> </a:t>
            </a:r>
            <a:r>
              <a:rPr dirty="0" baseline="1883" sz="4425">
                <a:latin typeface="Arial"/>
                <a:cs typeface="Arial"/>
              </a:rPr>
              <a:t>high</a:t>
            </a:r>
            <a:r>
              <a:rPr dirty="0" baseline="1883" sz="4425" spc="-135">
                <a:latin typeface="Arial"/>
                <a:cs typeface="Arial"/>
              </a:rPr>
              <a:t> </a:t>
            </a:r>
            <a:r>
              <a:rPr dirty="0" baseline="1883" sz="4425">
                <a:latin typeface="Arial"/>
                <a:cs typeface="Arial"/>
              </a:rPr>
              <a:t>h</a:t>
            </a:r>
            <a:r>
              <a:rPr dirty="0" sz="2950">
                <a:latin typeface="Arial"/>
                <a:cs typeface="Arial"/>
              </a:rPr>
              <a:t>u</a:t>
            </a:r>
            <a:r>
              <a:rPr dirty="0" baseline="1883" sz="4425">
                <a:latin typeface="Arial"/>
                <a:cs typeface="Arial"/>
              </a:rPr>
              <a:t>midity</a:t>
            </a:r>
            <a:r>
              <a:rPr dirty="0" baseline="1883" sz="4425" spc="719">
                <a:latin typeface="Arial"/>
                <a:cs typeface="Arial"/>
              </a:rPr>
              <a:t> </a:t>
            </a:r>
            <a:r>
              <a:rPr dirty="0" baseline="1883" sz="4425" spc="-284">
                <a:latin typeface="Arial"/>
                <a:cs typeface="Arial"/>
              </a:rPr>
              <a:t>and</a:t>
            </a:r>
            <a:r>
              <a:rPr dirty="0" baseline="1883" sz="4425" spc="-157">
                <a:latin typeface="Arial"/>
                <a:cs typeface="Arial"/>
              </a:rPr>
              <a:t> </a:t>
            </a:r>
            <a:r>
              <a:rPr dirty="0" baseline="1883" sz="4425" spc="-15">
                <a:latin typeface="Arial"/>
                <a:cs typeface="Arial"/>
              </a:rPr>
              <a:t>temperature.</a:t>
            </a:r>
            <a:endParaRPr baseline="1883" sz="4425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4357" y="8509988"/>
            <a:ext cx="10086340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12140" indent="-599440">
              <a:lnSpc>
                <a:spcPct val="100000"/>
              </a:lnSpc>
              <a:spcBef>
                <a:spcPts val="90"/>
              </a:spcBef>
              <a:buChar char="•"/>
              <a:tabLst>
                <a:tab pos="612140" algn="l"/>
              </a:tabLst>
            </a:pPr>
            <a:r>
              <a:rPr dirty="0" sz="3000" spc="-50">
                <a:latin typeface="Arial"/>
                <a:cs typeface="Arial"/>
              </a:rPr>
              <a:t>If</a:t>
            </a:r>
            <a:r>
              <a:rPr dirty="0" sz="3000" spc="-160">
                <a:latin typeface="Arial"/>
                <a:cs typeface="Arial"/>
              </a:rPr>
              <a:t> </a:t>
            </a:r>
            <a:r>
              <a:rPr dirty="0" sz="3000">
                <a:latin typeface="Arial"/>
                <a:cs typeface="Arial"/>
              </a:rPr>
              <a:t>not</a:t>
            </a:r>
            <a:r>
              <a:rPr dirty="0" sz="3000" spc="-210">
                <a:latin typeface="Arial"/>
                <a:cs typeface="Arial"/>
              </a:rPr>
              <a:t> </a:t>
            </a:r>
            <a:r>
              <a:rPr dirty="0" sz="3000" spc="-110">
                <a:latin typeface="Arial"/>
                <a:cs typeface="Arial"/>
              </a:rPr>
              <a:t>detected</a:t>
            </a:r>
            <a:r>
              <a:rPr dirty="0" sz="3000" spc="-100">
                <a:latin typeface="Arial"/>
                <a:cs typeface="Arial"/>
              </a:rPr>
              <a:t> </a:t>
            </a:r>
            <a:r>
              <a:rPr dirty="0" sz="3000" spc="-135">
                <a:latin typeface="Arial"/>
                <a:cs typeface="Arial"/>
              </a:rPr>
              <a:t>early,</a:t>
            </a:r>
            <a:r>
              <a:rPr dirty="0" sz="3000" spc="-50">
                <a:latin typeface="Arial"/>
                <a:cs typeface="Arial"/>
              </a:rPr>
              <a:t> </a:t>
            </a:r>
            <a:r>
              <a:rPr dirty="0" sz="3000" spc="-65">
                <a:latin typeface="Arial"/>
                <a:cs typeface="Arial"/>
              </a:rPr>
              <a:t>they</a:t>
            </a:r>
            <a:r>
              <a:rPr dirty="0" sz="3000" spc="-145">
                <a:latin typeface="Arial"/>
                <a:cs typeface="Arial"/>
              </a:rPr>
              <a:t> </a:t>
            </a:r>
            <a:r>
              <a:rPr dirty="0" sz="3000" spc="-265">
                <a:latin typeface="Arial"/>
                <a:cs typeface="Arial"/>
              </a:rPr>
              <a:t>can</a:t>
            </a:r>
            <a:r>
              <a:rPr dirty="0" sz="3000" spc="-25">
                <a:latin typeface="Arial"/>
                <a:cs typeface="Arial"/>
              </a:rPr>
              <a:t> </a:t>
            </a:r>
            <a:r>
              <a:rPr dirty="0" sz="3000" spc="-280">
                <a:latin typeface="Arial"/>
                <a:cs typeface="Arial"/>
              </a:rPr>
              <a:t>cause</a:t>
            </a:r>
            <a:r>
              <a:rPr dirty="0" sz="3000" spc="55">
                <a:latin typeface="Arial"/>
                <a:cs typeface="Arial"/>
              </a:rPr>
              <a:t> </a:t>
            </a:r>
            <a:r>
              <a:rPr dirty="0" sz="3000" spc="-40">
                <a:latin typeface="Arial"/>
                <a:cs typeface="Arial"/>
              </a:rPr>
              <a:t>substantial</a:t>
            </a:r>
            <a:r>
              <a:rPr dirty="0" sz="3000" spc="-45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yield</a:t>
            </a:r>
            <a:r>
              <a:rPr dirty="0" sz="3000" spc="-170">
                <a:latin typeface="Arial"/>
                <a:cs typeface="Arial"/>
              </a:rPr>
              <a:t> </a:t>
            </a:r>
            <a:r>
              <a:rPr dirty="0" sz="3000" spc="-55">
                <a:latin typeface="Arial"/>
                <a:cs typeface="Arial"/>
              </a:rPr>
              <a:t>losses:</a:t>
            </a:r>
            <a:endParaRPr sz="3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42122" y="8689336"/>
            <a:ext cx="6216187" cy="221958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13821534" y="8589737"/>
            <a:ext cx="3394075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90">
                <a:latin typeface="Cambria"/>
                <a:cs typeface="Cambria"/>
              </a:rPr>
              <a:t>Fig.</a:t>
            </a:r>
            <a:r>
              <a:rPr dirty="0" sz="2300" spc="40">
                <a:latin typeface="Cambria"/>
                <a:cs typeface="Cambria"/>
              </a:rPr>
              <a:t>  </a:t>
            </a:r>
            <a:r>
              <a:rPr dirty="0" sz="2300" spc="50">
                <a:latin typeface="Cambria"/>
                <a:cs typeface="Cambria"/>
              </a:rPr>
              <a:t>1</a:t>
            </a:r>
            <a:r>
              <a:rPr dirty="0" sz="2300" spc="500">
                <a:latin typeface="Cambria"/>
                <a:cs typeface="Cambria"/>
              </a:rPr>
              <a:t> </a:t>
            </a:r>
            <a:r>
              <a:rPr dirty="0" sz="2300" spc="-55">
                <a:latin typeface="Cambria"/>
                <a:cs typeface="Cambria"/>
              </a:rPr>
              <a:t>Representative</a:t>
            </a:r>
            <a:r>
              <a:rPr dirty="0" sz="2300" spc="560">
                <a:latin typeface="Cambria"/>
                <a:cs typeface="Cambria"/>
              </a:rPr>
              <a:t> </a:t>
            </a:r>
            <a:r>
              <a:rPr dirty="0" sz="2300" spc="-55">
                <a:latin typeface="Cambria"/>
                <a:cs typeface="Cambria"/>
              </a:rPr>
              <a:t>RGB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461850" y="8589737"/>
            <a:ext cx="1440180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295400" algn="l"/>
              </a:tabLst>
            </a:pPr>
            <a:r>
              <a:rPr dirty="0" sz="2300">
                <a:latin typeface="Cambria"/>
                <a:cs typeface="Cambria"/>
              </a:rPr>
              <a:t>image</a:t>
            </a:r>
            <a:r>
              <a:rPr dirty="0" sz="2300" spc="440">
                <a:latin typeface="Cambria"/>
                <a:cs typeface="Cambria"/>
              </a:rPr>
              <a:t> </a:t>
            </a:r>
            <a:r>
              <a:rPr dirty="0" sz="2300" spc="-25">
                <a:latin typeface="Cambria"/>
                <a:cs typeface="Cambria"/>
              </a:rPr>
              <a:t>of</a:t>
            </a:r>
            <a:r>
              <a:rPr dirty="0" sz="2300">
                <a:latin typeface="Cambria"/>
                <a:cs typeface="Cambria"/>
              </a:rPr>
              <a:t>	</a:t>
            </a:r>
            <a:r>
              <a:rPr dirty="0" sz="2300" spc="-50">
                <a:latin typeface="Cambria"/>
                <a:cs typeface="Cambria"/>
              </a:rPr>
              <a:t>a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73585" y="8960337"/>
            <a:ext cx="6903084" cy="9480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597535" indent="-584835">
              <a:lnSpc>
                <a:spcPct val="100000"/>
              </a:lnSpc>
              <a:spcBef>
                <a:spcPts val="90"/>
              </a:spcBef>
              <a:buChar char="—"/>
              <a:tabLst>
                <a:tab pos="597535" algn="l"/>
              </a:tabLst>
            </a:pPr>
            <a:r>
              <a:rPr dirty="0" sz="3000" spc="-265">
                <a:latin typeface="Arial"/>
                <a:cs typeface="Arial"/>
              </a:rPr>
              <a:t>Reduced</a:t>
            </a:r>
            <a:r>
              <a:rPr dirty="0" sz="3000" spc="95">
                <a:latin typeface="Arial"/>
                <a:cs typeface="Arial"/>
              </a:rPr>
              <a:t> </a:t>
            </a:r>
            <a:r>
              <a:rPr dirty="0" sz="3000" spc="-120">
                <a:latin typeface="Arial"/>
                <a:cs typeface="Arial"/>
              </a:rPr>
              <a:t>grain</a:t>
            </a:r>
            <a:r>
              <a:rPr dirty="0" sz="3000" spc="-20">
                <a:latin typeface="Arial"/>
                <a:cs typeface="Arial"/>
              </a:rPr>
              <a:t> </a:t>
            </a:r>
            <a:r>
              <a:rPr dirty="0" sz="3000" spc="-10">
                <a:latin typeface="Arial"/>
                <a:cs typeface="Arial"/>
              </a:rPr>
              <a:t>quantity</a:t>
            </a:r>
            <a:endParaRPr sz="3000">
              <a:latin typeface="Arial"/>
              <a:cs typeface="Arial"/>
            </a:endParaRPr>
          </a:p>
          <a:p>
            <a:pPr marL="598170" indent="-585470">
              <a:lnSpc>
                <a:spcPct val="100000"/>
              </a:lnSpc>
              <a:spcBef>
                <a:spcPts val="70"/>
              </a:spcBef>
              <a:buChar char="—"/>
              <a:tabLst>
                <a:tab pos="598170" algn="l"/>
              </a:tabLst>
            </a:pPr>
            <a:r>
              <a:rPr dirty="0" baseline="1851" sz="4500" spc="-209">
                <a:latin typeface="Arial"/>
                <a:cs typeface="Arial"/>
              </a:rPr>
              <a:t>Degrad</a:t>
            </a:r>
            <a:r>
              <a:rPr dirty="0" sz="3000" spc="-140">
                <a:latin typeface="Arial"/>
                <a:cs typeface="Arial"/>
              </a:rPr>
              <a:t>e</a:t>
            </a:r>
            <a:r>
              <a:rPr dirty="0" baseline="1851" sz="4500" spc="-209">
                <a:latin typeface="Arial"/>
                <a:cs typeface="Arial"/>
              </a:rPr>
              <a:t>d</a:t>
            </a:r>
            <a:r>
              <a:rPr dirty="0" baseline="1851" sz="4500" spc="-375">
                <a:latin typeface="Arial"/>
                <a:cs typeface="Arial"/>
              </a:rPr>
              <a:t> </a:t>
            </a:r>
            <a:r>
              <a:rPr dirty="0" baseline="1851" sz="4500" spc="-225">
                <a:latin typeface="Arial"/>
                <a:cs typeface="Arial"/>
              </a:rPr>
              <a:t>grain</a:t>
            </a:r>
            <a:r>
              <a:rPr dirty="0" baseline="1851" sz="4500" spc="-89">
                <a:latin typeface="Arial"/>
                <a:cs typeface="Arial"/>
              </a:rPr>
              <a:t> </a:t>
            </a:r>
            <a:r>
              <a:rPr dirty="0" baseline="1851" sz="4500" spc="-82">
                <a:latin typeface="Arial"/>
                <a:cs typeface="Arial"/>
              </a:rPr>
              <a:t>quality</a:t>
            </a:r>
            <a:r>
              <a:rPr dirty="0" baseline="1851" sz="4500" spc="-232">
                <a:latin typeface="Arial"/>
                <a:cs typeface="Arial"/>
              </a:rPr>
              <a:t> </a:t>
            </a:r>
            <a:r>
              <a:rPr dirty="0" baseline="1851" sz="4500" spc="-315">
                <a:latin typeface="Arial"/>
                <a:cs typeface="Arial"/>
              </a:rPr>
              <a:t>and</a:t>
            </a:r>
            <a:r>
              <a:rPr dirty="0" baseline="1851" sz="4500" spc="-37">
                <a:latin typeface="Arial"/>
                <a:cs typeface="Arial"/>
              </a:rPr>
              <a:t> </a:t>
            </a:r>
            <a:r>
              <a:rPr dirty="0" baseline="1851" sz="4500" spc="-150">
                <a:latin typeface="Arial"/>
                <a:cs typeface="Arial"/>
              </a:rPr>
              <a:t>market</a:t>
            </a:r>
            <a:r>
              <a:rPr dirty="0" baseline="1851" sz="4500" spc="120">
                <a:latin typeface="Arial"/>
                <a:cs typeface="Arial"/>
              </a:rPr>
              <a:t> </a:t>
            </a:r>
            <a:r>
              <a:rPr dirty="0" baseline="1851" sz="4500" spc="-142">
                <a:latin typeface="Arial"/>
                <a:cs typeface="Arial"/>
              </a:rPr>
              <a:t>value</a:t>
            </a:r>
            <a:endParaRPr baseline="1851" sz="45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523881" y="8947605"/>
            <a:ext cx="5367655" cy="109283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12700" marR="5080" indent="1270">
              <a:lnSpc>
                <a:spcPct val="101499"/>
              </a:lnSpc>
              <a:spcBef>
                <a:spcPts val="90"/>
              </a:spcBef>
            </a:pPr>
            <a:r>
              <a:rPr dirty="0" sz="2300">
                <a:latin typeface="Cambria"/>
                <a:cs typeface="Cambria"/>
              </a:rPr>
              <a:t>maize</a:t>
            </a:r>
            <a:r>
              <a:rPr dirty="0" sz="2300" spc="260">
                <a:latin typeface="Cambria"/>
                <a:cs typeface="Cambria"/>
              </a:rPr>
              <a:t>   </a:t>
            </a:r>
            <a:r>
              <a:rPr dirty="0" sz="2300">
                <a:latin typeface="Cambria"/>
                <a:cs typeface="Cambria"/>
              </a:rPr>
              <a:t>leaf</a:t>
            </a:r>
            <a:r>
              <a:rPr dirty="0" sz="2300" spc="290">
                <a:latin typeface="Cambria"/>
                <a:cs typeface="Cambria"/>
              </a:rPr>
              <a:t>   </a:t>
            </a:r>
            <a:r>
              <a:rPr dirty="0" sz="2300">
                <a:latin typeface="Cambria"/>
                <a:cs typeface="Cambria"/>
              </a:rPr>
              <a:t>exhibiting</a:t>
            </a:r>
            <a:r>
              <a:rPr dirty="0" sz="2300" spc="350">
                <a:latin typeface="Cambria"/>
                <a:cs typeface="Cambria"/>
              </a:rPr>
              <a:t>   </a:t>
            </a:r>
            <a:r>
              <a:rPr dirty="0" sz="2300">
                <a:latin typeface="Cambria"/>
                <a:cs typeface="Cambria"/>
              </a:rPr>
              <a:t>visible</a:t>
            </a:r>
            <a:r>
              <a:rPr dirty="0" sz="2300" spc="245">
                <a:latin typeface="Cambria"/>
                <a:cs typeface="Cambria"/>
              </a:rPr>
              <a:t>   </a:t>
            </a:r>
            <a:r>
              <a:rPr dirty="0" sz="2300" spc="-90">
                <a:latin typeface="Cambria"/>
                <a:cs typeface="Cambria"/>
              </a:rPr>
              <a:t>disease </a:t>
            </a:r>
            <a:r>
              <a:rPr dirty="0" sz="2300">
                <a:latin typeface="Cambria"/>
                <a:cs typeface="Cambria"/>
              </a:rPr>
              <a:t>symptoms,</a:t>
            </a:r>
            <a:r>
              <a:rPr dirty="0" sz="2300" spc="315">
                <a:latin typeface="Cambria"/>
                <a:cs typeface="Cambria"/>
              </a:rPr>
              <a:t> </a:t>
            </a:r>
            <a:r>
              <a:rPr dirty="0" sz="2300" spc="-25">
                <a:latin typeface="Cambria"/>
                <a:cs typeface="Cambria"/>
              </a:rPr>
              <a:t>characterized</a:t>
            </a:r>
            <a:r>
              <a:rPr dirty="0" sz="2300" spc="310">
                <a:latin typeface="Cambria"/>
                <a:cs typeface="Cambria"/>
              </a:rPr>
              <a:t> </a:t>
            </a:r>
            <a:r>
              <a:rPr dirty="0" sz="2300">
                <a:latin typeface="Cambria"/>
                <a:cs typeface="Cambria"/>
              </a:rPr>
              <a:t>by</a:t>
            </a:r>
            <a:r>
              <a:rPr dirty="0" sz="2300" spc="215">
                <a:latin typeface="Cambria"/>
                <a:cs typeface="Cambria"/>
              </a:rPr>
              <a:t> </a:t>
            </a:r>
            <a:r>
              <a:rPr dirty="0" sz="2300" spc="-190">
                <a:latin typeface="Cambria"/>
                <a:cs typeface="Cambria"/>
              </a:rPr>
              <a:t>yellow—</a:t>
            </a:r>
            <a:r>
              <a:rPr dirty="0" sz="2300" spc="-130">
                <a:latin typeface="Cambria"/>
                <a:cs typeface="Cambria"/>
              </a:rPr>
              <a:t>brown </a:t>
            </a:r>
            <a:r>
              <a:rPr dirty="0" sz="2300" spc="-85">
                <a:latin typeface="Cambria"/>
                <a:cs typeface="Cambria"/>
              </a:rPr>
              <a:t>pustules</a:t>
            </a:r>
            <a:r>
              <a:rPr dirty="0" sz="2300" spc="35">
                <a:latin typeface="Cambria"/>
                <a:cs typeface="Cambria"/>
              </a:rPr>
              <a:t> </a:t>
            </a:r>
            <a:r>
              <a:rPr dirty="0" sz="2300" spc="-70">
                <a:latin typeface="Cambria"/>
                <a:cs typeface="Cambria"/>
              </a:rPr>
              <a:t>indicative</a:t>
            </a:r>
            <a:r>
              <a:rPr dirty="0" sz="2300" spc="155">
                <a:latin typeface="Cambria"/>
                <a:cs typeface="Cambria"/>
              </a:rPr>
              <a:t> </a:t>
            </a:r>
            <a:r>
              <a:rPr dirty="0" sz="2300">
                <a:latin typeface="Cambria"/>
                <a:cs typeface="Cambria"/>
              </a:rPr>
              <a:t>of</a:t>
            </a:r>
            <a:r>
              <a:rPr dirty="0" sz="2300" spc="135">
                <a:latin typeface="Cambria"/>
                <a:cs typeface="Cambria"/>
              </a:rPr>
              <a:t> </a:t>
            </a:r>
            <a:r>
              <a:rPr dirty="0" sz="2300" spc="-35">
                <a:latin typeface="Cambria"/>
                <a:cs typeface="Cambria"/>
              </a:rPr>
              <a:t>leaf</a:t>
            </a:r>
            <a:r>
              <a:rPr dirty="0" sz="2300" spc="70">
                <a:latin typeface="Cambria"/>
                <a:cs typeface="Cambria"/>
              </a:rPr>
              <a:t> </a:t>
            </a:r>
            <a:r>
              <a:rPr dirty="0" sz="2300" spc="-120">
                <a:latin typeface="Cambria"/>
                <a:cs typeface="Cambria"/>
              </a:rPr>
              <a:t>rust</a:t>
            </a:r>
            <a:r>
              <a:rPr dirty="0" sz="2300" spc="-10">
                <a:latin typeface="Cambria"/>
                <a:cs typeface="Cambria"/>
              </a:rPr>
              <a:t> infection.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896684" y="417097"/>
            <a:ext cx="8228965" cy="10445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650"/>
              <a:t>Why</a:t>
            </a:r>
            <a:r>
              <a:rPr dirty="0" sz="6650" spc="-285"/>
              <a:t> </a:t>
            </a:r>
            <a:r>
              <a:rPr dirty="0" sz="6650"/>
              <a:t>This</a:t>
            </a:r>
            <a:r>
              <a:rPr dirty="0" sz="6650" spc="-370"/>
              <a:t> </a:t>
            </a:r>
            <a:r>
              <a:rPr dirty="0" sz="6650" spc="-135"/>
              <a:t>Work</a:t>
            </a:r>
            <a:r>
              <a:rPr dirty="0" sz="6650" spc="-240"/>
              <a:t> </a:t>
            </a:r>
            <a:r>
              <a:rPr dirty="0" sz="6650" spc="-145"/>
              <a:t>Matters?</a:t>
            </a:r>
            <a:endParaRPr sz="6650"/>
          </a:p>
        </p:txBody>
      </p:sp>
      <p:sp>
        <p:nvSpPr>
          <p:cNvPr id="3" name="object 3"/>
          <p:cNvSpPr txBox="1"/>
          <p:nvPr/>
        </p:nvSpPr>
        <p:spPr>
          <a:xfrm>
            <a:off x="967730" y="1761221"/>
            <a:ext cx="17614265" cy="865568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35"/>
              </a:spcBef>
            </a:pPr>
            <a:r>
              <a:rPr dirty="0" u="heavy" sz="30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Motivation</a:t>
            </a:r>
            <a:r>
              <a:rPr dirty="0" sz="3000" spc="-1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645795" indent="-633095">
              <a:lnSpc>
                <a:spcPts val="3515"/>
              </a:lnSpc>
              <a:spcBef>
                <a:spcPts val="40"/>
              </a:spcBef>
              <a:buChar char="•"/>
              <a:tabLst>
                <a:tab pos="645795" algn="l"/>
              </a:tabLst>
            </a:pPr>
            <a:r>
              <a:rPr dirty="0" sz="3000" spc="-40">
                <a:latin typeface="Calibri"/>
                <a:cs typeface="Calibri"/>
              </a:rPr>
              <a:t>Current</a:t>
            </a:r>
            <a:r>
              <a:rPr dirty="0" sz="3000" spc="1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disease</a:t>
            </a:r>
            <a:r>
              <a:rPr dirty="0" sz="3000" spc="5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diagnosis</a:t>
            </a:r>
            <a:r>
              <a:rPr dirty="0" sz="3000" spc="13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methods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rely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1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manual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visual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inspection:</a:t>
            </a:r>
            <a:endParaRPr sz="3000">
              <a:latin typeface="Calibri"/>
              <a:cs typeface="Calibri"/>
            </a:endParaRPr>
          </a:p>
          <a:p>
            <a:pPr lvl="1" marL="1610360" indent="-608330">
              <a:lnSpc>
                <a:spcPts val="3575"/>
              </a:lnSpc>
              <a:buChar char="—"/>
              <a:tabLst>
                <a:tab pos="1610360" algn="l"/>
              </a:tabLst>
            </a:pPr>
            <a:r>
              <a:rPr dirty="0" sz="3050" spc="-70">
                <a:latin typeface="Calibri"/>
                <a:cs typeface="Calibri"/>
              </a:rPr>
              <a:t>Time-</a:t>
            </a:r>
            <a:r>
              <a:rPr dirty="0" sz="3050" spc="-40">
                <a:latin typeface="Calibri"/>
                <a:cs typeface="Calibri"/>
              </a:rPr>
              <a:t>consuming</a:t>
            </a:r>
            <a:r>
              <a:rPr dirty="0" sz="3050" spc="-50">
                <a:latin typeface="Calibri"/>
                <a:cs typeface="Calibri"/>
              </a:rPr>
              <a:t> </a:t>
            </a:r>
            <a:r>
              <a:rPr dirty="0" sz="3050" spc="-40">
                <a:latin typeface="Calibri"/>
                <a:cs typeface="Calibri"/>
              </a:rPr>
              <a:t>and</a:t>
            </a:r>
            <a:r>
              <a:rPr dirty="0" sz="3050" spc="-100">
                <a:latin typeface="Calibri"/>
                <a:cs typeface="Calibri"/>
              </a:rPr>
              <a:t> </a:t>
            </a:r>
            <a:r>
              <a:rPr dirty="0" sz="3050" spc="-60">
                <a:latin typeface="Calibri"/>
                <a:cs typeface="Calibri"/>
              </a:rPr>
              <a:t>labor-</a:t>
            </a:r>
            <a:r>
              <a:rPr dirty="0" sz="3050" spc="-10">
                <a:latin typeface="Calibri"/>
                <a:cs typeface="Calibri"/>
              </a:rPr>
              <a:t>intensive</a:t>
            </a:r>
            <a:endParaRPr sz="3050">
              <a:latin typeface="Calibri"/>
              <a:cs typeface="Calibri"/>
            </a:endParaRPr>
          </a:p>
          <a:p>
            <a:pPr lvl="1" marL="1607820" indent="-605155">
              <a:lnSpc>
                <a:spcPts val="3540"/>
              </a:lnSpc>
              <a:spcBef>
                <a:spcPts val="30"/>
              </a:spcBef>
              <a:buChar char="—"/>
              <a:tabLst>
                <a:tab pos="1607820" algn="l"/>
              </a:tabLst>
            </a:pPr>
            <a:r>
              <a:rPr dirty="0" sz="3000" spc="-35">
                <a:latin typeface="Calibri"/>
                <a:cs typeface="Calibri"/>
              </a:rPr>
              <a:t>Subjective</a:t>
            </a:r>
            <a:r>
              <a:rPr dirty="0" sz="3000" spc="1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1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prone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 spc="-45">
                <a:latin typeface="Calibri"/>
                <a:cs typeface="Calibri"/>
              </a:rPr>
              <a:t>human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error</a:t>
            </a:r>
            <a:endParaRPr sz="3000">
              <a:latin typeface="Calibri"/>
              <a:cs typeface="Calibri"/>
            </a:endParaRPr>
          </a:p>
          <a:p>
            <a:pPr lvl="1" marL="1613535" indent="-610870">
              <a:lnSpc>
                <a:spcPts val="3540"/>
              </a:lnSpc>
              <a:buChar char="—"/>
              <a:tabLst>
                <a:tab pos="1613535" algn="l"/>
              </a:tabLst>
            </a:pPr>
            <a:r>
              <a:rPr dirty="0" sz="3000">
                <a:latin typeface="Calibri"/>
                <a:cs typeface="Calibri"/>
              </a:rPr>
              <a:t>Not</a:t>
            </a:r>
            <a:r>
              <a:rPr dirty="0" sz="3000" spc="-13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scalable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for</a:t>
            </a:r>
            <a:r>
              <a:rPr dirty="0" sz="3000" spc="-1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large</a:t>
            </a:r>
            <a:r>
              <a:rPr dirty="0" sz="3000" spc="-14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agricultural</a:t>
            </a:r>
            <a:r>
              <a:rPr dirty="0" sz="3000" spc="1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fields</a:t>
            </a:r>
            <a:endParaRPr sz="3000">
              <a:latin typeface="Calibri"/>
              <a:cs typeface="Calibri"/>
            </a:endParaRPr>
          </a:p>
          <a:p>
            <a:pPr marL="631825" indent="-619125">
              <a:lnSpc>
                <a:spcPts val="3575"/>
              </a:lnSpc>
              <a:spcBef>
                <a:spcPts val="3554"/>
              </a:spcBef>
              <a:buChar char="•"/>
              <a:tabLst>
                <a:tab pos="631825" algn="l"/>
              </a:tabLst>
            </a:pPr>
            <a:r>
              <a:rPr dirty="0" sz="3000">
                <a:latin typeface="Calibri"/>
                <a:cs typeface="Calibri"/>
              </a:rPr>
              <a:t>Deep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85">
                <a:latin typeface="Calibri"/>
                <a:cs typeface="Calibri"/>
              </a:rPr>
              <a:t>learning—</a:t>
            </a:r>
            <a:r>
              <a:rPr dirty="0" sz="3000" spc="-70">
                <a:latin typeface="Calibri"/>
                <a:cs typeface="Calibri"/>
              </a:rPr>
              <a:t>based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approaches,</a:t>
            </a:r>
            <a:r>
              <a:rPr dirty="0" sz="3000" spc="229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although</a:t>
            </a:r>
            <a:r>
              <a:rPr dirty="0" sz="3000" spc="220">
                <a:latin typeface="Calibri"/>
                <a:cs typeface="Calibri"/>
              </a:rPr>
              <a:t> </a:t>
            </a:r>
            <a:r>
              <a:rPr dirty="0" sz="3000" spc="60">
                <a:latin typeface="Calibri"/>
                <a:cs typeface="Calibri"/>
              </a:rPr>
              <a:t>elective,</a:t>
            </a:r>
            <a:r>
              <a:rPr dirty="0" sz="3000" spc="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are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often:</a:t>
            </a:r>
            <a:endParaRPr sz="3000">
              <a:latin typeface="Calibri"/>
              <a:cs typeface="Calibri"/>
            </a:endParaRPr>
          </a:p>
          <a:p>
            <a:pPr lvl="1" marL="1614805" indent="-612775">
              <a:lnSpc>
                <a:spcPts val="3560"/>
              </a:lnSpc>
              <a:buChar char="—"/>
              <a:tabLst>
                <a:tab pos="1614805" algn="l"/>
              </a:tabLst>
            </a:pPr>
            <a:r>
              <a:rPr dirty="0" sz="3000" spc="-20">
                <a:latin typeface="Calibri"/>
                <a:cs typeface="Calibri"/>
              </a:rPr>
              <a:t>Computationally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expensive</a:t>
            </a:r>
            <a:endParaRPr sz="3000">
              <a:latin typeface="Calibri"/>
              <a:cs typeface="Calibri"/>
            </a:endParaRPr>
          </a:p>
          <a:p>
            <a:pPr lvl="1" marL="1612900" indent="-610870">
              <a:lnSpc>
                <a:spcPts val="3590"/>
              </a:lnSpc>
              <a:buChar char="—"/>
              <a:tabLst>
                <a:tab pos="1612900" algn="l"/>
              </a:tabLst>
            </a:pPr>
            <a:r>
              <a:rPr dirty="0" sz="3000">
                <a:latin typeface="Calibri"/>
                <a:cs typeface="Calibri"/>
              </a:rPr>
              <a:t>Diflicult</a:t>
            </a:r>
            <a:r>
              <a:rPr dirty="0" sz="3000" spc="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to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deploy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170">
                <a:latin typeface="Calibri"/>
                <a:cs typeface="Calibri"/>
              </a:rPr>
              <a:t> </a:t>
            </a:r>
            <a:r>
              <a:rPr dirty="0" sz="3000" spc="-65">
                <a:latin typeface="Calibri"/>
                <a:cs typeface="Calibri"/>
              </a:rPr>
              <a:t>low-</a:t>
            </a:r>
            <a:r>
              <a:rPr dirty="0" sz="3000" spc="-20">
                <a:latin typeface="Calibri"/>
                <a:cs typeface="Calibri"/>
              </a:rPr>
              <a:t>resource</a:t>
            </a:r>
            <a:r>
              <a:rPr dirty="0" sz="3000" spc="1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devices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commonly</a:t>
            </a:r>
            <a:r>
              <a:rPr dirty="0" sz="3000" spc="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used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by</a:t>
            </a:r>
            <a:r>
              <a:rPr dirty="0" sz="3000" spc="-15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farmers</a:t>
            </a:r>
            <a:endParaRPr sz="3000">
              <a:latin typeface="Calibri"/>
              <a:cs typeface="Calibri"/>
            </a:endParaRPr>
          </a:p>
          <a:p>
            <a:pPr marL="637540" indent="-624840">
              <a:lnSpc>
                <a:spcPct val="100000"/>
              </a:lnSpc>
              <a:spcBef>
                <a:spcPts val="3554"/>
              </a:spcBef>
              <a:buChar char="•"/>
              <a:tabLst>
                <a:tab pos="637540" algn="l"/>
              </a:tabLst>
            </a:pPr>
            <a:r>
              <a:rPr dirty="0" sz="3000" spc="-10">
                <a:latin typeface="Calibri"/>
                <a:cs typeface="Calibri"/>
              </a:rPr>
              <a:t>There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is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11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strong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need</a:t>
            </a:r>
            <a:r>
              <a:rPr dirty="0" sz="3000" spc="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for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automated,</a:t>
            </a:r>
            <a:r>
              <a:rPr dirty="0" sz="3000" spc="6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accurate,</a:t>
            </a:r>
            <a:r>
              <a:rPr dirty="0" sz="3000" spc="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17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resource-eflicient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solution</a:t>
            </a:r>
            <a:r>
              <a:rPr dirty="0" sz="3000" spc="12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for</a:t>
            </a:r>
            <a:r>
              <a:rPr dirty="0" sz="3000" spc="-11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maize</a:t>
            </a:r>
            <a:r>
              <a:rPr dirty="0" sz="3000" spc="-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disease</a:t>
            </a:r>
            <a:r>
              <a:rPr dirty="0" sz="3000" spc="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diagnosis.</a:t>
            </a:r>
            <a:endParaRPr sz="3000">
              <a:latin typeface="Calibri"/>
              <a:cs typeface="Calibri"/>
            </a:endParaRPr>
          </a:p>
          <a:p>
            <a:pPr marL="40005">
              <a:lnSpc>
                <a:spcPts val="3590"/>
              </a:lnSpc>
              <a:spcBef>
                <a:spcPts val="3525"/>
              </a:spcBef>
            </a:pP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Xey</a:t>
            </a:r>
            <a:r>
              <a:rPr dirty="0" u="heavy" sz="3000" spc="-9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Contributions</a:t>
            </a:r>
            <a:r>
              <a:rPr dirty="0" sz="3000" spc="-10">
                <a:latin typeface="Calibri"/>
                <a:cs typeface="Calibri"/>
              </a:rPr>
              <a:t>:</a:t>
            </a:r>
            <a:endParaRPr sz="3000">
              <a:latin typeface="Calibri"/>
              <a:cs typeface="Calibri"/>
            </a:endParaRPr>
          </a:p>
          <a:p>
            <a:pPr marL="640715" indent="-627380">
              <a:lnSpc>
                <a:spcPts val="3560"/>
              </a:lnSpc>
              <a:buChar char="•"/>
              <a:tabLst>
                <a:tab pos="640715" algn="l"/>
              </a:tabLst>
            </a:pPr>
            <a:r>
              <a:rPr dirty="0" sz="3000" spc="-40">
                <a:latin typeface="Calibri"/>
                <a:cs typeface="Calibri"/>
              </a:rPr>
              <a:t>Proposed</a:t>
            </a:r>
            <a:r>
              <a:rPr dirty="0" sz="3000" spc="25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 spc="-40">
                <a:latin typeface="Calibri"/>
                <a:cs typeface="Calibri"/>
              </a:rPr>
              <a:t>lightweight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MobileNetV2Wonvolutional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Block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Attention</a:t>
            </a:r>
            <a:r>
              <a:rPr dirty="0" sz="3000" spc="2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Module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(CBAM)</a:t>
            </a:r>
            <a:r>
              <a:rPr dirty="0" sz="3000" spc="90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architecture</a:t>
            </a:r>
            <a:r>
              <a:rPr dirty="0" sz="3000" spc="47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for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efiicient</a:t>
            </a:r>
            <a:endParaRPr sz="3000">
              <a:latin typeface="Calibri"/>
              <a:cs typeface="Calibri"/>
            </a:endParaRPr>
          </a:p>
          <a:p>
            <a:pPr marL="645160">
              <a:lnSpc>
                <a:spcPts val="3535"/>
              </a:lnSpc>
            </a:pPr>
            <a:r>
              <a:rPr dirty="0" sz="3000" spc="-40">
                <a:latin typeface="Calibri"/>
                <a:cs typeface="Calibri"/>
              </a:rPr>
              <a:t>feature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extraction</a:t>
            </a:r>
            <a:r>
              <a:rPr dirty="0" sz="3000" spc="3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from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maize</a:t>
            </a:r>
            <a:r>
              <a:rPr dirty="0" sz="3000" spc="-5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leaf</a:t>
            </a:r>
            <a:r>
              <a:rPr dirty="0" sz="3000" spc="-13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images.</a:t>
            </a:r>
            <a:endParaRPr sz="3000">
              <a:latin typeface="Calibri"/>
              <a:cs typeface="Calibri"/>
            </a:endParaRPr>
          </a:p>
          <a:p>
            <a:pPr marL="637540" indent="-624840">
              <a:lnSpc>
                <a:spcPts val="3610"/>
              </a:lnSpc>
              <a:buChar char="•"/>
              <a:tabLst>
                <a:tab pos="637540" algn="l"/>
              </a:tabLst>
            </a:pPr>
            <a:r>
              <a:rPr dirty="0" sz="3050" spc="-85">
                <a:latin typeface="Calibri"/>
                <a:cs typeface="Calibri"/>
              </a:rPr>
              <a:t>Trained</a:t>
            </a:r>
            <a:r>
              <a:rPr dirty="0" sz="3050" spc="-35">
                <a:latin typeface="Calibri"/>
                <a:cs typeface="Calibri"/>
              </a:rPr>
              <a:t> </a:t>
            </a:r>
            <a:r>
              <a:rPr dirty="0" sz="3050" spc="-45">
                <a:latin typeface="Calibri"/>
                <a:cs typeface="Calibri"/>
              </a:rPr>
              <a:t>an</a:t>
            </a:r>
            <a:r>
              <a:rPr dirty="0" sz="3050" spc="-125">
                <a:latin typeface="Calibri"/>
                <a:cs typeface="Calibri"/>
              </a:rPr>
              <a:t> </a:t>
            </a:r>
            <a:r>
              <a:rPr dirty="0" sz="3050" spc="-45">
                <a:latin typeface="Calibri"/>
                <a:cs typeface="Calibri"/>
              </a:rPr>
              <a:t>independent</a:t>
            </a:r>
            <a:r>
              <a:rPr dirty="0" sz="3050" spc="14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Support</a:t>
            </a:r>
            <a:r>
              <a:rPr dirty="0" sz="3050" spc="-55">
                <a:latin typeface="Calibri"/>
                <a:cs typeface="Calibri"/>
              </a:rPr>
              <a:t> Vector</a:t>
            </a:r>
            <a:r>
              <a:rPr dirty="0" sz="3050" spc="-3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Machine</a:t>
            </a:r>
            <a:r>
              <a:rPr dirty="0" sz="3050" spc="-10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(SVM)</a:t>
            </a:r>
            <a:r>
              <a:rPr dirty="0" sz="3050" spc="-5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classifier</a:t>
            </a:r>
            <a:r>
              <a:rPr dirty="0" sz="3050" spc="4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on</a:t>
            </a:r>
            <a:r>
              <a:rPr dirty="0" sz="3050" spc="-17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the</a:t>
            </a:r>
            <a:r>
              <a:rPr dirty="0" sz="3050" spc="-40">
                <a:latin typeface="Calibri"/>
                <a:cs typeface="Calibri"/>
              </a:rPr>
              <a:t> </a:t>
            </a:r>
            <a:r>
              <a:rPr dirty="0" sz="3050" spc="-30">
                <a:latin typeface="Calibri"/>
                <a:cs typeface="Calibri"/>
              </a:rPr>
              <a:t>deep</a:t>
            </a:r>
            <a:r>
              <a:rPr dirty="0" sz="3050" spc="-8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features.</a:t>
            </a:r>
            <a:endParaRPr sz="3050">
              <a:latin typeface="Calibri"/>
              <a:cs typeface="Calibri"/>
            </a:endParaRPr>
          </a:p>
          <a:p>
            <a:pPr marL="646430" indent="-633095">
              <a:lnSpc>
                <a:spcPts val="3554"/>
              </a:lnSpc>
              <a:buChar char="•"/>
              <a:tabLst>
                <a:tab pos="646430" algn="l"/>
              </a:tabLst>
            </a:pPr>
            <a:r>
              <a:rPr dirty="0" sz="3000" spc="-50">
                <a:latin typeface="Calibri"/>
                <a:cs typeface="Calibri"/>
              </a:rPr>
              <a:t>Comprehensive</a:t>
            </a:r>
            <a:r>
              <a:rPr dirty="0" sz="3000" spc="320">
                <a:latin typeface="Calibri"/>
                <a:cs typeface="Calibri"/>
              </a:rPr>
              <a:t> </a:t>
            </a:r>
            <a:r>
              <a:rPr dirty="0" sz="3000" spc="-45">
                <a:latin typeface="Calibri"/>
                <a:cs typeface="Calibri"/>
              </a:rPr>
              <a:t>experimental</a:t>
            </a:r>
            <a:r>
              <a:rPr dirty="0" sz="3000" spc="270">
                <a:latin typeface="Calibri"/>
                <a:cs typeface="Calibri"/>
              </a:rPr>
              <a:t> </a:t>
            </a:r>
            <a:r>
              <a:rPr dirty="0" sz="3000" spc="-40">
                <a:latin typeface="Calibri"/>
                <a:cs typeface="Calibri"/>
              </a:rPr>
              <a:t>evaluation</a:t>
            </a:r>
            <a:r>
              <a:rPr dirty="0" sz="3000" spc="1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on</a:t>
            </a:r>
            <a:r>
              <a:rPr dirty="0" sz="3000" spc="-3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two</a:t>
            </a:r>
            <a:r>
              <a:rPr dirty="0" sz="3000" spc="-1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benchmark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leaf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disease</a:t>
            </a:r>
            <a:r>
              <a:rPr dirty="0" sz="3000" spc="1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datasets.</a:t>
            </a:r>
            <a:endParaRPr sz="3000">
              <a:latin typeface="Calibri"/>
              <a:cs typeface="Calibri"/>
            </a:endParaRPr>
          </a:p>
          <a:p>
            <a:pPr marL="640080" indent="-627380">
              <a:lnSpc>
                <a:spcPts val="3575"/>
              </a:lnSpc>
              <a:buChar char="•"/>
              <a:tabLst>
                <a:tab pos="640080" algn="l"/>
              </a:tabLst>
            </a:pPr>
            <a:r>
              <a:rPr dirty="0" sz="3000" spc="-50">
                <a:latin typeface="Calibri"/>
                <a:cs typeface="Calibri"/>
              </a:rPr>
              <a:t>Demonstrated</a:t>
            </a:r>
            <a:r>
              <a:rPr dirty="0" sz="3000" spc="29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superior</a:t>
            </a:r>
            <a:r>
              <a:rPr dirty="0" sz="3000" spc="1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performance</a:t>
            </a:r>
            <a:r>
              <a:rPr dirty="0" sz="3000" spc="1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over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existing</a:t>
            </a:r>
            <a:r>
              <a:rPr dirty="0" sz="3000" spc="12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methods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</a:t>
            </a:r>
            <a:r>
              <a:rPr dirty="0" sz="3000" spc="-16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terms</a:t>
            </a:r>
            <a:r>
              <a:rPr dirty="0" sz="3000" spc="-5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of</a:t>
            </a:r>
            <a:r>
              <a:rPr dirty="0" sz="3000" spc="-10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accuracy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and</a:t>
            </a:r>
            <a:r>
              <a:rPr dirty="0" sz="3000" spc="-114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effectiveness.</a:t>
            </a:r>
            <a:endParaRPr sz="3000">
              <a:latin typeface="Calibri"/>
              <a:cs typeface="Calibri"/>
            </a:endParaRPr>
          </a:p>
          <a:p>
            <a:pPr marL="645795" indent="-633095">
              <a:lnSpc>
                <a:spcPct val="100000"/>
              </a:lnSpc>
              <a:spcBef>
                <a:spcPts val="20"/>
              </a:spcBef>
              <a:buChar char="•"/>
              <a:tabLst>
                <a:tab pos="645795" algn="l"/>
              </a:tabLst>
            </a:pPr>
            <a:r>
              <a:rPr dirty="0" baseline="1821" sz="4575" spc="-60">
                <a:latin typeface="Calibri"/>
                <a:cs typeface="Calibri"/>
              </a:rPr>
              <a:t>Also,</a:t>
            </a:r>
            <a:r>
              <a:rPr dirty="0" baseline="1821" sz="4575" spc="-202">
                <a:latin typeface="Calibri"/>
                <a:cs typeface="Calibri"/>
              </a:rPr>
              <a:t> </a:t>
            </a:r>
            <a:r>
              <a:rPr dirty="0" baseline="1821" sz="4575">
                <a:latin typeface="Calibri"/>
                <a:cs typeface="Calibri"/>
              </a:rPr>
              <a:t>a</a:t>
            </a:r>
            <a:r>
              <a:rPr dirty="0" baseline="1821" sz="4575" spc="-254">
                <a:latin typeface="Calibri"/>
                <a:cs typeface="Calibri"/>
              </a:rPr>
              <a:t> </a:t>
            </a:r>
            <a:r>
              <a:rPr dirty="0" baseline="1821" sz="4575" spc="-60">
                <a:latin typeface="Calibri"/>
                <a:cs typeface="Calibri"/>
              </a:rPr>
              <a:t>systematic</a:t>
            </a:r>
            <a:r>
              <a:rPr dirty="0" baseline="1821" sz="4575" spc="82">
                <a:latin typeface="Calibri"/>
                <a:cs typeface="Calibri"/>
              </a:rPr>
              <a:t> </a:t>
            </a:r>
            <a:r>
              <a:rPr dirty="0" baseline="1821" sz="4575">
                <a:latin typeface="Calibri"/>
                <a:cs typeface="Calibri"/>
              </a:rPr>
              <a:t>a</a:t>
            </a:r>
            <a:r>
              <a:rPr dirty="0" sz="3050">
                <a:latin typeface="Calibri"/>
                <a:cs typeface="Calibri"/>
              </a:rPr>
              <a:t>b</a:t>
            </a:r>
            <a:r>
              <a:rPr dirty="0" baseline="1821" sz="4575">
                <a:latin typeface="Calibri"/>
                <a:cs typeface="Calibri"/>
              </a:rPr>
              <a:t>lation</a:t>
            </a:r>
            <a:r>
              <a:rPr dirty="0" baseline="1821" sz="4575" spc="-262">
                <a:latin typeface="Calibri"/>
                <a:cs typeface="Calibri"/>
              </a:rPr>
              <a:t> </a:t>
            </a:r>
            <a:r>
              <a:rPr dirty="0" baseline="1821" sz="4575">
                <a:latin typeface="Calibri"/>
                <a:cs typeface="Calibri"/>
              </a:rPr>
              <a:t>analysis</a:t>
            </a:r>
            <a:r>
              <a:rPr dirty="0" baseline="1821" sz="4575" spc="67">
                <a:latin typeface="Calibri"/>
                <a:cs typeface="Calibri"/>
              </a:rPr>
              <a:t> </a:t>
            </a:r>
            <a:r>
              <a:rPr dirty="0" baseline="1821" sz="4575">
                <a:latin typeface="Calibri"/>
                <a:cs typeface="Calibri"/>
              </a:rPr>
              <a:t>to</a:t>
            </a:r>
            <a:r>
              <a:rPr dirty="0" baseline="1821" sz="4575" spc="-67">
                <a:latin typeface="Calibri"/>
                <a:cs typeface="Calibri"/>
              </a:rPr>
              <a:t> </a:t>
            </a:r>
            <a:r>
              <a:rPr dirty="0" baseline="1821" sz="4575" spc="-37">
                <a:latin typeface="Calibri"/>
                <a:cs typeface="Calibri"/>
              </a:rPr>
              <a:t>access</a:t>
            </a:r>
            <a:r>
              <a:rPr dirty="0" baseline="1821" sz="4575" spc="-157">
                <a:latin typeface="Calibri"/>
                <a:cs typeface="Calibri"/>
              </a:rPr>
              <a:t> </a:t>
            </a:r>
            <a:r>
              <a:rPr dirty="0" baseline="1821" sz="4575" spc="-30">
                <a:latin typeface="Calibri"/>
                <a:cs typeface="Calibri"/>
              </a:rPr>
              <a:t>the</a:t>
            </a:r>
            <a:r>
              <a:rPr dirty="0" baseline="1821" sz="4575" spc="-60">
                <a:latin typeface="Calibri"/>
                <a:cs typeface="Calibri"/>
              </a:rPr>
              <a:t> </a:t>
            </a:r>
            <a:r>
              <a:rPr dirty="0" baseline="1821" sz="4575" spc="-104">
                <a:latin typeface="Calibri"/>
                <a:cs typeface="Calibri"/>
              </a:rPr>
              <a:t>contribution</a:t>
            </a:r>
            <a:r>
              <a:rPr dirty="0" baseline="1821" sz="4575" spc="277">
                <a:latin typeface="Calibri"/>
                <a:cs typeface="Calibri"/>
              </a:rPr>
              <a:t> </a:t>
            </a:r>
            <a:r>
              <a:rPr dirty="0" baseline="1821" sz="4575">
                <a:latin typeface="Calibri"/>
                <a:cs typeface="Calibri"/>
              </a:rPr>
              <a:t>of</a:t>
            </a:r>
            <a:r>
              <a:rPr dirty="0" baseline="1821" sz="4575" spc="-127">
                <a:latin typeface="Calibri"/>
                <a:cs typeface="Calibri"/>
              </a:rPr>
              <a:t> </a:t>
            </a:r>
            <a:r>
              <a:rPr dirty="0" baseline="1821" sz="4575" spc="-44">
                <a:latin typeface="Calibri"/>
                <a:cs typeface="Calibri"/>
              </a:rPr>
              <a:t>each</a:t>
            </a:r>
            <a:r>
              <a:rPr dirty="0" baseline="1821" sz="4575" spc="-120">
                <a:latin typeface="Calibri"/>
                <a:cs typeface="Calibri"/>
              </a:rPr>
              <a:t> </a:t>
            </a:r>
            <a:r>
              <a:rPr dirty="0" baseline="1821" sz="4575" spc="-15">
                <a:latin typeface="Calibri"/>
                <a:cs typeface="Calibri"/>
              </a:rPr>
              <a:t>component.</a:t>
            </a:r>
            <a:endParaRPr baseline="1821" sz="4575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915320" y="405928"/>
            <a:ext cx="6209665" cy="105791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6750" spc="-110"/>
              <a:t>Literature</a:t>
            </a:r>
            <a:r>
              <a:rPr dirty="0" sz="6750" spc="-245"/>
              <a:t> </a:t>
            </a:r>
            <a:r>
              <a:rPr dirty="0" sz="6750" spc="-90"/>
              <a:t>Analysis</a:t>
            </a:r>
            <a:endParaRPr sz="6750"/>
          </a:p>
        </p:txBody>
      </p:sp>
      <p:sp>
        <p:nvSpPr>
          <p:cNvPr id="3" name="object 3"/>
          <p:cNvSpPr txBox="1"/>
          <p:nvPr/>
        </p:nvSpPr>
        <p:spPr>
          <a:xfrm>
            <a:off x="3544281" y="1774625"/>
            <a:ext cx="988694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550" spc="-70">
                <a:latin typeface="Calibri"/>
                <a:cs typeface="Calibri"/>
              </a:rPr>
              <a:t>Work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9543" y="2444833"/>
            <a:ext cx="3124835" cy="1369695"/>
          </a:xfrm>
          <a:prstGeom prst="rect">
            <a:avLst/>
          </a:prstGeom>
        </p:spPr>
        <p:txBody>
          <a:bodyPr wrap="square" lIns="0" tIns="217804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714"/>
              </a:spcBef>
            </a:pPr>
            <a:r>
              <a:rPr dirty="0" sz="3000">
                <a:latin typeface="Calibri"/>
                <a:cs typeface="Calibri"/>
              </a:rPr>
              <a:t>Li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[1]</a:t>
            </a:r>
            <a:r>
              <a:rPr dirty="0" sz="3000" spc="-35">
                <a:latin typeface="Calibri"/>
                <a:cs typeface="Calibri"/>
              </a:rPr>
              <a:t> </a:t>
            </a:r>
            <a:r>
              <a:rPr dirty="0" sz="3000" spc="80">
                <a:latin typeface="Calibri"/>
                <a:cs typeface="Calibri"/>
              </a:rPr>
              <a:t>-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2022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700"/>
              </a:spcBef>
            </a:pPr>
            <a:r>
              <a:rPr dirty="0" sz="3050" spc="-20">
                <a:latin typeface="Calibri"/>
                <a:cs typeface="Calibri"/>
              </a:rPr>
              <a:t>Pillai </a:t>
            </a:r>
            <a:r>
              <a:rPr dirty="0" sz="3050">
                <a:latin typeface="Calibri"/>
                <a:cs typeface="Calibri"/>
              </a:rPr>
              <a:t>et</a:t>
            </a:r>
            <a:r>
              <a:rPr dirty="0" sz="3050" spc="-17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al.</a:t>
            </a:r>
            <a:r>
              <a:rPr dirty="0" sz="3050" spc="-120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[2]</a:t>
            </a:r>
            <a:r>
              <a:rPr dirty="0" sz="3050" spc="-7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-</a:t>
            </a:r>
            <a:r>
              <a:rPr dirty="0" sz="3050" spc="-170">
                <a:latin typeface="Calibri"/>
                <a:cs typeface="Calibri"/>
              </a:rPr>
              <a:t> </a:t>
            </a:r>
            <a:r>
              <a:rPr dirty="0" sz="3050" spc="-25">
                <a:latin typeface="Calibri"/>
                <a:cs typeface="Calibri"/>
              </a:rPr>
              <a:t>2023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49655" y="1774625"/>
            <a:ext cx="6038215" cy="39236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10"/>
              </a:spcBef>
              <a:tabLst>
                <a:tab pos="1361440" algn="l"/>
              </a:tabLst>
            </a:pPr>
            <a:r>
              <a:rPr dirty="0" sz="3550" spc="-2560">
                <a:latin typeface="Calibri"/>
                <a:cs typeface="Calibri"/>
              </a:rPr>
              <a:t>m</a:t>
            </a:r>
            <a:r>
              <a:rPr dirty="0" sz="3550" spc="-10">
                <a:latin typeface="Calibri"/>
                <a:cs typeface="Calibri"/>
              </a:rPr>
              <a:t>A</a:t>
            </a:r>
            <a:r>
              <a:rPr dirty="0" sz="3550" spc="-330">
                <a:latin typeface="Calibri"/>
                <a:cs typeface="Calibri"/>
              </a:rPr>
              <a:t> </a:t>
            </a:r>
            <a:r>
              <a:rPr dirty="0" sz="3550" spc="-50">
                <a:latin typeface="Calibri"/>
                <a:cs typeface="Calibri"/>
              </a:rPr>
              <a:t>o</a:t>
            </a:r>
            <a:r>
              <a:rPr dirty="0" sz="3550">
                <a:latin typeface="Calibri"/>
                <a:cs typeface="Calibri"/>
              </a:rPr>
              <a:t>	</a:t>
            </a:r>
            <a:r>
              <a:rPr dirty="0" sz="3550" spc="-25">
                <a:latin typeface="Calibri"/>
                <a:cs typeface="Calibri"/>
              </a:rPr>
              <a:t>ch</a:t>
            </a:r>
            <a:endParaRPr sz="3550">
              <a:latin typeface="Calibri"/>
              <a:cs typeface="Calibri"/>
            </a:endParaRPr>
          </a:p>
          <a:p>
            <a:pPr algn="ctr" marL="5080">
              <a:lnSpc>
                <a:spcPct val="100000"/>
              </a:lnSpc>
              <a:spcBef>
                <a:spcPts val="2625"/>
              </a:spcBef>
            </a:pPr>
            <a:r>
              <a:rPr dirty="0" sz="3000" spc="-65">
                <a:latin typeface="Calibri"/>
                <a:cs typeface="Calibri"/>
              </a:rPr>
              <a:t>WG-</a:t>
            </a:r>
            <a:r>
              <a:rPr dirty="0" sz="3000" spc="-10">
                <a:latin typeface="Calibri"/>
                <a:cs typeface="Calibri"/>
              </a:rPr>
              <a:t>MARNet</a:t>
            </a:r>
            <a:endParaRPr sz="3000">
              <a:latin typeface="Calibri"/>
              <a:cs typeface="Calibri"/>
            </a:endParaRPr>
          </a:p>
          <a:p>
            <a:pPr algn="ctr" marL="12065" marR="5080">
              <a:lnSpc>
                <a:spcPct val="111600"/>
              </a:lnSpc>
              <a:spcBef>
                <a:spcPts val="1275"/>
              </a:spcBef>
            </a:pPr>
            <a:r>
              <a:rPr dirty="0" sz="3050" spc="-45">
                <a:latin typeface="Calibri"/>
                <a:cs typeface="Calibri"/>
              </a:rPr>
              <a:t>Fusion</a:t>
            </a:r>
            <a:r>
              <a:rPr dirty="0" sz="3050" spc="-70">
                <a:latin typeface="Calibri"/>
                <a:cs typeface="Calibri"/>
              </a:rPr>
              <a:t> </a:t>
            </a:r>
            <a:r>
              <a:rPr dirty="0" sz="3050" spc="-35">
                <a:latin typeface="Calibri"/>
                <a:cs typeface="Calibri"/>
              </a:rPr>
              <a:t>model</a:t>
            </a:r>
            <a:r>
              <a:rPr dirty="0" sz="3050" spc="-60">
                <a:latin typeface="Calibri"/>
                <a:cs typeface="Calibri"/>
              </a:rPr>
              <a:t> </a:t>
            </a:r>
            <a:r>
              <a:rPr dirty="0" sz="3050" spc="-40">
                <a:latin typeface="Calibri"/>
                <a:cs typeface="Calibri"/>
              </a:rPr>
              <a:t>(CNN</a:t>
            </a:r>
            <a:r>
              <a:rPr dirty="0" sz="3050" spc="-6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+</a:t>
            </a:r>
            <a:r>
              <a:rPr dirty="0" sz="3050" spc="-175">
                <a:latin typeface="Calibri"/>
                <a:cs typeface="Calibri"/>
              </a:rPr>
              <a:t> </a:t>
            </a:r>
            <a:r>
              <a:rPr dirty="0" sz="3050" spc="-50">
                <a:latin typeface="Calibri"/>
                <a:cs typeface="Calibri"/>
              </a:rPr>
              <a:t>VGG16</a:t>
            </a:r>
            <a:r>
              <a:rPr dirty="0" sz="3050" spc="15">
                <a:latin typeface="Calibri"/>
                <a:cs typeface="Calibri"/>
              </a:rPr>
              <a:t> </a:t>
            </a:r>
            <a:r>
              <a:rPr dirty="0" sz="3050">
                <a:latin typeface="Calibri"/>
                <a:cs typeface="Calibri"/>
              </a:rPr>
              <a:t>+</a:t>
            </a:r>
            <a:r>
              <a:rPr dirty="0" sz="3050" spc="-170">
                <a:latin typeface="Calibri"/>
                <a:cs typeface="Calibri"/>
              </a:rPr>
              <a:t> </a:t>
            </a:r>
            <a:r>
              <a:rPr dirty="0" sz="3050" spc="-20">
                <a:latin typeface="Calibri"/>
                <a:cs typeface="Calibri"/>
              </a:rPr>
              <a:t>Decision </a:t>
            </a:r>
            <a:r>
              <a:rPr dirty="0" sz="3050" spc="-10">
                <a:latin typeface="Calibri"/>
                <a:cs typeface="Calibri"/>
              </a:rPr>
              <a:t>Tree)</a:t>
            </a:r>
            <a:endParaRPr sz="3050">
              <a:latin typeface="Calibri"/>
              <a:cs typeface="Calibri"/>
            </a:endParaRPr>
          </a:p>
          <a:p>
            <a:pPr algn="ctr" marL="1236980" marR="1209040">
              <a:lnSpc>
                <a:spcPts val="5410"/>
              </a:lnSpc>
              <a:spcBef>
                <a:spcPts val="210"/>
              </a:spcBef>
            </a:pPr>
            <a:r>
              <a:rPr dirty="0" sz="3000" spc="-35">
                <a:latin typeface="Calibri"/>
                <a:cs typeface="Calibri"/>
              </a:rPr>
              <a:t>VGG16</a:t>
            </a:r>
            <a:r>
              <a:rPr dirty="0" sz="3000" spc="15">
                <a:latin typeface="Calibri"/>
                <a:cs typeface="Calibri"/>
              </a:rPr>
              <a:t> </a:t>
            </a:r>
            <a:r>
              <a:rPr dirty="0" sz="3000">
                <a:solidFill>
                  <a:srgbClr val="1F1F00"/>
                </a:solidFill>
                <a:latin typeface="Calibri"/>
                <a:cs typeface="Calibri"/>
              </a:rPr>
              <a:t>+</a:t>
            </a:r>
            <a:r>
              <a:rPr dirty="0" sz="3000" spc="-170">
                <a:solidFill>
                  <a:srgbClr val="1F1F00"/>
                </a:solidFill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Explainable</a:t>
            </a:r>
            <a:r>
              <a:rPr dirty="0" sz="3000" spc="20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AI </a:t>
            </a:r>
            <a:r>
              <a:rPr dirty="0" sz="3000">
                <a:latin typeface="Calibri"/>
                <a:cs typeface="Calibri"/>
              </a:rPr>
              <a:t>Deep</a:t>
            </a:r>
            <a:r>
              <a:rPr dirty="0" sz="3000" spc="-13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SqueezeNet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627955" y="1808134"/>
            <a:ext cx="2183130" cy="2002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19300" algn="l"/>
              </a:tabLst>
            </a:pPr>
            <a:r>
              <a:rPr dirty="0" sz="3300" spc="55">
                <a:latin typeface="Calibri"/>
                <a:cs typeface="Calibri"/>
              </a:rPr>
              <a:t>Acc</a:t>
            </a:r>
            <a:r>
              <a:rPr dirty="0" sz="3300" spc="180">
                <a:latin typeface="Calibri"/>
                <a:cs typeface="Calibri"/>
              </a:rPr>
              <a:t>  </a:t>
            </a:r>
            <a:r>
              <a:rPr dirty="0" sz="3300" spc="100">
                <a:latin typeface="Calibri"/>
                <a:cs typeface="Calibri"/>
              </a:rPr>
              <a:t>r</a:t>
            </a:r>
            <a:r>
              <a:rPr dirty="0" sz="3300" spc="35">
                <a:latin typeface="Calibri"/>
                <a:cs typeface="Calibri"/>
              </a:rPr>
              <a:t>  </a:t>
            </a:r>
            <a:r>
              <a:rPr dirty="0" sz="3300" spc="60">
                <a:latin typeface="Calibri"/>
                <a:cs typeface="Calibri"/>
              </a:rPr>
              <a:t>c</a:t>
            </a:r>
            <a:r>
              <a:rPr dirty="0" sz="3300">
                <a:latin typeface="Calibri"/>
                <a:cs typeface="Calibri"/>
              </a:rPr>
              <a:t>	</a:t>
            </a:r>
            <a:r>
              <a:rPr dirty="0" sz="3300" spc="-610">
                <a:latin typeface="Calibri"/>
                <a:cs typeface="Calibri"/>
              </a:rPr>
              <a:t>o</a:t>
            </a:r>
            <a:endParaRPr sz="3300">
              <a:latin typeface="Calibri"/>
              <a:cs typeface="Calibri"/>
            </a:endParaRPr>
          </a:p>
          <a:p>
            <a:pPr algn="ctr" marL="120650">
              <a:lnSpc>
                <a:spcPct val="100000"/>
              </a:lnSpc>
              <a:spcBef>
                <a:spcPts val="2775"/>
              </a:spcBef>
            </a:pPr>
            <a:r>
              <a:rPr dirty="0" sz="2900" spc="-10">
                <a:latin typeface="Cambria"/>
                <a:cs typeface="Cambria"/>
              </a:rPr>
              <a:t>97.96</a:t>
            </a:r>
            <a:endParaRPr sz="2900">
              <a:latin typeface="Cambria"/>
              <a:cs typeface="Cambria"/>
            </a:endParaRPr>
          </a:p>
          <a:p>
            <a:pPr algn="ctr" marL="133350">
              <a:lnSpc>
                <a:spcPct val="100000"/>
              </a:lnSpc>
              <a:spcBef>
                <a:spcPts val="1870"/>
              </a:spcBef>
            </a:pPr>
            <a:r>
              <a:rPr dirty="0" sz="2900" spc="-25">
                <a:latin typeface="Cambria"/>
                <a:cs typeface="Cambria"/>
              </a:rPr>
              <a:t>96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94365" y="4298459"/>
            <a:ext cx="4293870" cy="140081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algn="ctr" marR="3810">
              <a:lnSpc>
                <a:spcPct val="100000"/>
              </a:lnSpc>
              <a:spcBef>
                <a:spcPts val="1905"/>
              </a:spcBef>
            </a:pPr>
            <a:r>
              <a:rPr dirty="0" sz="3000" spc="-55">
                <a:latin typeface="Calibri"/>
                <a:cs typeface="Calibri"/>
              </a:rPr>
              <a:t>Tariq</a:t>
            </a:r>
            <a:r>
              <a:rPr dirty="0" sz="3000" spc="1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1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-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[3]</a:t>
            </a:r>
            <a:r>
              <a:rPr dirty="0" sz="3000" spc="-114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2024</a:t>
            </a:r>
            <a:endParaRPr sz="3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14"/>
              </a:spcBef>
            </a:pPr>
            <a:r>
              <a:rPr dirty="0" sz="3000" spc="-25">
                <a:latin typeface="Calibri"/>
                <a:cs typeface="Calibri"/>
              </a:rPr>
              <a:t>Theerthagiri</a:t>
            </a:r>
            <a:r>
              <a:rPr dirty="0" sz="3000" spc="30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[4]</a:t>
            </a:r>
            <a:r>
              <a:rPr dirty="0" sz="3000" spc="-8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165">
                <a:latin typeface="Calibri"/>
                <a:cs typeface="Calibri"/>
              </a:rPr>
              <a:t> </a:t>
            </a:r>
            <a:r>
              <a:rPr dirty="0" sz="3000" spc="-20">
                <a:latin typeface="Calibri"/>
                <a:cs typeface="Calibri"/>
              </a:rPr>
              <a:t>2024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355744" y="4331322"/>
            <a:ext cx="855344" cy="1371600"/>
          </a:xfrm>
          <a:prstGeom prst="rect">
            <a:avLst/>
          </a:prstGeom>
        </p:spPr>
        <p:txBody>
          <a:bodyPr wrap="square" lIns="0" tIns="208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645"/>
              </a:spcBef>
            </a:pPr>
            <a:r>
              <a:rPr dirty="0" sz="3000" spc="-45">
                <a:latin typeface="Calibri"/>
                <a:cs typeface="Calibri"/>
              </a:rPr>
              <a:t>94.67</a:t>
            </a:r>
            <a:endParaRPr sz="3000">
              <a:latin typeface="Calibri"/>
              <a:cs typeface="Calibri"/>
            </a:endParaRPr>
          </a:p>
          <a:p>
            <a:pPr algn="ctr" marL="8890">
              <a:lnSpc>
                <a:spcPct val="100000"/>
              </a:lnSpc>
              <a:spcBef>
                <a:spcPts val="1664"/>
              </a:spcBef>
            </a:pPr>
            <a:r>
              <a:rPr dirty="0" sz="3150" spc="-25">
                <a:latin typeface="Calibri"/>
                <a:cs typeface="Calibri"/>
              </a:rPr>
              <a:t>97</a:t>
            </a:r>
            <a:endParaRPr sz="3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09148" y="6230093"/>
            <a:ext cx="285686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>
                <a:latin typeface="Calibri"/>
                <a:cs typeface="Calibri"/>
              </a:rPr>
              <a:t>Liu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[5]</a:t>
            </a:r>
            <a:r>
              <a:rPr dirty="0" sz="3000" spc="-1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 spc="-40">
                <a:latin typeface="Calibri"/>
                <a:cs typeface="Calibri"/>
              </a:rPr>
              <a:t>2024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032519" y="6235678"/>
            <a:ext cx="546862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35">
                <a:latin typeface="Calibri"/>
                <a:cs typeface="Calibri"/>
              </a:rPr>
              <a:t>Multi-</a:t>
            </a:r>
            <a:r>
              <a:rPr dirty="0" sz="2950">
                <a:latin typeface="Calibri"/>
                <a:cs typeface="Calibri"/>
              </a:rPr>
              <a:t>Scale</a:t>
            </a:r>
            <a:r>
              <a:rPr dirty="0" sz="2950" spc="9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Feature</a:t>
            </a:r>
            <a:r>
              <a:rPr dirty="0" sz="2950" spc="10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Fusion</a:t>
            </a:r>
            <a:r>
              <a:rPr dirty="0" sz="2950" spc="45">
                <a:latin typeface="Calibri"/>
                <a:cs typeface="Calibri"/>
              </a:rPr>
              <a:t> </a:t>
            </a:r>
            <a:r>
              <a:rPr dirty="0" sz="2950" spc="-10">
                <a:latin typeface="Calibri"/>
                <a:cs typeface="Calibri"/>
              </a:rPr>
              <a:t>Network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5355744" y="6230093"/>
            <a:ext cx="855344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 spc="-65">
                <a:latin typeface="Calibri"/>
                <a:cs typeface="Calibri"/>
              </a:rPr>
              <a:t>97.45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1679" y="7252985"/>
            <a:ext cx="283718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>
                <a:latin typeface="Calibri"/>
                <a:cs typeface="Calibri"/>
              </a:rPr>
              <a:t>Hu</a:t>
            </a:r>
            <a:r>
              <a:rPr dirty="0" sz="2950" spc="-1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et</a:t>
            </a:r>
            <a:r>
              <a:rPr dirty="0" sz="2950" spc="10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al.</a:t>
            </a:r>
            <a:r>
              <a:rPr dirty="0" sz="2950" spc="2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[6]</a:t>
            </a:r>
            <a:r>
              <a:rPr dirty="0" sz="2950" spc="15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-</a:t>
            </a:r>
            <a:r>
              <a:rPr dirty="0" sz="2950" spc="-45">
                <a:latin typeface="Calibri"/>
                <a:cs typeface="Calibri"/>
              </a:rPr>
              <a:t> </a:t>
            </a:r>
            <a:r>
              <a:rPr dirty="0" sz="2950" spc="-20">
                <a:latin typeface="Calibri"/>
                <a:cs typeface="Calibri"/>
              </a:rPr>
              <a:t>2024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8044" y="7258570"/>
            <a:ext cx="1207770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 spc="-10">
                <a:latin typeface="Calibri"/>
                <a:cs typeface="Calibri"/>
              </a:rPr>
              <a:t>LFMNet</a:t>
            </a:r>
            <a:endParaRPr sz="2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355075" y="7230646"/>
            <a:ext cx="847090" cy="5016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100" spc="-120">
                <a:latin typeface="Calibri"/>
                <a:cs typeface="Calibri"/>
              </a:rPr>
              <a:t>94.12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35212" y="8268730"/>
            <a:ext cx="3608704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 spc="-10">
                <a:latin typeface="Calibri"/>
                <a:cs typeface="Calibri"/>
              </a:rPr>
              <a:t>Bachhal</a:t>
            </a:r>
            <a:r>
              <a:rPr dirty="0" sz="3000" spc="3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9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[7]</a:t>
            </a:r>
            <a:r>
              <a:rPr dirty="0" sz="3000" spc="-7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16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2024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26638" y="9466981"/>
            <a:ext cx="323278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>
                <a:latin typeface="Calibri"/>
                <a:cs typeface="Calibri"/>
              </a:rPr>
              <a:t>Joyce</a:t>
            </a:r>
            <a:r>
              <a:rPr dirty="0" sz="3000" spc="-4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et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al.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[8]</a:t>
            </a:r>
            <a:r>
              <a:rPr dirty="0" sz="3000" spc="-8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-</a:t>
            </a:r>
            <a:r>
              <a:rPr dirty="0" sz="3000" spc="-11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2025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421602" y="8206852"/>
            <a:ext cx="4686935" cy="174180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L="12700" marR="5080">
              <a:lnSpc>
                <a:spcPct val="113500"/>
              </a:lnSpc>
              <a:spcBef>
                <a:spcPts val="90"/>
              </a:spcBef>
            </a:pPr>
            <a:r>
              <a:rPr dirty="0" sz="3000" spc="-25">
                <a:latin typeface="Calibri"/>
                <a:cs typeface="Calibri"/>
              </a:rPr>
              <a:t>Principal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30">
                <a:latin typeface="Calibri"/>
                <a:cs typeface="Calibri"/>
              </a:rPr>
              <a:t>Feature</a:t>
            </a:r>
            <a:r>
              <a:rPr dirty="0" sz="3000" spc="55">
                <a:latin typeface="Calibri"/>
                <a:cs typeface="Calibri"/>
              </a:rPr>
              <a:t> </a:t>
            </a:r>
            <a:r>
              <a:rPr dirty="0" sz="3000" spc="-50">
                <a:latin typeface="Calibri"/>
                <a:cs typeface="Calibri"/>
              </a:rPr>
              <a:t>Ranking-</a:t>
            </a:r>
            <a:r>
              <a:rPr dirty="0" sz="3000" spc="-30">
                <a:latin typeface="Calibri"/>
                <a:cs typeface="Calibri"/>
              </a:rPr>
              <a:t>SVM </a:t>
            </a:r>
            <a:r>
              <a:rPr dirty="0" sz="3000" spc="-10">
                <a:latin typeface="Calibri"/>
                <a:cs typeface="Calibri"/>
              </a:rPr>
              <a:t>Integration</a:t>
            </a:r>
            <a:endParaRPr sz="3000">
              <a:latin typeface="Calibri"/>
              <a:cs typeface="Calibri"/>
            </a:endParaRPr>
          </a:p>
          <a:p>
            <a:pPr algn="ctr" marL="7620">
              <a:lnSpc>
                <a:spcPct val="100000"/>
              </a:lnSpc>
              <a:spcBef>
                <a:spcPts val="1750"/>
              </a:spcBef>
            </a:pPr>
            <a:r>
              <a:rPr dirty="0" sz="3000">
                <a:latin typeface="Calibri"/>
                <a:cs typeface="Calibri"/>
              </a:rPr>
              <a:t>CNN,</a:t>
            </a:r>
            <a:r>
              <a:rPr dirty="0" sz="3000" spc="-120">
                <a:latin typeface="Calibri"/>
                <a:cs typeface="Calibri"/>
              </a:rPr>
              <a:t> </a:t>
            </a:r>
            <a:r>
              <a:rPr dirty="0" sz="3000" spc="-60">
                <a:latin typeface="Calibri"/>
                <a:cs typeface="Calibri"/>
              </a:rPr>
              <a:t>Transfer</a:t>
            </a:r>
            <a:r>
              <a:rPr dirty="0" sz="3000" spc="-7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Learning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355521" y="8263145"/>
            <a:ext cx="858519" cy="4883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000" spc="-60">
                <a:latin typeface="Calibri"/>
                <a:cs typeface="Calibri"/>
              </a:rPr>
              <a:t>96.67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592527" y="9455811"/>
            <a:ext cx="389890" cy="494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050" spc="-90">
                <a:latin typeface="Calibri"/>
                <a:cs typeface="Calibri"/>
              </a:rPr>
              <a:t>97</a:t>
            </a:r>
            <a:endParaRPr sz="3050">
              <a:latin typeface="Calibri"/>
              <a:cs typeface="Calibri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xfrm>
            <a:off x="6088438" y="285968"/>
            <a:ext cx="7849870" cy="1037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650" spc="-95"/>
              <a:t>Proposed</a:t>
            </a:r>
            <a:r>
              <a:rPr dirty="0" sz="6650" spc="-245"/>
              <a:t> </a:t>
            </a:r>
            <a:r>
              <a:rPr dirty="0" sz="6650" spc="-95"/>
              <a:t>Methodology</a:t>
            </a:r>
            <a:endParaRPr sz="6650"/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52934" y="1600348"/>
            <a:ext cx="1411307" cy="129475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8575" y="2086888"/>
            <a:ext cx="514664" cy="31363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307482" y="1491783"/>
            <a:ext cx="6063396" cy="3365559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184796" y="1655335"/>
            <a:ext cx="166116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65">
                <a:latin typeface="Calibri"/>
                <a:cs typeface="Calibri"/>
              </a:rPr>
              <a:t>MobileNetV2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255459" y="1753146"/>
            <a:ext cx="6718790" cy="289510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12235186" y="1632103"/>
            <a:ext cx="6642100" cy="4210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>
                <a:latin typeface="Calibri"/>
                <a:cs typeface="Calibri"/>
              </a:rPr>
              <a:t>Phase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1: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Feature</a:t>
            </a:r>
            <a:r>
              <a:rPr dirty="0" sz="2600" spc="4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Extraction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 spc="-80">
                <a:latin typeface="Calibri"/>
                <a:cs typeface="Calibri"/>
              </a:rPr>
              <a:t>MobileNetV2—</a:t>
            </a:r>
            <a:r>
              <a:rPr dirty="0" sz="2600" spc="-20">
                <a:latin typeface="Calibri"/>
                <a:cs typeface="Calibri"/>
              </a:rPr>
              <a:t>CBAM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77221" y="1853034"/>
            <a:ext cx="1871980" cy="7486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5715">
              <a:lnSpc>
                <a:spcPts val="2745"/>
              </a:lnSpc>
              <a:spcBef>
                <a:spcPts val="125"/>
              </a:spcBef>
            </a:pPr>
            <a:r>
              <a:rPr dirty="0" sz="2350" spc="-20">
                <a:solidFill>
                  <a:srgbClr val="4F4900"/>
                </a:solidFill>
                <a:latin typeface="Calibri"/>
                <a:cs typeface="Calibri"/>
              </a:rPr>
              <a:t>Data</a:t>
            </a:r>
            <a:endParaRPr sz="2350">
              <a:latin typeface="Calibri"/>
              <a:cs typeface="Calibri"/>
            </a:endParaRPr>
          </a:p>
          <a:p>
            <a:pPr algn="ctr">
              <a:lnSpc>
                <a:spcPts val="2925"/>
              </a:lnSpc>
            </a:pPr>
            <a:r>
              <a:rPr dirty="0" sz="2500" spc="-45">
                <a:solidFill>
                  <a:srgbClr val="4D4200"/>
                </a:solidFill>
                <a:latin typeface="Calibri"/>
                <a:cs typeface="Calibri"/>
              </a:rPr>
              <a:t>Pre-</a:t>
            </a:r>
            <a:r>
              <a:rPr dirty="0" sz="2500" spc="-20">
                <a:solidFill>
                  <a:srgbClr val="4D4200"/>
                </a:solidFill>
                <a:latin typeface="Calibri"/>
                <a:cs typeface="Calibri"/>
              </a:rPr>
              <a:t>Processing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31495" y="2395866"/>
            <a:ext cx="796925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20">
                <a:latin typeface="Calibri"/>
                <a:cs typeface="Calibri"/>
              </a:rPr>
              <a:t>CBAM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231813" y="2022138"/>
            <a:ext cx="6765925" cy="11969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73380" indent="-360680">
              <a:lnSpc>
                <a:spcPts val="3080"/>
              </a:lnSpc>
              <a:spcBef>
                <a:spcPts val="95"/>
              </a:spcBef>
              <a:buChar char="•"/>
              <a:tabLst>
                <a:tab pos="373380" algn="l"/>
              </a:tabLst>
            </a:pPr>
            <a:r>
              <a:rPr dirty="0" sz="2600">
                <a:latin typeface="Calibri"/>
                <a:cs typeface="Calibri"/>
              </a:rPr>
              <a:t>MobileNetV2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backbone</a:t>
            </a:r>
            <a:r>
              <a:rPr dirty="0" sz="2600" spc="2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augmented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with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CBAM</a:t>
            </a:r>
            <a:endParaRPr sz="2600">
              <a:latin typeface="Calibri"/>
              <a:cs typeface="Calibri"/>
            </a:endParaRPr>
          </a:p>
          <a:p>
            <a:pPr marL="382905">
              <a:lnSpc>
                <a:spcPts val="3055"/>
              </a:lnSpc>
            </a:pPr>
            <a:r>
              <a:rPr dirty="0" sz="2600" spc="-20">
                <a:latin typeface="Calibri"/>
                <a:cs typeface="Calibri"/>
              </a:rPr>
              <a:t>for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55">
                <a:latin typeface="Calibri"/>
                <a:cs typeface="Calibri"/>
              </a:rPr>
              <a:t>attention-</a:t>
            </a:r>
            <a:r>
              <a:rPr dirty="0" sz="2600" spc="-20">
                <a:latin typeface="Calibri"/>
                <a:cs typeface="Calibri"/>
              </a:rPr>
              <a:t>aware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learning.</a:t>
            </a:r>
            <a:endParaRPr sz="2600">
              <a:latin typeface="Calibri"/>
              <a:cs typeface="Calibri"/>
            </a:endParaRPr>
          </a:p>
          <a:p>
            <a:pPr marL="373380" indent="-360680">
              <a:lnSpc>
                <a:spcPts val="3095"/>
              </a:lnSpc>
              <a:buChar char="•"/>
              <a:tabLst>
                <a:tab pos="373380" algn="l"/>
              </a:tabLst>
            </a:pPr>
            <a:r>
              <a:rPr dirty="0" sz="2600" spc="-20">
                <a:latin typeface="Calibri"/>
                <a:cs typeface="Calibri"/>
              </a:rPr>
              <a:t>CBAM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incorporates: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11561" y="3002363"/>
            <a:ext cx="67119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60">
                <a:latin typeface="Calibri"/>
                <a:cs typeface="Calibri"/>
              </a:rPr>
              <a:t>Input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205823" y="3184201"/>
            <a:ext cx="5772785" cy="810895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 indent="1905">
              <a:lnSpc>
                <a:spcPts val="3070"/>
              </a:lnSpc>
              <a:spcBef>
                <a:spcPts val="235"/>
              </a:spcBef>
              <a:tabLst>
                <a:tab pos="1285875" algn="l"/>
                <a:tab pos="4464050" algn="l"/>
              </a:tabLst>
            </a:pPr>
            <a:r>
              <a:rPr dirty="0" sz="2600" spc="-10">
                <a:latin typeface="Calibri"/>
                <a:cs typeface="Calibri"/>
              </a:rPr>
              <a:t>Channel</a:t>
            </a:r>
            <a:r>
              <a:rPr dirty="0" sz="2600">
                <a:latin typeface="Calibri"/>
                <a:cs typeface="Calibri"/>
              </a:rPr>
              <a:t>	attention</a:t>
            </a:r>
            <a:r>
              <a:rPr dirty="0" sz="2600" spc="640">
                <a:latin typeface="Calibri"/>
                <a:cs typeface="Calibri"/>
              </a:rPr>
              <a:t> </a:t>
            </a:r>
            <a:r>
              <a:rPr dirty="0" sz="2600" spc="-800">
                <a:solidFill>
                  <a:srgbClr val="050505"/>
                </a:solidFill>
                <a:latin typeface="Calibri"/>
                <a:cs typeface="Calibri"/>
              </a:rPr>
              <a:t>—</a:t>
            </a:r>
            <a:r>
              <a:rPr dirty="0" sz="2600" spc="60">
                <a:solidFill>
                  <a:srgbClr val="050505"/>
                </a:solidFill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identifies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65">
                <a:latin typeface="Calibri"/>
                <a:cs typeface="Calibri"/>
              </a:rPr>
              <a:t>important </a:t>
            </a:r>
            <a:r>
              <a:rPr dirty="0" sz="2600" spc="-40">
                <a:latin typeface="Calibri"/>
                <a:cs typeface="Calibri"/>
              </a:rPr>
              <a:t>feature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dimensions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205777" y="4965909"/>
            <a:ext cx="6883643" cy="98111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09655" y="6035488"/>
            <a:ext cx="1696786" cy="5910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2439" y="6027447"/>
            <a:ext cx="1680702" cy="5991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3266" y="6087762"/>
            <a:ext cx="1660598" cy="51870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204841" y="6027447"/>
            <a:ext cx="1680702" cy="603146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3767" y="7406643"/>
            <a:ext cx="4583734" cy="22517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085927" y="3958687"/>
            <a:ext cx="17907000" cy="36823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138660">
              <a:lnSpc>
                <a:spcPts val="3080"/>
              </a:lnSpc>
              <a:spcBef>
                <a:spcPts val="135"/>
              </a:spcBef>
              <a:tabLst>
                <a:tab pos="13256894" algn="l"/>
                <a:tab pos="15075535" algn="l"/>
                <a:tab pos="16285210" algn="l"/>
                <a:tab pos="16826865" algn="l"/>
              </a:tabLst>
            </a:pPr>
            <a:r>
              <a:rPr dirty="0" sz="2600" spc="-10">
                <a:latin typeface="Calibri"/>
                <a:cs typeface="Calibri"/>
              </a:rPr>
              <a:t>Spatial</a:t>
            </a:r>
            <a:r>
              <a:rPr dirty="0" sz="2600">
                <a:latin typeface="Calibri"/>
                <a:cs typeface="Calibri"/>
              </a:rPr>
              <a:t>	aRention</a:t>
            </a:r>
            <a:r>
              <a:rPr dirty="0" sz="2600" spc="210">
                <a:latin typeface="Calibri"/>
                <a:cs typeface="Calibri"/>
              </a:rPr>
              <a:t>  </a:t>
            </a:r>
            <a:r>
              <a:rPr dirty="0" sz="2600" spc="-830">
                <a:solidFill>
                  <a:srgbClr val="050505"/>
                </a:solidFill>
                <a:latin typeface="Calibri"/>
                <a:cs typeface="Calibri"/>
              </a:rPr>
              <a:t>—</a:t>
            </a:r>
            <a:r>
              <a:rPr dirty="0" sz="2600">
                <a:solidFill>
                  <a:srgbClr val="050505"/>
                </a:solidFill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focuses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5">
                <a:latin typeface="Calibri"/>
                <a:cs typeface="Calibri"/>
              </a:rPr>
              <a:t>on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disease-</a:t>
            </a:r>
            <a:endParaRPr sz="2600">
              <a:latin typeface="Calibri"/>
              <a:cs typeface="Calibri"/>
            </a:endParaRPr>
          </a:p>
          <a:p>
            <a:pPr marL="12133580">
              <a:lnSpc>
                <a:spcPts val="3055"/>
              </a:lnSpc>
            </a:pPr>
            <a:r>
              <a:rPr dirty="0" sz="2600" spc="-40">
                <a:latin typeface="Calibri"/>
                <a:cs typeface="Calibri"/>
              </a:rPr>
              <a:t>relevant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regions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dirty="0" sz="2600" spc="-5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images</a:t>
            </a:r>
            <a:endParaRPr sz="2600">
              <a:latin typeface="Calibri"/>
              <a:cs typeface="Calibri"/>
            </a:endParaRPr>
          </a:p>
          <a:p>
            <a:pPr marL="11520805" marR="13335" indent="-362585">
              <a:lnSpc>
                <a:spcPts val="3040"/>
              </a:lnSpc>
              <a:spcBef>
                <a:spcPts val="145"/>
              </a:spcBef>
              <a:buChar char="•"/>
              <a:tabLst>
                <a:tab pos="11522710" algn="l"/>
                <a:tab pos="12439015" algn="l"/>
                <a:tab pos="13967460" algn="l"/>
                <a:tab pos="15199360" algn="l"/>
                <a:tab pos="16923385" algn="l"/>
              </a:tabLst>
            </a:pPr>
            <a:r>
              <a:rPr dirty="0" sz="2600" spc="-25">
                <a:latin typeface="Calibri"/>
                <a:cs typeface="Calibri"/>
              </a:rPr>
              <a:t>The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network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learns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enhanced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45">
                <a:latin typeface="Calibri"/>
                <a:cs typeface="Calibri"/>
              </a:rPr>
              <a:t>disease 	representations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from </a:t>
            </a:r>
            <a:r>
              <a:rPr dirty="0" sz="2600" spc="-30">
                <a:latin typeface="Calibri"/>
                <a:cs typeface="Calibri"/>
              </a:rPr>
              <a:t>maize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leaf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images.</a:t>
            </a:r>
            <a:endParaRPr sz="2600">
              <a:latin typeface="Calibri"/>
              <a:cs typeface="Calibri"/>
            </a:endParaRPr>
          </a:p>
          <a:p>
            <a:pPr marL="11520805" indent="-363220">
              <a:lnSpc>
                <a:spcPts val="2960"/>
              </a:lnSpc>
              <a:buChar char="•"/>
              <a:tabLst>
                <a:tab pos="11520805" algn="l"/>
                <a:tab pos="14345285" algn="l"/>
              </a:tabLst>
            </a:pPr>
            <a:r>
              <a:rPr dirty="0" sz="2600">
                <a:latin typeface="Calibri"/>
                <a:cs typeface="Calibri"/>
              </a:rPr>
              <a:t>Trained</a:t>
            </a:r>
            <a:r>
              <a:rPr dirty="0" sz="2600" spc="54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end-</a:t>
            </a:r>
            <a:r>
              <a:rPr dirty="0" sz="2600" spc="-45">
                <a:latin typeface="Calibri"/>
                <a:cs typeface="Calibri"/>
              </a:rPr>
              <a:t>to-</a:t>
            </a:r>
            <a:r>
              <a:rPr dirty="0" sz="2600" spc="-25">
                <a:latin typeface="Calibri"/>
                <a:cs typeface="Calibri"/>
              </a:rPr>
              <a:t>end</a:t>
            </a:r>
            <a:r>
              <a:rPr dirty="0" sz="2600">
                <a:latin typeface="Calibri"/>
                <a:cs typeface="Calibri"/>
              </a:rPr>
              <a:t>	using</a:t>
            </a:r>
            <a:r>
              <a:rPr dirty="0" sz="2600" spc="640">
                <a:latin typeface="Calibri"/>
                <a:cs typeface="Calibri"/>
              </a:rPr>
              <a:t> </a:t>
            </a:r>
            <a:r>
              <a:rPr dirty="0" sz="2600" spc="-60">
                <a:solidFill>
                  <a:srgbClr val="150000"/>
                </a:solidFill>
                <a:latin typeface="Calibri"/>
                <a:cs typeface="Calibri"/>
              </a:rPr>
              <a:t>-</a:t>
            </a:r>
            <a:r>
              <a:rPr dirty="0" sz="2600">
                <a:solidFill>
                  <a:srgbClr val="150000"/>
                </a:solidFill>
                <a:latin typeface="Calibri"/>
                <a:cs typeface="Calibri"/>
              </a:rPr>
              <a:t>&gt;</a:t>
            </a:r>
            <a:r>
              <a:rPr dirty="0" sz="2600" spc="505">
                <a:solidFill>
                  <a:srgbClr val="150000"/>
                </a:solidFill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label</a:t>
            </a:r>
            <a:r>
              <a:rPr dirty="0" sz="2600" spc="595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smoothing,</a:t>
            </a:r>
            <a:endParaRPr sz="2600">
              <a:latin typeface="Calibri"/>
              <a:cs typeface="Calibri"/>
            </a:endParaRPr>
          </a:p>
          <a:p>
            <a:pPr algn="r" marR="8255">
              <a:lnSpc>
                <a:spcPts val="3055"/>
              </a:lnSpc>
              <a:tabLst>
                <a:tab pos="1210945" algn="l"/>
                <a:tab pos="2279650" algn="l"/>
                <a:tab pos="4471035" algn="l"/>
                <a:tab pos="5849620" algn="l"/>
              </a:tabLst>
            </a:pPr>
            <a:r>
              <a:rPr dirty="0" sz="2600" spc="-10">
                <a:latin typeface="Calibri"/>
                <a:cs typeface="Calibri"/>
              </a:rPr>
              <a:t>weight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decay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regularization,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10">
                <a:latin typeface="Calibri"/>
                <a:cs typeface="Calibri"/>
              </a:rPr>
              <a:t>learning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0">
                <a:latin typeface="Calibri"/>
                <a:cs typeface="Calibri"/>
              </a:rPr>
              <a:t>rate</a:t>
            </a:r>
            <a:endParaRPr sz="2600">
              <a:latin typeface="Calibri"/>
              <a:cs typeface="Calibri"/>
            </a:endParaRPr>
          </a:p>
          <a:p>
            <a:pPr algn="r" marR="24130">
              <a:lnSpc>
                <a:spcPts val="3080"/>
              </a:lnSpc>
              <a:tabLst>
                <a:tab pos="263525" algn="l"/>
                <a:tab pos="3183890" algn="l"/>
              </a:tabLst>
            </a:pPr>
            <a:r>
              <a:rPr dirty="0" sz="2600" spc="-50">
                <a:latin typeface="Calibri"/>
                <a:cs typeface="Calibri"/>
              </a:rPr>
              <a:t>'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465">
                <a:latin typeface="Calibri"/>
                <a:cs typeface="Calibri"/>
              </a:rPr>
              <a:t>"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30">
                <a:latin typeface="Calibri"/>
                <a:cs typeface="Calibri"/>
              </a:rPr>
              <a:t>scheduling,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early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 spc="-40">
                <a:latin typeface="Calibri"/>
                <a:cs typeface="Calibri"/>
              </a:rPr>
              <a:t>stopping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prevent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overfitting.</a:t>
            </a:r>
            <a:endParaRPr sz="2600">
              <a:latin typeface="Calibri"/>
              <a:cs typeface="Calibri"/>
            </a:endParaRPr>
          </a:p>
          <a:p>
            <a:pPr marL="2752725">
              <a:lnSpc>
                <a:spcPct val="100000"/>
              </a:lnSpc>
              <a:spcBef>
                <a:spcPts val="960"/>
              </a:spcBef>
            </a:pPr>
            <a:r>
              <a:rPr dirty="0" sz="2350">
                <a:latin typeface="Times New Roman"/>
                <a:cs typeface="Times New Roman"/>
              </a:rPr>
              <a:t>Fig.</a:t>
            </a:r>
            <a:r>
              <a:rPr dirty="0" sz="2350" spc="-9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2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Illustration</a:t>
            </a:r>
            <a:r>
              <a:rPr dirty="0" sz="2350" spc="4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1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proposed</a:t>
            </a:r>
            <a:r>
              <a:rPr dirty="0" sz="2350" spc="6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framework.</a:t>
            </a:r>
            <a:endParaRPr sz="2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  <a:tabLst>
                <a:tab pos="1994535" algn="l"/>
                <a:tab pos="8013700" algn="l"/>
              </a:tabLst>
            </a:pPr>
            <a:r>
              <a:rPr dirty="0" sz="2550">
                <a:latin typeface="Calibri"/>
                <a:cs typeface="Calibri"/>
              </a:rPr>
              <a:t>Phase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65">
                <a:latin typeface="Calibri"/>
                <a:cs typeface="Calibri"/>
              </a:rPr>
              <a:t>2: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Dee</a:t>
            </a:r>
            <a:r>
              <a:rPr dirty="0" sz="2550">
                <a:latin typeface="Calibri"/>
                <a:cs typeface="Calibri"/>
              </a:rPr>
              <a:t>	Feature</a:t>
            </a:r>
            <a:r>
              <a:rPr dirty="0" sz="2550" spc="-114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Generation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u="heavy" sz="255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Phase</a:t>
            </a:r>
            <a:r>
              <a:rPr dirty="0" u="heavy" sz="2550" spc="8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55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3:</a:t>
            </a:r>
            <a:r>
              <a:rPr dirty="0" u="heavy" sz="2550" spc="6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55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Classification</a:t>
            </a:r>
            <a:r>
              <a:rPr dirty="0" u="heavy" sz="2550" spc="5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550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Using</a:t>
            </a:r>
            <a:r>
              <a:rPr dirty="0" u="heavy" sz="2550" spc="229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2550" spc="-25">
                <a:uFill>
                  <a:solidFill>
                    <a:srgbClr val="282B1C"/>
                  </a:solidFill>
                </a:uFill>
                <a:latin typeface="Calibri"/>
                <a:cs typeface="Calibri"/>
              </a:rPr>
              <a:t>SVM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17787" y="7716258"/>
            <a:ext cx="18640521" cy="319265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82080" y="7612862"/>
            <a:ext cx="6788150" cy="119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635" indent="-368935">
              <a:lnSpc>
                <a:spcPts val="3040"/>
              </a:lnSpc>
              <a:spcBef>
                <a:spcPts val="100"/>
              </a:spcBef>
              <a:buChar char="•"/>
              <a:tabLst>
                <a:tab pos="381635" algn="l"/>
              </a:tabLst>
            </a:pPr>
            <a:r>
              <a:rPr dirty="0" sz="2550" spc="-10">
                <a:latin typeface="Calibri"/>
                <a:cs typeface="Calibri"/>
              </a:rPr>
              <a:t>Classification</a:t>
            </a:r>
            <a:r>
              <a:rPr dirty="0" sz="2550" spc="-85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layers </a:t>
            </a:r>
            <a:r>
              <a:rPr dirty="0" sz="2550">
                <a:latin typeface="Calibri"/>
                <a:cs typeface="Calibri"/>
              </a:rPr>
              <a:t>are</a:t>
            </a:r>
            <a:r>
              <a:rPr dirty="0" sz="2550" spc="5">
                <a:latin typeface="Calibri"/>
                <a:cs typeface="Calibri"/>
              </a:rPr>
              <a:t> </a:t>
            </a:r>
            <a:r>
              <a:rPr dirty="0" sz="2550" spc="-30">
                <a:latin typeface="Calibri"/>
                <a:cs typeface="Calibri"/>
              </a:rPr>
              <a:t>removed</a:t>
            </a:r>
            <a:r>
              <a:rPr dirty="0" sz="2550" spc="15">
                <a:latin typeface="Calibri"/>
                <a:cs typeface="Calibri"/>
              </a:rPr>
              <a:t> </a:t>
            </a:r>
            <a:r>
              <a:rPr dirty="0" sz="2550" spc="85">
                <a:latin typeface="Calibri"/>
                <a:cs typeface="Calibri"/>
              </a:rPr>
              <a:t>aker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training.</a:t>
            </a:r>
            <a:endParaRPr sz="2550">
              <a:latin typeface="Calibri"/>
              <a:cs typeface="Calibri"/>
            </a:endParaRPr>
          </a:p>
          <a:p>
            <a:pPr marL="382905" indent="-370205">
              <a:lnSpc>
                <a:spcPts val="3100"/>
              </a:lnSpc>
              <a:buChar char="•"/>
              <a:tabLst>
                <a:tab pos="38290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trained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40">
                <a:latin typeface="Calibri"/>
                <a:cs typeface="Calibri"/>
              </a:rPr>
              <a:t>network</a:t>
            </a:r>
            <a:r>
              <a:rPr dirty="0" sz="2600" spc="-3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acts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as</a:t>
            </a:r>
            <a:r>
              <a:rPr dirty="0" sz="2600" spc="-120">
                <a:latin typeface="Calibri"/>
                <a:cs typeface="Calibri"/>
              </a:rPr>
              <a:t> </a:t>
            </a:r>
            <a:r>
              <a:rPr dirty="0" sz="2600" spc="60">
                <a:solidFill>
                  <a:srgbClr val="050505"/>
                </a:solidFill>
                <a:latin typeface="Calibri"/>
                <a:cs typeface="Calibri"/>
              </a:rPr>
              <a:t>a</a:t>
            </a:r>
            <a:r>
              <a:rPr dirty="0" sz="2600" spc="-150">
                <a:solidFill>
                  <a:srgbClr val="050505"/>
                </a:solidFill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feature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extractor.</a:t>
            </a:r>
            <a:endParaRPr sz="26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buChar char="•"/>
              <a:tabLst>
                <a:tab pos="382270" algn="l"/>
              </a:tabLst>
            </a:pPr>
            <a:r>
              <a:rPr dirty="0" sz="2550">
                <a:latin typeface="Calibri"/>
                <a:cs typeface="Calibri"/>
              </a:rPr>
              <a:t>Each</a:t>
            </a:r>
            <a:r>
              <a:rPr dirty="0" sz="2550" spc="1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input</a:t>
            </a:r>
            <a:r>
              <a:rPr dirty="0" sz="2550" spc="16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image</a:t>
            </a:r>
            <a:r>
              <a:rPr dirty="0" sz="2550" spc="16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(224</a:t>
            </a:r>
            <a:r>
              <a:rPr dirty="0" sz="2550" spc="195">
                <a:latin typeface="Calibri"/>
                <a:cs typeface="Calibri"/>
              </a:rPr>
              <a:t> </a:t>
            </a:r>
            <a:r>
              <a:rPr dirty="0" baseline="4357" sz="3825" spc="97">
                <a:latin typeface="Calibri"/>
                <a:cs typeface="Calibri"/>
              </a:rPr>
              <a:t>x</a:t>
            </a:r>
            <a:r>
              <a:rPr dirty="0" baseline="4357" sz="3825" spc="30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224</a:t>
            </a:r>
            <a:r>
              <a:rPr dirty="0" sz="2550" spc="1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pixels)</a:t>
            </a:r>
            <a:r>
              <a:rPr dirty="0" sz="2550" spc="14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produces</a:t>
            </a:r>
            <a:r>
              <a:rPr dirty="0" sz="2550" spc="229">
                <a:latin typeface="Calibri"/>
                <a:cs typeface="Calibri"/>
              </a:rPr>
              <a:t> </a:t>
            </a:r>
            <a:r>
              <a:rPr dirty="0" sz="2550" spc="35">
                <a:latin typeface="Calibri"/>
                <a:cs typeface="Calibri"/>
              </a:rPr>
              <a:t>a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84038" y="7612862"/>
            <a:ext cx="8919845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7190" indent="-364490">
              <a:lnSpc>
                <a:spcPct val="100000"/>
              </a:lnSpc>
              <a:spcBef>
                <a:spcPts val="100"/>
              </a:spcBef>
              <a:buChar char="•"/>
              <a:tabLst>
                <a:tab pos="377190" algn="l"/>
                <a:tab pos="1750060" algn="l"/>
                <a:tab pos="2914650" algn="l"/>
                <a:tab pos="4368165" algn="l"/>
                <a:tab pos="5495925" algn="l"/>
                <a:tab pos="6421755" algn="l"/>
                <a:tab pos="7077709" algn="l"/>
                <a:tab pos="7932420" algn="l"/>
              </a:tabLst>
            </a:pPr>
            <a:r>
              <a:rPr dirty="0" sz="2550" spc="-10">
                <a:latin typeface="Calibri"/>
                <a:cs typeface="Calibri"/>
              </a:rPr>
              <a:t>Support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0">
                <a:latin typeface="Calibri"/>
                <a:cs typeface="Calibri"/>
              </a:rPr>
              <a:t>Vector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0">
                <a:latin typeface="Calibri"/>
                <a:cs typeface="Calibri"/>
              </a:rPr>
              <a:t>Machine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0">
                <a:latin typeface="Calibri"/>
                <a:cs typeface="Calibri"/>
              </a:rPr>
              <a:t>(SVM)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20">
                <a:latin typeface="Calibri"/>
                <a:cs typeface="Calibri"/>
              </a:rPr>
              <a:t>used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25">
                <a:latin typeface="Calibri"/>
                <a:cs typeface="Calibri"/>
              </a:rPr>
              <a:t>for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0">
                <a:latin typeface="Calibri"/>
                <a:cs typeface="Calibri"/>
              </a:rPr>
              <a:t>final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10">
                <a:latin typeface="Calibri"/>
                <a:cs typeface="Calibri"/>
              </a:rPr>
              <a:t>disease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449611" y="8779840"/>
            <a:ext cx="6400800" cy="80264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7305">
              <a:lnSpc>
                <a:spcPts val="3100"/>
              </a:lnSpc>
              <a:spcBef>
                <a:spcPts val="135"/>
              </a:spcBef>
              <a:tabLst>
                <a:tab pos="2507615" algn="l"/>
                <a:tab pos="5427345" algn="l"/>
              </a:tabLst>
            </a:pPr>
            <a:r>
              <a:rPr dirty="0" baseline="2136" sz="3900">
                <a:latin typeface="Calibri"/>
                <a:cs typeface="Calibri"/>
              </a:rPr>
              <a:t>zzg-</a:t>
            </a:r>
            <a:r>
              <a:rPr dirty="0" baseline="2136" sz="3900" spc="-15">
                <a:latin typeface="Calibri"/>
                <a:cs typeface="Calibri"/>
              </a:rPr>
              <a:t>dimensional</a:t>
            </a:r>
            <a:r>
              <a:rPr dirty="0" baseline="2136" sz="3900">
                <a:latin typeface="Calibri"/>
                <a:cs typeface="Calibri"/>
              </a:rPr>
              <a:t>	</a:t>
            </a:r>
            <a:r>
              <a:rPr dirty="0" baseline="2136" sz="3900" spc="-15">
                <a:latin typeface="Calibri"/>
                <a:cs typeface="Calibri"/>
              </a:rPr>
              <a:t>attenti</a:t>
            </a:r>
            <a:r>
              <a:rPr dirty="0" sz="2600" spc="-10">
                <a:latin typeface="Calibri"/>
                <a:cs typeface="Calibri"/>
              </a:rPr>
              <a:t>o</a:t>
            </a:r>
            <a:r>
              <a:rPr dirty="0" baseline="2136" sz="3900" spc="-15">
                <a:latin typeface="Calibri"/>
                <a:cs typeface="Calibri"/>
              </a:rPr>
              <a:t>n-enhanced</a:t>
            </a:r>
            <a:r>
              <a:rPr dirty="0" baseline="2136" sz="3900">
                <a:latin typeface="Calibri"/>
                <a:cs typeface="Calibri"/>
              </a:rPr>
              <a:t>	</a:t>
            </a:r>
            <a:r>
              <a:rPr dirty="0" baseline="2136" sz="3900" spc="-44">
                <a:latin typeface="Calibri"/>
                <a:cs typeface="Calibri"/>
              </a:rPr>
              <a:t>feature</a:t>
            </a:r>
            <a:endParaRPr baseline="2136" sz="3900">
              <a:latin typeface="Calibri"/>
              <a:cs typeface="Calibri"/>
            </a:endParaRPr>
          </a:p>
          <a:p>
            <a:pPr marL="12700">
              <a:lnSpc>
                <a:spcPts val="2980"/>
              </a:lnSpc>
            </a:pPr>
            <a:r>
              <a:rPr dirty="0" sz="2500" spc="-10">
                <a:latin typeface="Calibri"/>
                <a:cs typeface="Calibri"/>
              </a:rPr>
              <a:t>vector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084038" y="7997313"/>
            <a:ext cx="8900160" cy="158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2270">
              <a:lnSpc>
                <a:spcPct val="100000"/>
              </a:lnSpc>
              <a:spcBef>
                <a:spcPts val="95"/>
              </a:spcBef>
            </a:pPr>
            <a:r>
              <a:rPr dirty="0" sz="2600" spc="-10">
                <a:latin typeface="Calibri"/>
                <a:cs typeface="Calibri"/>
              </a:rPr>
              <a:t>classification.</a:t>
            </a:r>
            <a:endParaRPr sz="2600">
              <a:latin typeface="Calibri"/>
              <a:cs typeface="Calibri"/>
            </a:endParaRPr>
          </a:p>
          <a:p>
            <a:pPr marL="381635" indent="-368935">
              <a:lnSpc>
                <a:spcPts val="3025"/>
              </a:lnSpc>
              <a:buChar char="•"/>
              <a:tabLst>
                <a:tab pos="381635" algn="l"/>
              </a:tabLst>
            </a:pPr>
            <a:r>
              <a:rPr dirty="0" sz="2550">
                <a:latin typeface="Calibri"/>
                <a:cs typeface="Calibri"/>
              </a:rPr>
              <a:t>Radial-basis</a:t>
            </a:r>
            <a:r>
              <a:rPr dirty="0" sz="2550" spc="39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function</a:t>
            </a:r>
            <a:r>
              <a:rPr dirty="0" sz="2550" spc="38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(RBF)</a:t>
            </a:r>
            <a:r>
              <a:rPr dirty="0" sz="2550" spc="28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kernel</a:t>
            </a:r>
            <a:r>
              <a:rPr dirty="0" sz="2550" spc="34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applied</a:t>
            </a:r>
            <a:r>
              <a:rPr dirty="0" sz="2550" spc="4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to</a:t>
            </a:r>
            <a:r>
              <a:rPr dirty="0" sz="2550" spc="34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model</a:t>
            </a:r>
            <a:r>
              <a:rPr dirty="0" sz="2550" spc="360">
                <a:latin typeface="Calibri"/>
                <a:cs typeface="Calibri"/>
              </a:rPr>
              <a:t> </a:t>
            </a:r>
            <a:r>
              <a:rPr dirty="0" sz="2550" spc="-50">
                <a:latin typeface="Calibri"/>
                <a:cs typeface="Calibri"/>
              </a:rPr>
              <a:t>non-</a:t>
            </a:r>
            <a:r>
              <a:rPr dirty="0" sz="2550" spc="-10">
                <a:latin typeface="Calibri"/>
                <a:cs typeface="Calibri"/>
              </a:rPr>
              <a:t>linear</a:t>
            </a:r>
            <a:endParaRPr sz="2550">
              <a:latin typeface="Calibri"/>
              <a:cs typeface="Calibri"/>
            </a:endParaRPr>
          </a:p>
          <a:p>
            <a:pPr marL="381000">
              <a:lnSpc>
                <a:spcPts val="3085"/>
              </a:lnSpc>
            </a:pPr>
            <a:r>
              <a:rPr dirty="0" sz="2600" spc="-10">
                <a:latin typeface="Calibri"/>
                <a:cs typeface="Calibri"/>
              </a:rPr>
              <a:t>disease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patterns.</a:t>
            </a:r>
            <a:endParaRPr sz="2600">
              <a:latin typeface="Calibri"/>
              <a:cs typeface="Calibri"/>
            </a:endParaRPr>
          </a:p>
          <a:p>
            <a:pPr marL="382270" indent="-369570">
              <a:lnSpc>
                <a:spcPct val="100000"/>
              </a:lnSpc>
              <a:spcBef>
                <a:spcPts val="50"/>
              </a:spcBef>
              <a:buChar char="•"/>
              <a:tabLst>
                <a:tab pos="382270" algn="l"/>
              </a:tabLst>
            </a:pPr>
            <a:r>
              <a:rPr dirty="0" sz="2500" spc="45">
                <a:latin typeface="Calibri"/>
                <a:cs typeface="Calibri"/>
              </a:rPr>
              <a:t>Regularization</a:t>
            </a:r>
            <a:r>
              <a:rPr dirty="0" sz="2500" spc="-13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parameter</a:t>
            </a:r>
            <a:r>
              <a:rPr dirty="0" sz="2500" spc="2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’C’</a:t>
            </a:r>
            <a:r>
              <a:rPr dirty="0" sz="2500" spc="-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empirically</a:t>
            </a:r>
            <a:r>
              <a:rPr dirty="0" sz="2500" spc="31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tuned: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83133" y="9540475"/>
            <a:ext cx="6767830" cy="8299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635" marR="5080" indent="-369570">
              <a:lnSpc>
                <a:spcPct val="105500"/>
              </a:lnSpc>
              <a:spcBef>
                <a:spcPts val="100"/>
              </a:spcBef>
              <a:buChar char="•"/>
              <a:tabLst>
                <a:tab pos="385445" algn="l"/>
                <a:tab pos="1942464" algn="l"/>
                <a:tab pos="3336925" algn="l"/>
                <a:tab pos="4082415" algn="l"/>
                <a:tab pos="6066790" algn="l"/>
              </a:tabLst>
            </a:pPr>
            <a:r>
              <a:rPr dirty="0" sz="2500" spc="-10">
                <a:latin typeface="Calibri"/>
                <a:cs typeface="Calibri"/>
              </a:rPr>
              <a:t>Extracted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10">
                <a:latin typeface="Calibri"/>
                <a:cs typeface="Calibri"/>
              </a:rPr>
              <a:t>features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25">
                <a:latin typeface="Calibri"/>
                <a:cs typeface="Calibri"/>
              </a:rPr>
              <a:t>are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10">
                <a:latin typeface="Calibri"/>
                <a:cs typeface="Calibri"/>
              </a:rPr>
              <a:t>standardized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10">
                <a:latin typeface="Calibri"/>
                <a:cs typeface="Calibri"/>
              </a:rPr>
              <a:t>using </a:t>
            </a:r>
            <a:r>
              <a:rPr dirty="0" sz="2500" spc="-10">
                <a:latin typeface="Calibri"/>
                <a:cs typeface="Calibri"/>
              </a:rPr>
              <a:t>	</a:t>
            </a:r>
            <a:r>
              <a:rPr dirty="0" baseline="2222" sz="3750" spc="-15">
                <a:latin typeface="Calibri"/>
                <a:cs typeface="Calibri"/>
              </a:rPr>
              <a:t>St</a:t>
            </a:r>
            <a:r>
              <a:rPr dirty="0" sz="2500" spc="-10">
                <a:latin typeface="Calibri"/>
                <a:cs typeface="Calibri"/>
              </a:rPr>
              <a:t>a</a:t>
            </a:r>
            <a:r>
              <a:rPr dirty="0" baseline="2222" sz="3750" spc="-15">
                <a:latin typeface="Calibri"/>
                <a:cs typeface="Calibri"/>
              </a:rPr>
              <a:t>ndard5caler.</a:t>
            </a:r>
            <a:endParaRPr baseline="2222" sz="375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84564" y="9560580"/>
            <a:ext cx="7234555" cy="797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53820" indent="-372110">
              <a:lnSpc>
                <a:spcPct val="100000"/>
              </a:lnSpc>
              <a:spcBef>
                <a:spcPts val="105"/>
              </a:spcBef>
              <a:buChar char="•"/>
              <a:tabLst>
                <a:tab pos="1353820" algn="l"/>
              </a:tabLst>
            </a:pPr>
            <a:r>
              <a:rPr dirty="0" sz="2500">
                <a:latin typeface="Calibri"/>
                <a:cs typeface="Calibri"/>
              </a:rPr>
              <a:t>Optimal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performance</a:t>
            </a:r>
            <a:r>
              <a:rPr dirty="0" sz="2500" spc="3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achieved</a:t>
            </a:r>
            <a:r>
              <a:rPr dirty="0" sz="2500" spc="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at</a:t>
            </a:r>
            <a:r>
              <a:rPr dirty="0" sz="2500" spc="-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</a:t>
            </a:r>
            <a:r>
              <a:rPr dirty="0" sz="2500" spc="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=</a:t>
            </a:r>
            <a:r>
              <a:rPr dirty="0" sz="2500" spc="-3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30</a:t>
            </a:r>
            <a:endParaRPr sz="2500">
              <a:latin typeface="Calibri"/>
              <a:cs typeface="Calibri"/>
            </a:endParaRPr>
          </a:p>
          <a:p>
            <a:pPr marL="381000" indent="-368300">
              <a:lnSpc>
                <a:spcPct val="100000"/>
              </a:lnSpc>
              <a:spcBef>
                <a:spcPts val="70"/>
              </a:spcBef>
              <a:buChar char="•"/>
              <a:tabLst>
                <a:tab pos="381000" algn="l"/>
              </a:tabLst>
            </a:pPr>
            <a:r>
              <a:rPr dirty="0" sz="2500">
                <a:latin typeface="Calibri"/>
                <a:cs typeface="Calibri"/>
              </a:rPr>
              <a:t>Class</a:t>
            </a:r>
            <a:r>
              <a:rPr dirty="0" sz="2500" spc="7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weights</a:t>
            </a:r>
            <a:r>
              <a:rPr dirty="0" sz="2500" spc="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Bppliizd</a:t>
            </a:r>
            <a:r>
              <a:rPr dirty="0" sz="2500" spc="1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address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dataset</a:t>
            </a:r>
            <a:r>
              <a:rPr dirty="0" sz="2500" spc="13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imbalance.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4945587" y="274799"/>
            <a:ext cx="10149840" cy="10509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Result</a:t>
            </a:r>
            <a:r>
              <a:rPr dirty="0" spc="-330"/>
              <a:t> </a:t>
            </a:r>
            <a:r>
              <a:rPr dirty="0" spc="-35"/>
              <a:t>Analysis</a:t>
            </a:r>
            <a:r>
              <a:rPr dirty="0" spc="-325"/>
              <a:t> </a:t>
            </a:r>
            <a:r>
              <a:rPr dirty="0" spc="-25"/>
              <a:t>and</a:t>
            </a:r>
            <a:r>
              <a:rPr dirty="0" spc="-355"/>
              <a:t> </a:t>
            </a:r>
            <a:r>
              <a:rPr dirty="0" spc="-90"/>
              <a:t>Discussion</a:t>
            </a:r>
          </a:p>
        </p:txBody>
      </p:sp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2205" y="1749125"/>
            <a:ext cx="4865192" cy="305594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04469" y="1637688"/>
            <a:ext cx="6096635" cy="119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>
                <a:latin typeface="Calibri"/>
                <a:cs typeface="Calibri"/>
              </a:rPr>
              <a:t>Data</a:t>
            </a:r>
            <a:r>
              <a:rPr dirty="0" sz="2550" spc="-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Ac</a:t>
            </a:r>
            <a:r>
              <a:rPr dirty="0" sz="2550" spc="114">
                <a:latin typeface="Calibri"/>
                <a:cs typeface="Calibri"/>
              </a:rPr>
              <a:t>  </a:t>
            </a:r>
            <a:r>
              <a:rPr dirty="0" sz="2550">
                <a:latin typeface="Calibri"/>
                <a:cs typeface="Calibri"/>
              </a:rPr>
              <a:t>uisition</a:t>
            </a:r>
            <a:r>
              <a:rPr dirty="0" sz="2550" spc="31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and</a:t>
            </a:r>
            <a:r>
              <a:rPr dirty="0" sz="2550" spc="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Pre-</a:t>
            </a:r>
            <a:r>
              <a:rPr dirty="0" sz="2550" spc="150">
                <a:latin typeface="Calibri"/>
                <a:cs typeface="Calibri"/>
              </a:rPr>
              <a:t>  </a:t>
            </a:r>
            <a:r>
              <a:rPr dirty="0" sz="2550" spc="-10">
                <a:latin typeface="Calibri"/>
                <a:cs typeface="Calibri"/>
              </a:rPr>
              <a:t>rocessin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ts val="2970"/>
              </a:lnSpc>
              <a:spcBef>
                <a:spcPts val="60"/>
              </a:spcBef>
              <a:tabLst>
                <a:tab pos="865505" algn="l"/>
              </a:tabLst>
            </a:pPr>
            <a:r>
              <a:rPr dirty="0" sz="2500" spc="-360">
                <a:latin typeface="Calibri"/>
                <a:cs typeface="Calibri"/>
              </a:rPr>
              <a:t>1.</a:t>
            </a:r>
            <a:r>
              <a:rPr dirty="0" sz="2500">
                <a:latin typeface="Calibri"/>
                <a:cs typeface="Calibri"/>
              </a:rPr>
              <a:t>	Kaggle</a:t>
            </a:r>
            <a:r>
              <a:rPr dirty="0" sz="2500" spc="3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Leaf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Disease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Dataset</a:t>
            </a:r>
            <a:r>
              <a:rPr dirty="0" sz="2500" spc="50">
                <a:latin typeface="Calibri"/>
                <a:cs typeface="Calibri"/>
              </a:rPr>
              <a:t> </a:t>
            </a:r>
            <a:r>
              <a:rPr dirty="0" sz="2500" spc="100">
                <a:latin typeface="Calibri"/>
                <a:cs typeface="Calibri"/>
              </a:rPr>
              <a:t>1</a:t>
            </a:r>
            <a:r>
              <a:rPr dirty="0" sz="2500" spc="-165">
                <a:latin typeface="Calibri"/>
                <a:cs typeface="Calibri"/>
              </a:rPr>
              <a:t> </a:t>
            </a:r>
            <a:r>
              <a:rPr dirty="0" sz="2500" spc="-25">
                <a:latin typeface="Calibri"/>
                <a:cs typeface="Calibri"/>
              </a:rPr>
              <a:t>|9]</a:t>
            </a:r>
            <a:endParaRPr sz="2500">
              <a:latin typeface="Calibri"/>
              <a:cs typeface="Calibri"/>
            </a:endParaRPr>
          </a:p>
          <a:p>
            <a:pPr marL="17145">
              <a:lnSpc>
                <a:spcPts val="3090"/>
              </a:lnSpc>
            </a:pPr>
            <a:r>
              <a:rPr dirty="0" sz="2600" spc="-45">
                <a:latin typeface="Calibri"/>
                <a:cs typeface="Calibri"/>
              </a:rPr>
              <a:t>Total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images: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41B8,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categorized</a:t>
            </a:r>
            <a:r>
              <a:rPr dirty="0" sz="2600" spc="3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into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65">
                <a:latin typeface="Calibri"/>
                <a:cs typeface="Calibri"/>
              </a:rPr>
              <a:t>4</a:t>
            </a:r>
            <a:r>
              <a:rPr dirty="0" sz="2600" spc="-1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classes: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70167" y="2803772"/>
            <a:ext cx="5304790" cy="1580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635" indent="-368935">
              <a:lnSpc>
                <a:spcPct val="100000"/>
              </a:lnSpc>
              <a:spcBef>
                <a:spcPts val="100"/>
              </a:spcBef>
              <a:buChar char="•"/>
              <a:tabLst>
                <a:tab pos="381635" algn="l"/>
              </a:tabLst>
            </a:pPr>
            <a:r>
              <a:rPr dirty="0" sz="2550">
                <a:latin typeface="Calibri"/>
                <a:cs typeface="Calibri"/>
              </a:rPr>
              <a:t>Blight</a:t>
            </a:r>
            <a:r>
              <a:rPr dirty="0" sz="2550" spc="1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(Class</a:t>
            </a:r>
            <a:r>
              <a:rPr dirty="0" sz="2550" spc="12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0):</a:t>
            </a:r>
            <a:r>
              <a:rPr dirty="0" sz="2550" spc="-7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1146</a:t>
            </a:r>
            <a:r>
              <a:rPr dirty="0" sz="2550" spc="13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images</a:t>
            </a:r>
            <a:endParaRPr sz="2550">
              <a:latin typeface="Calibri"/>
              <a:cs typeface="Calibri"/>
            </a:endParaRPr>
          </a:p>
          <a:p>
            <a:pPr marL="385445" indent="-372745">
              <a:lnSpc>
                <a:spcPct val="100000"/>
              </a:lnSpc>
              <a:spcBef>
                <a:spcPts val="30"/>
              </a:spcBef>
              <a:buChar char="•"/>
              <a:tabLst>
                <a:tab pos="385445" algn="l"/>
              </a:tabLst>
            </a:pPr>
            <a:r>
              <a:rPr dirty="0" sz="2500">
                <a:latin typeface="Calibri"/>
                <a:cs typeface="Calibri"/>
              </a:rPr>
              <a:t>Common</a:t>
            </a:r>
            <a:r>
              <a:rPr dirty="0" sz="2500" spc="19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Rust</a:t>
            </a:r>
            <a:r>
              <a:rPr dirty="0" sz="2500" spc="2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(Class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 spc="60">
                <a:latin typeface="Calibri"/>
                <a:cs typeface="Calibri"/>
              </a:rPr>
              <a:t>1):</a:t>
            </a:r>
            <a:r>
              <a:rPr dirty="0" sz="2500" spc="-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1306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images</a:t>
            </a:r>
            <a:endParaRPr sz="250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20"/>
              </a:spcBef>
              <a:buChar char="•"/>
              <a:tabLst>
                <a:tab pos="386080" algn="l"/>
              </a:tabLst>
            </a:pPr>
            <a:r>
              <a:rPr dirty="0" sz="2550">
                <a:latin typeface="Calibri"/>
                <a:cs typeface="Calibri"/>
              </a:rPr>
              <a:t>Gray</a:t>
            </a:r>
            <a:r>
              <a:rPr dirty="0" sz="2550" spc="-1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Leaf</a:t>
            </a:r>
            <a:r>
              <a:rPr dirty="0" sz="2550" spc="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Spot</a:t>
            </a:r>
            <a:r>
              <a:rPr dirty="0" sz="2550" spc="-1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(Class</a:t>
            </a:r>
            <a:r>
              <a:rPr dirty="0" sz="2550" spc="-15">
                <a:latin typeface="Calibri"/>
                <a:cs typeface="Calibri"/>
              </a:rPr>
              <a:t> </a:t>
            </a:r>
            <a:r>
              <a:rPr dirty="0" sz="2550" spc="55">
                <a:latin typeface="Calibri"/>
                <a:cs typeface="Calibri"/>
              </a:rPr>
              <a:t>2):</a:t>
            </a:r>
            <a:r>
              <a:rPr dirty="0" sz="2550" spc="-13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574</a:t>
            </a:r>
            <a:r>
              <a:rPr dirty="0" sz="2550" spc="8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images</a:t>
            </a:r>
            <a:endParaRPr sz="255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spcBef>
                <a:spcPts val="10"/>
              </a:spcBef>
              <a:buChar char="•"/>
              <a:tabLst>
                <a:tab pos="381635" algn="l"/>
              </a:tabLst>
            </a:pPr>
            <a:r>
              <a:rPr dirty="0" sz="2550">
                <a:latin typeface="Calibri"/>
                <a:cs typeface="Calibri"/>
              </a:rPr>
              <a:t>Healthy</a:t>
            </a:r>
            <a:r>
              <a:rPr dirty="0" sz="2550" spc="4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(Class</a:t>
            </a:r>
            <a:r>
              <a:rPr dirty="0" sz="2550" spc="7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3):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1162</a:t>
            </a:r>
            <a:r>
              <a:rPr dirty="0" sz="2550" spc="15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images</a:t>
            </a:r>
            <a:endParaRPr sz="25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8596513" y="1861713"/>
            <a:ext cx="2332075" cy="240454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306545" y="1861713"/>
            <a:ext cx="2295888" cy="240454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992452" y="1849650"/>
            <a:ext cx="2340117" cy="239650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718570" y="1861713"/>
            <a:ext cx="2307950" cy="244877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423361" y="4122289"/>
            <a:ext cx="8881745" cy="97726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  <a:tabLst>
                <a:tab pos="2258060" algn="l"/>
                <a:tab pos="4912360" algn="l"/>
                <a:tab pos="8025765" algn="l"/>
              </a:tabLst>
            </a:pPr>
            <a:r>
              <a:rPr dirty="0" sz="2250" spc="-10">
                <a:latin typeface="Times New Roman"/>
                <a:cs typeface="Times New Roman"/>
              </a:rPr>
              <a:t>Blight</a:t>
            </a:r>
            <a:r>
              <a:rPr dirty="0" sz="2250">
                <a:latin typeface="Times New Roman"/>
                <a:cs typeface="Times New Roman"/>
              </a:rPr>
              <a:t>	</a:t>
            </a:r>
            <a:r>
              <a:rPr dirty="0" sz="2250" spc="-80">
                <a:latin typeface="Times New Roman"/>
                <a:cs typeface="Times New Roman"/>
              </a:rPr>
              <a:t>Common</a:t>
            </a:r>
            <a:r>
              <a:rPr dirty="0" sz="2250" spc="-40">
                <a:latin typeface="Times New Roman"/>
                <a:cs typeface="Times New Roman"/>
              </a:rPr>
              <a:t> </a:t>
            </a:r>
            <a:r>
              <a:rPr dirty="0" sz="2250" spc="-25">
                <a:latin typeface="Times New Roman"/>
                <a:cs typeface="Times New Roman"/>
              </a:rPr>
              <a:t>Ruz</a:t>
            </a:r>
            <a:r>
              <a:rPr dirty="0" sz="2250">
                <a:latin typeface="Times New Roman"/>
                <a:cs typeface="Times New Roman"/>
              </a:rPr>
              <a:t>	</a:t>
            </a:r>
            <a:r>
              <a:rPr dirty="0" sz="2250" spc="-145">
                <a:latin typeface="Times New Roman"/>
                <a:cs typeface="Times New Roman"/>
              </a:rPr>
              <a:t>Grey'</a:t>
            </a:r>
            <a:r>
              <a:rPr dirty="0" sz="2250" spc="5">
                <a:latin typeface="Times New Roman"/>
                <a:cs typeface="Times New Roman"/>
              </a:rPr>
              <a:t> </a:t>
            </a:r>
            <a:r>
              <a:rPr dirty="0" sz="2250" spc="-60">
                <a:latin typeface="Times New Roman"/>
                <a:cs typeface="Times New Roman"/>
              </a:rPr>
              <a:t>Leaf</a:t>
            </a:r>
            <a:r>
              <a:rPr dirty="0" sz="2250" spc="-65">
                <a:latin typeface="Times New Roman"/>
                <a:cs typeface="Times New Roman"/>
              </a:rPr>
              <a:t> </a:t>
            </a:r>
            <a:r>
              <a:rPr dirty="0" sz="2250" spc="-20">
                <a:solidFill>
                  <a:srgbClr val="0C0C0C"/>
                </a:solidFill>
                <a:latin typeface="Times New Roman"/>
                <a:cs typeface="Times New Roman"/>
              </a:rPr>
              <a:t>Spot</a:t>
            </a:r>
            <a:r>
              <a:rPr dirty="0" sz="2250">
                <a:solidFill>
                  <a:srgbClr val="0C0C0C"/>
                </a:solidFill>
                <a:latin typeface="Times New Roman"/>
                <a:cs typeface="Times New Roman"/>
              </a:rPr>
              <a:t>	</a:t>
            </a:r>
            <a:r>
              <a:rPr dirty="0" sz="2250" spc="-35">
                <a:latin typeface="Times New Roman"/>
                <a:cs typeface="Times New Roman"/>
              </a:rPr>
              <a:t>Healths</a:t>
            </a:r>
            <a:endParaRPr sz="2250">
              <a:latin typeface="Times New Roman"/>
              <a:cs typeface="Times New Roman"/>
            </a:endParaRPr>
          </a:p>
          <a:p>
            <a:pPr marL="506730">
              <a:lnSpc>
                <a:spcPct val="100000"/>
              </a:lnSpc>
              <a:spcBef>
                <a:spcPts val="1000"/>
              </a:spcBef>
            </a:pPr>
            <a:r>
              <a:rPr dirty="0" sz="2350">
                <a:latin typeface="Times New Roman"/>
                <a:cs typeface="Times New Roman"/>
              </a:rPr>
              <a:t>Fig.</a:t>
            </a:r>
            <a:r>
              <a:rPr dirty="0" sz="2350" spc="-1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3</a:t>
            </a:r>
            <a:r>
              <a:rPr dirty="0" sz="2350" spc="-25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Visual</a:t>
            </a:r>
            <a:r>
              <a:rPr dirty="0" sz="2350" spc="-3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samples</a:t>
            </a:r>
            <a:r>
              <a:rPr dirty="0" sz="2350" spc="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maize</a:t>
            </a:r>
            <a:r>
              <a:rPr dirty="0" sz="2350" spc="4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leaf</a:t>
            </a:r>
            <a:r>
              <a:rPr dirty="0" sz="2350" spc="-60">
                <a:latin typeface="Times New Roman"/>
                <a:cs typeface="Times New Roman"/>
              </a:rPr>
              <a:t> </a:t>
            </a:r>
            <a:r>
              <a:rPr dirty="0" sz="2350" spc="-25">
                <a:latin typeface="Times New Roman"/>
                <a:cs typeface="Times New Roman"/>
              </a:rPr>
              <a:t>categories</a:t>
            </a:r>
            <a:r>
              <a:rPr dirty="0" sz="2350" spc="15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from</a:t>
            </a:r>
            <a:r>
              <a:rPr dirty="0" sz="2350" spc="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the</a:t>
            </a:r>
            <a:r>
              <a:rPr dirty="0" sz="2350" spc="-14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first</a:t>
            </a:r>
            <a:r>
              <a:rPr dirty="0" sz="2350" spc="-11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dataset.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04938" y="4751489"/>
            <a:ext cx="6091555" cy="793750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6510" marR="5080" indent="-4445">
              <a:lnSpc>
                <a:spcPct val="101299"/>
              </a:lnSpc>
              <a:spcBef>
                <a:spcPts val="65"/>
              </a:spcBef>
              <a:tabLst>
                <a:tab pos="864869" algn="l"/>
              </a:tabLst>
            </a:pPr>
            <a:r>
              <a:rPr dirty="0" sz="2500" spc="-25">
                <a:latin typeface="Calibri"/>
                <a:cs typeface="Calibri"/>
              </a:rPr>
              <a:t>II.</a:t>
            </a:r>
            <a:r>
              <a:rPr dirty="0" sz="2500">
                <a:latin typeface="Calibri"/>
                <a:cs typeface="Calibri"/>
              </a:rPr>
              <a:t>	Kaggle</a:t>
            </a:r>
            <a:r>
              <a:rPr dirty="0" sz="2500" spc="3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Leaf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Disease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Dataset</a:t>
            </a:r>
            <a:r>
              <a:rPr dirty="0" sz="2500" spc="60">
                <a:latin typeface="Calibri"/>
                <a:cs typeface="Calibri"/>
              </a:rPr>
              <a:t> </a:t>
            </a:r>
            <a:r>
              <a:rPr dirty="0" sz="2500" spc="85">
                <a:latin typeface="Calibri"/>
                <a:cs typeface="Calibri"/>
              </a:rPr>
              <a:t>2</a:t>
            </a:r>
            <a:r>
              <a:rPr dirty="0" sz="2500" spc="-160">
                <a:latin typeface="Calibri"/>
                <a:cs typeface="Calibri"/>
              </a:rPr>
              <a:t> </a:t>
            </a:r>
            <a:r>
              <a:rPr dirty="0" sz="2500" spc="-20">
                <a:latin typeface="Calibri"/>
                <a:cs typeface="Calibri"/>
              </a:rPr>
              <a:t>|10] </a:t>
            </a:r>
            <a:r>
              <a:rPr dirty="0" sz="2500">
                <a:latin typeface="Calibri"/>
                <a:cs typeface="Calibri"/>
              </a:rPr>
              <a:t>Total</a:t>
            </a:r>
            <a:r>
              <a:rPr dirty="0" sz="2500" spc="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images:</a:t>
            </a:r>
            <a:r>
              <a:rPr dirty="0" sz="2500" spc="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B852,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categorized</a:t>
            </a:r>
            <a:r>
              <a:rPr dirty="0" sz="2500" spc="18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into</a:t>
            </a:r>
            <a:r>
              <a:rPr dirty="0" sz="2500" spc="20">
                <a:latin typeface="Calibri"/>
                <a:cs typeface="Calibri"/>
              </a:rPr>
              <a:t> </a:t>
            </a:r>
            <a:r>
              <a:rPr dirty="0" sz="2500" spc="110">
                <a:latin typeface="Calibri"/>
                <a:cs typeface="Calibri"/>
              </a:rPr>
              <a:t>5</a:t>
            </a:r>
            <a:r>
              <a:rPr dirty="0" sz="2500" spc="-9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classes:</a:t>
            </a:r>
            <a:endParaRPr sz="25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6285" y="5323775"/>
            <a:ext cx="2018451" cy="2082867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30527" y="5311713"/>
            <a:ext cx="1897827" cy="208286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750020" y="5472552"/>
            <a:ext cx="1929993" cy="192202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045907" y="5311713"/>
            <a:ext cx="1966180" cy="20386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377984" y="5331817"/>
            <a:ext cx="1833493" cy="1966258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44372" y="7483041"/>
            <a:ext cx="18913937" cy="3425873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770693" y="5533123"/>
            <a:ext cx="6132195" cy="195453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5445" indent="-372745">
              <a:lnSpc>
                <a:spcPct val="100000"/>
              </a:lnSpc>
              <a:spcBef>
                <a:spcPts val="110"/>
              </a:spcBef>
              <a:buChar char="•"/>
              <a:tabLst>
                <a:tab pos="385445" algn="l"/>
              </a:tabLst>
            </a:pPr>
            <a:r>
              <a:rPr dirty="0" sz="2450" spc="55">
                <a:latin typeface="Calibri"/>
                <a:cs typeface="Calibri"/>
              </a:rPr>
              <a:t>Common</a:t>
            </a:r>
            <a:r>
              <a:rPr dirty="0" sz="2450" spc="165">
                <a:latin typeface="Calibri"/>
                <a:cs typeface="Calibri"/>
              </a:rPr>
              <a:t> </a:t>
            </a:r>
            <a:r>
              <a:rPr dirty="0" sz="2450" spc="50">
                <a:latin typeface="Calibri"/>
                <a:cs typeface="Calibri"/>
              </a:rPr>
              <a:t>Rust</a:t>
            </a:r>
            <a:r>
              <a:rPr dirty="0" sz="2450" spc="200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(Class</a:t>
            </a:r>
            <a:r>
              <a:rPr dirty="0" sz="2450" spc="195">
                <a:latin typeface="Calibri"/>
                <a:cs typeface="Calibri"/>
              </a:rPr>
              <a:t> </a:t>
            </a:r>
            <a:r>
              <a:rPr dirty="0" sz="2450" spc="70">
                <a:latin typeface="Calibri"/>
                <a:cs typeface="Calibri"/>
              </a:rPr>
              <a:t>0):</a:t>
            </a:r>
            <a:r>
              <a:rPr dirty="0" sz="2450" spc="-25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1907</a:t>
            </a:r>
            <a:r>
              <a:rPr dirty="0" sz="2450" spc="260">
                <a:latin typeface="Calibri"/>
                <a:cs typeface="Calibri"/>
              </a:rPr>
              <a:t> </a:t>
            </a:r>
            <a:r>
              <a:rPr dirty="0" sz="2450" spc="-10">
                <a:latin typeface="Calibri"/>
                <a:cs typeface="Calibri"/>
              </a:rPr>
              <a:t>images</a:t>
            </a:r>
            <a:endParaRPr sz="2450">
              <a:latin typeface="Calibri"/>
              <a:cs typeface="Calibri"/>
            </a:endParaRPr>
          </a:p>
          <a:p>
            <a:pPr marL="386080" indent="-373380">
              <a:lnSpc>
                <a:spcPct val="100000"/>
              </a:lnSpc>
              <a:spcBef>
                <a:spcPts val="130"/>
              </a:spcBef>
              <a:buChar char="•"/>
              <a:tabLst>
                <a:tab pos="386080" algn="l"/>
              </a:tabLst>
            </a:pPr>
            <a:r>
              <a:rPr dirty="0" sz="2450">
                <a:latin typeface="Calibri"/>
                <a:cs typeface="Calibri"/>
              </a:rPr>
              <a:t>Gray</a:t>
            </a:r>
            <a:r>
              <a:rPr dirty="0" sz="2450" spc="165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Leaf</a:t>
            </a:r>
            <a:r>
              <a:rPr dirty="0" sz="2450" spc="150">
                <a:latin typeface="Calibri"/>
                <a:cs typeface="Calibri"/>
              </a:rPr>
              <a:t> </a:t>
            </a:r>
            <a:r>
              <a:rPr dirty="0" sz="2450" spc="60">
                <a:latin typeface="Calibri"/>
                <a:cs typeface="Calibri"/>
              </a:rPr>
              <a:t>Spot</a:t>
            </a:r>
            <a:r>
              <a:rPr dirty="0" sz="2450" spc="170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(Class</a:t>
            </a:r>
            <a:r>
              <a:rPr dirty="0" sz="2450" spc="130">
                <a:latin typeface="Calibri"/>
                <a:cs typeface="Calibri"/>
              </a:rPr>
              <a:t> </a:t>
            </a:r>
            <a:r>
              <a:rPr dirty="0" sz="2450" spc="85">
                <a:latin typeface="Calibri"/>
                <a:cs typeface="Calibri"/>
              </a:rPr>
              <a:t>1):</a:t>
            </a:r>
            <a:r>
              <a:rPr dirty="0" sz="2450" spc="-10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1642</a:t>
            </a:r>
            <a:r>
              <a:rPr dirty="0" sz="2450" spc="295">
                <a:latin typeface="Calibri"/>
                <a:cs typeface="Calibri"/>
              </a:rPr>
              <a:t> </a:t>
            </a:r>
            <a:r>
              <a:rPr dirty="0" sz="2450" spc="-10">
                <a:latin typeface="Calibri"/>
                <a:cs typeface="Calibri"/>
              </a:rPr>
              <a:t>images</a:t>
            </a:r>
            <a:endParaRPr sz="245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spcBef>
                <a:spcPts val="100"/>
              </a:spcBef>
              <a:buChar char="•"/>
              <a:tabLst>
                <a:tab pos="381635" algn="l"/>
              </a:tabLst>
            </a:pPr>
            <a:r>
              <a:rPr dirty="0" sz="2450" spc="50">
                <a:latin typeface="Calibri"/>
                <a:cs typeface="Calibri"/>
              </a:rPr>
              <a:t>Healthy</a:t>
            </a:r>
            <a:r>
              <a:rPr dirty="0" sz="2450" spc="114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(Class</a:t>
            </a:r>
            <a:r>
              <a:rPr dirty="0" sz="2450" spc="145">
                <a:latin typeface="Calibri"/>
                <a:cs typeface="Calibri"/>
              </a:rPr>
              <a:t> </a:t>
            </a:r>
            <a:r>
              <a:rPr dirty="0" sz="2450" spc="70">
                <a:latin typeface="Calibri"/>
                <a:cs typeface="Calibri"/>
              </a:rPr>
              <a:t>2):</a:t>
            </a:r>
            <a:r>
              <a:rPr dirty="0" sz="2450" spc="55">
                <a:latin typeface="Calibri"/>
                <a:cs typeface="Calibri"/>
              </a:rPr>
              <a:t> </a:t>
            </a:r>
            <a:r>
              <a:rPr dirty="0" sz="2450">
                <a:latin typeface="Calibri"/>
                <a:cs typeface="Calibri"/>
              </a:rPr>
              <a:t>1,859</a:t>
            </a:r>
            <a:r>
              <a:rPr dirty="0" sz="2450" spc="300">
                <a:latin typeface="Calibri"/>
                <a:cs typeface="Calibri"/>
              </a:rPr>
              <a:t> </a:t>
            </a:r>
            <a:r>
              <a:rPr dirty="0" sz="2450" spc="-10">
                <a:latin typeface="Calibri"/>
                <a:cs typeface="Calibri"/>
              </a:rPr>
              <a:t>images</a:t>
            </a:r>
            <a:endParaRPr sz="245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spcBef>
                <a:spcPts val="85"/>
              </a:spcBef>
              <a:buChar char="•"/>
              <a:tabLst>
                <a:tab pos="381635" algn="l"/>
              </a:tabLst>
            </a:pPr>
            <a:r>
              <a:rPr dirty="0" sz="2500">
                <a:latin typeface="Calibri"/>
                <a:cs typeface="Calibri"/>
              </a:rPr>
              <a:t>Northern</a:t>
            </a:r>
            <a:r>
              <a:rPr dirty="0" sz="2500" spc="29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Leaf</a:t>
            </a:r>
            <a:r>
              <a:rPr dirty="0" sz="2500" spc="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Blight</a:t>
            </a:r>
            <a:r>
              <a:rPr dirty="0" sz="2500" spc="204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(Class</a:t>
            </a:r>
            <a:r>
              <a:rPr dirty="0" sz="2500" spc="229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3):</a:t>
            </a:r>
            <a:r>
              <a:rPr dirty="0" sz="2500" spc="5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1908</a:t>
            </a:r>
            <a:r>
              <a:rPr dirty="0" sz="2500" spc="28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images</a:t>
            </a:r>
            <a:endParaRPr sz="2500">
              <a:latin typeface="Calibri"/>
              <a:cs typeface="Calibri"/>
            </a:endParaRPr>
          </a:p>
          <a:p>
            <a:pPr marL="381635" indent="-368935">
              <a:lnSpc>
                <a:spcPct val="100000"/>
              </a:lnSpc>
              <a:spcBef>
                <a:spcPts val="35"/>
              </a:spcBef>
              <a:buChar char="•"/>
              <a:tabLst>
                <a:tab pos="381635" algn="l"/>
              </a:tabLst>
            </a:pPr>
            <a:r>
              <a:rPr dirty="0" sz="2500">
                <a:latin typeface="Calibri"/>
                <a:cs typeface="Calibri"/>
              </a:rPr>
              <a:t>Non-Maize</a:t>
            </a:r>
            <a:r>
              <a:rPr dirty="0" sz="2500" spc="31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Leaf</a:t>
            </a:r>
            <a:r>
              <a:rPr dirty="0" sz="2500" spc="16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(Class</a:t>
            </a:r>
            <a:r>
              <a:rPr dirty="0" sz="2500" spc="14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4):</a:t>
            </a:r>
            <a:r>
              <a:rPr dirty="0" sz="2500" spc="-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1536</a:t>
            </a:r>
            <a:r>
              <a:rPr dirty="0" sz="2500" spc="28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images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478230" y="7254385"/>
            <a:ext cx="10574020" cy="1017905"/>
          </a:xfrm>
          <a:prstGeom prst="rect">
            <a:avLst/>
          </a:prstGeom>
        </p:spPr>
        <p:txBody>
          <a:bodyPr wrap="square" lIns="0" tIns="1631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85"/>
              </a:spcBef>
              <a:tabLst>
                <a:tab pos="2280285" algn="l"/>
                <a:tab pos="4870450" algn="l"/>
                <a:tab pos="6550659" algn="l"/>
                <a:tab pos="9095740" algn="l"/>
              </a:tabLst>
            </a:pPr>
            <a:r>
              <a:rPr dirty="0" sz="1950" spc="-80">
                <a:solidFill>
                  <a:srgbClr val="131313"/>
                </a:solidFill>
                <a:latin typeface="Times New Roman"/>
                <a:cs typeface="Times New Roman"/>
              </a:rPr>
              <a:t>Common</a:t>
            </a:r>
            <a:r>
              <a:rPr dirty="0" sz="1950" spc="-40">
                <a:solidFill>
                  <a:srgbClr val="131313"/>
                </a:solidFill>
                <a:latin typeface="Times New Roman"/>
                <a:cs typeface="Times New Roman"/>
              </a:rPr>
              <a:t> </a:t>
            </a:r>
            <a:r>
              <a:rPr dirty="0" sz="1950" spc="-20">
                <a:latin typeface="Times New Roman"/>
                <a:cs typeface="Times New Roman"/>
              </a:rPr>
              <a:t>Rust</a:t>
            </a:r>
            <a:r>
              <a:rPr dirty="0" sz="1950">
                <a:latin typeface="Times New Roman"/>
                <a:cs typeface="Times New Roman"/>
              </a:rPr>
              <a:t>	</a:t>
            </a:r>
            <a:r>
              <a:rPr dirty="0" sz="1950" spc="-95">
                <a:solidFill>
                  <a:srgbClr val="161616"/>
                </a:solidFill>
                <a:latin typeface="Times New Roman"/>
                <a:cs typeface="Times New Roman"/>
              </a:rPr>
              <a:t>Grey</a:t>
            </a:r>
            <a:r>
              <a:rPr dirty="0" sz="1950" spc="-30">
                <a:solidFill>
                  <a:srgbClr val="161616"/>
                </a:solidFill>
                <a:latin typeface="Times New Roman"/>
                <a:cs typeface="Times New Roman"/>
              </a:rPr>
              <a:t> </a:t>
            </a:r>
            <a:r>
              <a:rPr dirty="0" sz="1950" spc="-55">
                <a:latin typeface="Times New Roman"/>
                <a:cs typeface="Times New Roman"/>
              </a:rPr>
              <a:t>Leaf</a:t>
            </a:r>
            <a:r>
              <a:rPr dirty="0" sz="1950" spc="-20">
                <a:latin typeface="Times New Roman"/>
                <a:cs typeface="Times New Roman"/>
              </a:rPr>
              <a:t> </a:t>
            </a:r>
            <a:r>
              <a:rPr dirty="0" sz="1950" spc="-20">
                <a:solidFill>
                  <a:srgbClr val="2F2F2F"/>
                </a:solidFill>
                <a:latin typeface="Times New Roman"/>
                <a:cs typeface="Times New Roman"/>
              </a:rPr>
              <a:t>Spot</a:t>
            </a:r>
            <a:r>
              <a:rPr dirty="0" sz="1950">
                <a:solidFill>
                  <a:srgbClr val="2F2F2F"/>
                </a:solidFill>
                <a:latin typeface="Times New Roman"/>
                <a:cs typeface="Times New Roman"/>
              </a:rPr>
              <a:t>	</a:t>
            </a:r>
            <a:r>
              <a:rPr dirty="0" sz="2000" spc="-10">
                <a:solidFill>
                  <a:srgbClr val="242424"/>
                </a:solidFill>
                <a:latin typeface="Times New Roman"/>
                <a:cs typeface="Times New Roman"/>
              </a:rPr>
              <a:t>Healthy</a:t>
            </a:r>
            <a:r>
              <a:rPr dirty="0" sz="2000">
                <a:solidFill>
                  <a:srgbClr val="242424"/>
                </a:solidFill>
                <a:latin typeface="Times New Roman"/>
                <a:cs typeface="Times New Roman"/>
              </a:rPr>
              <a:t>	</a:t>
            </a:r>
            <a:r>
              <a:rPr dirty="0" sz="2000" spc="-80">
                <a:latin typeface="Times New Roman"/>
                <a:cs typeface="Times New Roman"/>
              </a:rPr>
              <a:t>Northern</a:t>
            </a:r>
            <a:r>
              <a:rPr dirty="0" sz="2000" spc="-25">
                <a:latin typeface="Times New Roman"/>
                <a:cs typeface="Times New Roman"/>
              </a:rPr>
              <a:t> </a:t>
            </a:r>
            <a:r>
              <a:rPr dirty="0" sz="2000" spc="-100">
                <a:solidFill>
                  <a:srgbClr val="1C1C1C"/>
                </a:solidFill>
                <a:latin typeface="Times New Roman"/>
                <a:cs typeface="Times New Roman"/>
              </a:rPr>
              <a:t>Leaf</a:t>
            </a:r>
            <a:r>
              <a:rPr dirty="0" sz="2000" spc="-25">
                <a:solidFill>
                  <a:srgbClr val="1C1C1C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Blight</a:t>
            </a: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spc="-100">
                <a:latin typeface="Times New Roman"/>
                <a:cs typeface="Times New Roman"/>
              </a:rPr>
              <a:t>Not</a:t>
            </a:r>
            <a:r>
              <a:rPr dirty="0" sz="2000" spc="-50">
                <a:latin typeface="Times New Roman"/>
                <a:cs typeface="Times New Roman"/>
              </a:rPr>
              <a:t> </a:t>
            </a:r>
            <a:r>
              <a:rPr dirty="0" sz="2000" spc="-85">
                <a:solidFill>
                  <a:srgbClr val="151515"/>
                </a:solidFill>
                <a:latin typeface="Times New Roman"/>
                <a:cs typeface="Times New Roman"/>
              </a:rPr>
              <a:t>Maize </a:t>
            </a:r>
            <a:r>
              <a:rPr dirty="0" sz="2000" spc="-60">
                <a:latin typeface="Times New Roman"/>
                <a:cs typeface="Times New Roman"/>
              </a:rPr>
              <a:t>Leaf</a:t>
            </a:r>
            <a:endParaRPr sz="2000">
              <a:latin typeface="Times New Roman"/>
              <a:cs typeface="Times New Roman"/>
            </a:endParaRPr>
          </a:p>
          <a:p>
            <a:pPr marL="1162685">
              <a:lnSpc>
                <a:spcPct val="100000"/>
              </a:lnSpc>
              <a:spcBef>
                <a:spcPts val="1400"/>
              </a:spcBef>
            </a:pPr>
            <a:r>
              <a:rPr dirty="0" sz="2350">
                <a:latin typeface="Times New Roman"/>
                <a:cs typeface="Times New Roman"/>
              </a:rPr>
              <a:t>Fig.</a:t>
            </a:r>
            <a:r>
              <a:rPr dirty="0" sz="2350" spc="-13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4</a:t>
            </a:r>
            <a:r>
              <a:rPr dirty="0" sz="2350" spc="-14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Visual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samples</a:t>
            </a:r>
            <a:r>
              <a:rPr dirty="0" sz="2350" spc="-1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5">
                <a:latin typeface="Times New Roman"/>
                <a:cs typeface="Times New Roman"/>
              </a:rPr>
              <a:t> </a:t>
            </a:r>
            <a:r>
              <a:rPr dirty="0" sz="2350" spc="-25">
                <a:latin typeface="Times New Roman"/>
                <a:cs typeface="Times New Roman"/>
              </a:rPr>
              <a:t>maize</a:t>
            </a:r>
            <a:r>
              <a:rPr dirty="0" sz="2350" spc="14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leaf</a:t>
            </a:r>
            <a:r>
              <a:rPr dirty="0" sz="2350" spc="-45">
                <a:latin typeface="Times New Roman"/>
                <a:cs typeface="Times New Roman"/>
              </a:rPr>
              <a:t> </a:t>
            </a:r>
            <a:r>
              <a:rPr dirty="0" sz="2350" spc="-25">
                <a:latin typeface="Times New Roman"/>
                <a:cs typeface="Times New Roman"/>
              </a:rPr>
              <a:t>categories</a:t>
            </a:r>
            <a:r>
              <a:rPr dirty="0" sz="2350" spc="1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from</a:t>
            </a:r>
            <a:r>
              <a:rPr dirty="0" sz="2350" spc="-20">
                <a:latin typeface="Times New Roman"/>
                <a:cs typeface="Times New Roman"/>
              </a:rPr>
              <a:t> </a:t>
            </a:r>
            <a:r>
              <a:rPr dirty="0" sz="2350" spc="-40">
                <a:latin typeface="Times New Roman"/>
                <a:cs typeface="Times New Roman"/>
              </a:rPr>
              <a:t>the</a:t>
            </a:r>
            <a:r>
              <a:rPr dirty="0" sz="2350" spc="-105">
                <a:latin typeface="Times New Roman"/>
                <a:cs typeface="Times New Roman"/>
              </a:rPr>
              <a:t> </a:t>
            </a:r>
            <a:r>
              <a:rPr dirty="0" sz="2350" spc="-90">
                <a:latin typeface="Times New Roman"/>
                <a:cs typeface="Times New Roman"/>
              </a:rPr>
              <a:t>.second</a:t>
            </a:r>
            <a:r>
              <a:rPr dirty="0" sz="2350" spc="16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dataset.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8718" y="7850100"/>
            <a:ext cx="7485380" cy="1194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100">
                <a:latin typeface="Calibri"/>
                <a:cs typeface="Calibri"/>
              </a:rPr>
              <a:t>*”</a:t>
            </a:r>
            <a:r>
              <a:rPr dirty="0" sz="2550" spc="180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Dataset</a:t>
            </a:r>
            <a:r>
              <a:rPr dirty="0" sz="2550" spc="3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split</a:t>
            </a:r>
            <a:r>
              <a:rPr dirty="0" sz="2550" spc="10">
                <a:latin typeface="Calibri"/>
                <a:cs typeface="Calibri"/>
              </a:rPr>
              <a:t> </a:t>
            </a:r>
            <a:r>
              <a:rPr dirty="0" sz="2550" spc="-35">
                <a:latin typeface="Calibri"/>
                <a:cs typeface="Calibri"/>
              </a:rPr>
              <a:t>-</a:t>
            </a:r>
            <a:r>
              <a:rPr dirty="0" sz="2550">
                <a:latin typeface="Calibri"/>
                <a:cs typeface="Calibri"/>
              </a:rPr>
              <a:t>&gt;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 spc="-20">
                <a:latin typeface="Calibri"/>
                <a:cs typeface="Calibri"/>
              </a:rPr>
              <a:t>Train:</a:t>
            </a:r>
            <a:r>
              <a:rPr dirty="0" sz="2550" spc="-8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B0%,</a:t>
            </a:r>
            <a:r>
              <a:rPr dirty="0" sz="2550" spc="-3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Validation:</a:t>
            </a:r>
            <a:r>
              <a:rPr dirty="0" sz="2550" spc="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10%,</a:t>
            </a:r>
            <a:r>
              <a:rPr dirty="0" sz="2550" spc="-20">
                <a:latin typeface="Calibri"/>
                <a:cs typeface="Calibri"/>
              </a:rPr>
              <a:t> </a:t>
            </a:r>
            <a:r>
              <a:rPr dirty="0" sz="2550" spc="-30">
                <a:latin typeface="Calibri"/>
                <a:cs typeface="Calibri"/>
              </a:rPr>
              <a:t>Test:</a:t>
            </a:r>
            <a:r>
              <a:rPr dirty="0" sz="2550" spc="-114">
                <a:latin typeface="Calibri"/>
                <a:cs typeface="Calibri"/>
              </a:rPr>
              <a:t> </a:t>
            </a:r>
            <a:r>
              <a:rPr dirty="0" sz="2550" spc="-25">
                <a:latin typeface="Calibri"/>
                <a:cs typeface="Calibri"/>
              </a:rPr>
              <a:t>10%</a:t>
            </a:r>
            <a:endParaRPr sz="25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2500" spc="-40">
                <a:latin typeface="Calibri"/>
                <a:cs typeface="Calibri"/>
              </a:rPr>
              <a:t>*"</a:t>
            </a:r>
            <a:r>
              <a:rPr dirty="0" sz="2500" spc="26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Images</a:t>
            </a:r>
            <a:r>
              <a:rPr dirty="0" sz="2500" spc="3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resized</a:t>
            </a:r>
            <a:r>
              <a:rPr dirty="0" sz="2500" spc="12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to</a:t>
            </a:r>
            <a:r>
              <a:rPr dirty="0" sz="2500" spc="-140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224</a:t>
            </a:r>
            <a:r>
              <a:rPr dirty="0" sz="2500" spc="10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x</a:t>
            </a:r>
            <a:r>
              <a:rPr dirty="0" sz="2500" spc="7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224</a:t>
            </a:r>
            <a:r>
              <a:rPr dirty="0" sz="2500" spc="50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pixels</a:t>
            </a:r>
            <a:endParaRPr sz="25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20"/>
              </a:spcBef>
            </a:pPr>
            <a:r>
              <a:rPr dirty="0" sz="2550" spc="-125">
                <a:latin typeface="Calibri"/>
                <a:cs typeface="Calibri"/>
              </a:rPr>
              <a:t>'*’</a:t>
            </a:r>
            <a:r>
              <a:rPr dirty="0" sz="2550" spc="4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Pixel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values</a:t>
            </a:r>
            <a:r>
              <a:rPr dirty="0" sz="2550" spc="-95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scaled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to</a:t>
            </a:r>
            <a:r>
              <a:rPr dirty="0" sz="2550" spc="-14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[0,1]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1370" y="9010599"/>
            <a:ext cx="8851900" cy="120396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algn="just" marL="353060" marR="5080" indent="-340995">
              <a:lnSpc>
                <a:spcPct val="94200"/>
              </a:lnSpc>
              <a:spcBef>
                <a:spcPts val="275"/>
              </a:spcBef>
            </a:pPr>
            <a:r>
              <a:rPr dirty="0" sz="2600" spc="-130">
                <a:latin typeface="Calibri"/>
                <a:cs typeface="Calibri"/>
              </a:rPr>
              <a:t>'*’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Data</a:t>
            </a:r>
            <a:r>
              <a:rPr dirty="0" sz="2600" spc="5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augmentation</a:t>
            </a:r>
            <a:r>
              <a:rPr dirty="0" sz="2600" spc="14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(training</a:t>
            </a:r>
            <a:r>
              <a:rPr dirty="0" sz="2600" spc="90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set</a:t>
            </a:r>
            <a:r>
              <a:rPr dirty="0" sz="2600" spc="8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only)</a:t>
            </a:r>
            <a:r>
              <a:rPr dirty="0" sz="2600" spc="70">
                <a:latin typeface="Calibri"/>
                <a:cs typeface="Calibri"/>
              </a:rPr>
              <a:t>  </a:t>
            </a:r>
            <a:r>
              <a:rPr dirty="0" sz="2600" spc="-4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35">
                <a:latin typeface="Calibri"/>
                <a:cs typeface="Calibri"/>
              </a:rPr>
              <a:t>  </a:t>
            </a:r>
            <a:r>
              <a:rPr dirty="0" sz="2600">
                <a:latin typeface="Calibri"/>
                <a:cs typeface="Calibri"/>
              </a:rPr>
              <a:t>Random</a:t>
            </a:r>
            <a:r>
              <a:rPr dirty="0" sz="2600" spc="75">
                <a:latin typeface="Calibri"/>
                <a:cs typeface="Calibri"/>
              </a:rPr>
              <a:t>  </a:t>
            </a:r>
            <a:r>
              <a:rPr dirty="0" sz="2600" spc="-10">
                <a:latin typeface="Calibri"/>
                <a:cs typeface="Calibri"/>
              </a:rPr>
              <a:t>rotation </a:t>
            </a:r>
            <a:r>
              <a:rPr dirty="0" sz="2600">
                <a:latin typeface="Calibri"/>
                <a:cs typeface="Calibri"/>
              </a:rPr>
              <a:t>(13o°),</a:t>
            </a:r>
            <a:r>
              <a:rPr dirty="0" sz="2600" spc="21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Horizontal</a:t>
            </a:r>
            <a:r>
              <a:rPr dirty="0" sz="2600" spc="19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and</a:t>
            </a:r>
            <a:r>
              <a:rPr dirty="0" sz="2600" spc="1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vertical</a:t>
            </a:r>
            <a:r>
              <a:rPr dirty="0" sz="2600" spc="1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flipping,</a:t>
            </a:r>
            <a:r>
              <a:rPr dirty="0" sz="2600" spc="2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Brightness</a:t>
            </a:r>
            <a:r>
              <a:rPr dirty="0" sz="2600" spc="26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adjustment </a:t>
            </a:r>
            <a:r>
              <a:rPr dirty="0" sz="2850" spc="-120">
                <a:latin typeface="Calibri"/>
                <a:cs typeface="Calibri"/>
              </a:rPr>
              <a:t>(o.g</a:t>
            </a:r>
            <a:r>
              <a:rPr dirty="0" sz="2850" spc="-70">
                <a:latin typeface="Calibri"/>
                <a:cs typeface="Calibri"/>
              </a:rPr>
              <a:t> </a:t>
            </a:r>
            <a:r>
              <a:rPr dirty="0" sz="2850" spc="-1135">
                <a:latin typeface="Calibri"/>
                <a:cs typeface="Calibri"/>
              </a:rPr>
              <a:t>—</a:t>
            </a:r>
            <a:r>
              <a:rPr dirty="0" sz="2850" spc="45">
                <a:latin typeface="Calibri"/>
                <a:cs typeface="Calibri"/>
              </a:rPr>
              <a:t> </a:t>
            </a:r>
            <a:r>
              <a:rPr dirty="0" sz="2850">
                <a:latin typeface="Calibri"/>
                <a:cs typeface="Calibri"/>
              </a:rPr>
              <a:t>z.z),</a:t>
            </a:r>
            <a:r>
              <a:rPr dirty="0" sz="2850" spc="-150">
                <a:latin typeface="Calibri"/>
                <a:cs typeface="Calibri"/>
              </a:rPr>
              <a:t> </a:t>
            </a:r>
            <a:r>
              <a:rPr dirty="0" sz="2850" spc="-95">
                <a:latin typeface="Calibri"/>
                <a:cs typeface="Calibri"/>
              </a:rPr>
              <a:t>zooming</a:t>
            </a:r>
            <a:r>
              <a:rPr dirty="0" sz="2850" spc="90">
                <a:latin typeface="Calibri"/>
                <a:cs typeface="Calibri"/>
              </a:rPr>
              <a:t> </a:t>
            </a:r>
            <a:r>
              <a:rPr dirty="0" sz="2850" spc="-110">
                <a:latin typeface="Calibri"/>
                <a:cs typeface="Calibri"/>
              </a:rPr>
              <a:t>(up</a:t>
            </a:r>
            <a:r>
              <a:rPr dirty="0" sz="2850" spc="-75">
                <a:latin typeface="Calibri"/>
                <a:cs typeface="Calibri"/>
              </a:rPr>
              <a:t> </a:t>
            </a:r>
            <a:r>
              <a:rPr dirty="0" sz="2850" spc="-120">
                <a:latin typeface="Calibri"/>
                <a:cs typeface="Calibri"/>
              </a:rPr>
              <a:t>to</a:t>
            </a:r>
            <a:r>
              <a:rPr dirty="0" sz="2850" spc="-125">
                <a:latin typeface="Calibri"/>
                <a:cs typeface="Calibri"/>
              </a:rPr>
              <a:t> </a:t>
            </a:r>
            <a:r>
              <a:rPr dirty="0" sz="2850" spc="-20">
                <a:latin typeface="Calibri"/>
                <a:cs typeface="Calibri"/>
              </a:rPr>
              <a:t>20%)</a:t>
            </a:r>
            <a:endParaRPr sz="2850">
              <a:latin typeface="Calibri"/>
              <a:cs typeface="Calibri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25829" y="575000"/>
            <a:ext cx="17643358" cy="9690559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14132" rIns="0" bIns="0" rtlCol="0" vert="horz">
            <a:spAutoFit/>
          </a:bodyPr>
          <a:lstStyle/>
          <a:p>
            <a:pPr marL="1689100">
              <a:lnSpc>
                <a:spcPct val="100000"/>
              </a:lnSpc>
              <a:spcBef>
                <a:spcPts val="865"/>
              </a:spcBef>
            </a:pPr>
            <a:r>
              <a:rPr dirty="0" sz="5950" spc="-60">
                <a:latin typeface="Arial"/>
                <a:cs typeface="Arial"/>
              </a:rPr>
              <a:t>Result</a:t>
            </a:r>
            <a:r>
              <a:rPr dirty="0" sz="5950" spc="-130">
                <a:latin typeface="Arial"/>
                <a:cs typeface="Arial"/>
              </a:rPr>
              <a:t> </a:t>
            </a:r>
            <a:r>
              <a:rPr dirty="0" sz="5950" spc="-85">
                <a:latin typeface="Arial"/>
                <a:cs typeface="Arial"/>
              </a:rPr>
              <a:t>Analysis</a:t>
            </a:r>
            <a:r>
              <a:rPr dirty="0" sz="5950" spc="-260">
                <a:latin typeface="Arial"/>
                <a:cs typeface="Arial"/>
              </a:rPr>
              <a:t> </a:t>
            </a:r>
            <a:r>
              <a:rPr dirty="0" sz="5950">
                <a:latin typeface="Arial"/>
                <a:cs typeface="Arial"/>
              </a:rPr>
              <a:t>and</a:t>
            </a:r>
            <a:r>
              <a:rPr dirty="0" sz="5950" spc="-415">
                <a:latin typeface="Arial"/>
                <a:cs typeface="Arial"/>
              </a:rPr>
              <a:t> </a:t>
            </a:r>
            <a:r>
              <a:rPr dirty="0" sz="5950">
                <a:latin typeface="Arial"/>
                <a:cs typeface="Arial"/>
              </a:rPr>
              <a:t>D</a:t>
            </a:r>
            <a:r>
              <a:rPr dirty="0" sz="5950">
                <a:latin typeface="Arial"/>
                <a:cs typeface="Arial"/>
              </a:rPr>
              <a:t>iscussion</a:t>
            </a:r>
            <a:r>
              <a:rPr dirty="0" sz="5950" spc="509">
                <a:latin typeface="Arial"/>
                <a:cs typeface="Arial"/>
              </a:rPr>
              <a:t> </a:t>
            </a:r>
            <a:r>
              <a:rPr dirty="0" sz="5950" spc="-10">
                <a:latin typeface="Arial"/>
                <a:cs typeface="Arial"/>
              </a:rPr>
              <a:t>cont.</a:t>
            </a:r>
            <a:endParaRPr sz="5950">
              <a:latin typeface="Arial"/>
              <a:cs typeface="Arial"/>
            </a:endParaRPr>
          </a:p>
          <a:p>
            <a:pPr marL="11430">
              <a:lnSpc>
                <a:spcPct val="100000"/>
              </a:lnSpc>
              <a:spcBef>
                <a:spcPts val="415"/>
              </a:spcBef>
            </a:pPr>
            <a:r>
              <a:rPr dirty="0" sz="3050" spc="-10"/>
              <a:t>Kaggle</a:t>
            </a:r>
            <a:r>
              <a:rPr dirty="0" sz="3050" spc="-150"/>
              <a:t> </a:t>
            </a:r>
            <a:r>
              <a:rPr dirty="0" sz="3050" spc="-10"/>
              <a:t>Leaf</a:t>
            </a:r>
            <a:r>
              <a:rPr dirty="0" sz="3050" spc="-170"/>
              <a:t> </a:t>
            </a:r>
            <a:r>
              <a:rPr dirty="0" sz="3050"/>
              <a:t>Disease</a:t>
            </a:r>
            <a:r>
              <a:rPr dirty="0" sz="3050" spc="100"/>
              <a:t> </a:t>
            </a:r>
            <a:r>
              <a:rPr dirty="0" baseline="1821" sz="4575" spc="-15"/>
              <a:t>D</a:t>
            </a:r>
            <a:r>
              <a:rPr dirty="0" sz="3050" spc="-10"/>
              <a:t>ataset</a:t>
            </a:r>
            <a:r>
              <a:rPr dirty="0" sz="3050" spc="-145"/>
              <a:t> </a:t>
            </a:r>
            <a:r>
              <a:rPr dirty="0" sz="3050" spc="60"/>
              <a:t>1</a:t>
            </a:r>
            <a:r>
              <a:rPr dirty="0" sz="3050" spc="-170"/>
              <a:t> </a:t>
            </a:r>
            <a:r>
              <a:rPr dirty="0" sz="3050" spc="-25"/>
              <a:t>[9]</a:t>
            </a:r>
            <a:endParaRPr sz="3050"/>
          </a:p>
        </p:txBody>
      </p:sp>
      <p:sp>
        <p:nvSpPr>
          <p:cNvPr id="5" name="object 5"/>
          <p:cNvSpPr txBox="1"/>
          <p:nvPr/>
        </p:nvSpPr>
        <p:spPr>
          <a:xfrm>
            <a:off x="1218039" y="6989611"/>
            <a:ext cx="9244965" cy="109791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982344" marR="43180" indent="-213360">
              <a:lnSpc>
                <a:spcPct val="109100"/>
              </a:lnSpc>
              <a:spcBef>
                <a:spcPts val="90"/>
              </a:spcBef>
            </a:pPr>
            <a:r>
              <a:rPr dirty="0" sz="2250">
                <a:latin typeface="Times New Roman"/>
                <a:cs typeface="Times New Roman"/>
              </a:rPr>
              <a:t>Gg.</a:t>
            </a:r>
            <a:r>
              <a:rPr dirty="0" sz="2250" spc="60">
                <a:latin typeface="Times New Roman"/>
                <a:cs typeface="Times New Roman"/>
              </a:rPr>
              <a:t> </a:t>
            </a:r>
            <a:r>
              <a:rPr dirty="0" sz="2250" spc="90" i="1">
                <a:latin typeface="Times New Roman"/>
                <a:cs typeface="Times New Roman"/>
              </a:rPr>
              <a:t>5</a:t>
            </a:r>
            <a:r>
              <a:rPr dirty="0" sz="2250" spc="-130" i="1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-60">
                <a:latin typeface="Times New Roman"/>
                <a:cs typeface="Times New Roman"/>
              </a:rPr>
              <a:t> </a:t>
            </a:r>
            <a:r>
              <a:rPr dirty="0" sz="2250" spc="-35">
                <a:latin typeface="Times New Roman"/>
                <a:cs typeface="Times New Roman"/>
              </a:rPr>
              <a:t>MobileNetV2-</a:t>
            </a:r>
            <a:r>
              <a:rPr dirty="0" sz="2250">
                <a:latin typeface="Times New Roman"/>
                <a:cs typeface="Times New Roman"/>
              </a:rPr>
              <a:t>CBAM</a:t>
            </a:r>
            <a:r>
              <a:rPr dirty="0" sz="2250" spc="70">
                <a:latin typeface="Times New Roman"/>
                <a:cs typeface="Times New Roman"/>
              </a:rPr>
              <a:t> </a:t>
            </a:r>
            <a:r>
              <a:rPr dirty="0" sz="2250" spc="-30">
                <a:latin typeface="Times New Roman"/>
                <a:cs typeface="Times New Roman"/>
              </a:rPr>
              <a:t>model's</a:t>
            </a:r>
            <a:r>
              <a:rPr dirty="0" sz="2250" spc="150">
                <a:latin typeface="Times New Roman"/>
                <a:cs typeface="Times New Roman"/>
              </a:rPr>
              <a:t> </a:t>
            </a:r>
            <a:r>
              <a:rPr dirty="0" sz="2250" spc="-35">
                <a:latin typeface="Times New Roman"/>
                <a:cs typeface="Times New Roman"/>
              </a:rPr>
              <a:t>performance</a:t>
            </a:r>
            <a:r>
              <a:rPr dirty="0" sz="2250" spc="204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during</a:t>
            </a:r>
            <a:r>
              <a:rPr dirty="0" sz="2250" spc="95">
                <a:latin typeface="Times New Roman"/>
                <a:cs typeface="Times New Roman"/>
              </a:rPr>
              <a:t> </a:t>
            </a:r>
            <a:r>
              <a:rPr dirty="0" sz="2250" spc="50">
                <a:latin typeface="Times New Roman"/>
                <a:cs typeface="Times New Roman"/>
              </a:rPr>
              <a:t>raining</a:t>
            </a:r>
            <a:r>
              <a:rPr dirty="0" sz="2250" spc="20">
                <a:latin typeface="Times New Roman"/>
                <a:cs typeface="Times New Roman"/>
              </a:rPr>
              <a:t> </a:t>
            </a:r>
            <a:r>
              <a:rPr dirty="0" sz="2250" spc="-25">
                <a:latin typeface="Times New Roman"/>
                <a:cs typeface="Times New Roman"/>
              </a:rPr>
              <a:t>and </a:t>
            </a:r>
            <a:r>
              <a:rPr dirty="0" baseline="4938" sz="3375">
                <a:latin typeface="Times New Roman"/>
                <a:cs typeface="Times New Roman"/>
              </a:rPr>
              <a:t>validaãon</a:t>
            </a:r>
            <a:r>
              <a:rPr dirty="0" baseline="4938" sz="3375" spc="37">
                <a:latin typeface="Times New Roman"/>
                <a:cs typeface="Times New Roman"/>
              </a:rPr>
              <a:t> </a:t>
            </a:r>
            <a:r>
              <a:rPr dirty="0" baseline="6172" sz="3375">
                <a:solidFill>
                  <a:srgbClr val="111111"/>
                </a:solidFill>
                <a:latin typeface="Times New Roman"/>
                <a:cs typeface="Times New Roman"/>
              </a:rPr>
              <a:t>on</a:t>
            </a:r>
            <a:r>
              <a:rPr dirty="0" baseline="6172" sz="3375" spc="22">
                <a:solidFill>
                  <a:srgbClr val="111111"/>
                </a:solidFill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the</a:t>
            </a:r>
            <a:r>
              <a:rPr dirty="0" sz="2250" spc="-40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first</a:t>
            </a:r>
            <a:r>
              <a:rPr dirty="0" sz="2250" spc="-13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dataset:</a:t>
            </a:r>
            <a:r>
              <a:rPr dirty="0" sz="2250" spc="-20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(a)</a:t>
            </a:r>
            <a:r>
              <a:rPr dirty="0" sz="2250" spc="-95">
                <a:latin typeface="Times New Roman"/>
                <a:cs typeface="Times New Roman"/>
              </a:rPr>
              <a:t> </a:t>
            </a:r>
            <a:r>
              <a:rPr dirty="0" baseline="4938" sz="3375" spc="-37">
                <a:latin typeface="Times New Roman"/>
                <a:cs typeface="Times New Roman"/>
              </a:rPr>
              <a:t>Accuracy</a:t>
            </a:r>
            <a:r>
              <a:rPr dirty="0" baseline="4938" sz="3375" spc="179">
                <a:latin typeface="Times New Roman"/>
                <a:cs typeface="Times New Roman"/>
              </a:rPr>
              <a:t> </a:t>
            </a:r>
            <a:r>
              <a:rPr dirty="0" sz="2250" spc="80">
                <a:latin typeface="Times New Roman"/>
                <a:cs typeface="Times New Roman"/>
              </a:rPr>
              <a:t>Cwvæ</a:t>
            </a:r>
            <a:r>
              <a:rPr dirty="0" sz="2250" spc="75">
                <a:latin typeface="Times New Roman"/>
                <a:cs typeface="Times New Roman"/>
              </a:rPr>
              <a:t> </a:t>
            </a:r>
            <a:r>
              <a:rPr dirty="0" baseline="6172" sz="3375" spc="150">
                <a:solidFill>
                  <a:srgbClr val="0E0E0E"/>
                </a:solidFill>
                <a:latin typeface="Times New Roman"/>
                <a:cs typeface="Times New Roman"/>
              </a:rPr>
              <a:t>Q)</a:t>
            </a:r>
            <a:r>
              <a:rPr dirty="0" baseline="6172" sz="3375" spc="-209">
                <a:solidFill>
                  <a:srgbClr val="0E0E0E"/>
                </a:solidFill>
                <a:latin typeface="Times New Roman"/>
                <a:cs typeface="Times New Roman"/>
              </a:rPr>
              <a:t> </a:t>
            </a:r>
            <a:r>
              <a:rPr dirty="0" baseline="4938" sz="3375" spc="-142">
                <a:latin typeface="Times New Roman"/>
                <a:cs typeface="Times New Roman"/>
              </a:rPr>
              <a:t>LosS</a:t>
            </a:r>
            <a:r>
              <a:rPr dirty="0" baseline="4938" sz="3375" spc="-67">
                <a:latin typeface="Times New Roman"/>
                <a:cs typeface="Times New Roman"/>
              </a:rPr>
              <a:t> </a:t>
            </a:r>
            <a:r>
              <a:rPr dirty="0" sz="2250" spc="-10">
                <a:latin typeface="Times New Roman"/>
                <a:cs typeface="Times New Roman"/>
              </a:rPr>
              <a:t>CurvCS.</a:t>
            </a:r>
            <a:endParaRPr sz="2250">
              <a:latin typeface="Times New Roman"/>
              <a:cs typeface="Times New Roman"/>
            </a:endParaRPr>
          </a:p>
          <a:p>
            <a:pPr marL="411480" indent="-373380">
              <a:lnSpc>
                <a:spcPts val="2560"/>
              </a:lnSpc>
              <a:buChar char="•"/>
              <a:tabLst>
                <a:tab pos="411480" algn="l"/>
              </a:tabLst>
            </a:pPr>
            <a:r>
              <a:rPr dirty="0" sz="2550" spc="-35">
                <a:latin typeface="Calibri"/>
                <a:cs typeface="Calibri"/>
              </a:rPr>
              <a:t>Training</a:t>
            </a:r>
            <a:r>
              <a:rPr dirty="0" sz="2550" spc="-50">
                <a:latin typeface="Calibri"/>
                <a:cs typeface="Calibri"/>
              </a:rPr>
              <a:t> </a:t>
            </a:r>
            <a:r>
              <a:rPr dirty="0" baseline="-4357" sz="3825" spc="-15">
                <a:latin typeface="Calibri"/>
                <a:cs typeface="Calibri"/>
              </a:rPr>
              <a:t>completed</a:t>
            </a:r>
            <a:r>
              <a:rPr dirty="0" baseline="-4357" sz="3825" spc="172">
                <a:latin typeface="Calibri"/>
                <a:cs typeface="Calibri"/>
              </a:rPr>
              <a:t> </a:t>
            </a:r>
            <a:r>
              <a:rPr dirty="0" baseline="1089" sz="3825">
                <a:latin typeface="Calibri"/>
                <a:cs typeface="Calibri"/>
              </a:rPr>
              <a:t>in</a:t>
            </a:r>
            <a:r>
              <a:rPr dirty="0" baseline="1089" sz="3825" spc="-202">
                <a:latin typeface="Calibri"/>
                <a:cs typeface="Calibri"/>
              </a:rPr>
              <a:t> </a:t>
            </a:r>
            <a:r>
              <a:rPr dirty="0" sz="2550">
                <a:latin typeface="Calibri"/>
                <a:cs typeface="Calibri"/>
              </a:rPr>
              <a:t>41</a:t>
            </a:r>
            <a:r>
              <a:rPr dirty="0" sz="2550" spc="-145">
                <a:latin typeface="Calibri"/>
                <a:cs typeface="Calibri"/>
              </a:rPr>
              <a:t> </a:t>
            </a:r>
            <a:r>
              <a:rPr dirty="0" sz="2550" spc="-10">
                <a:latin typeface="Calibri"/>
                <a:cs typeface="Calibri"/>
              </a:rPr>
              <a:t>epochs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20198" y="7421195"/>
            <a:ext cx="8472170" cy="3740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  <a:tabLst>
                <a:tab pos="570230" algn="l"/>
              </a:tabLst>
            </a:pPr>
            <a:r>
              <a:rPr dirty="0" sz="2250" spc="-25">
                <a:latin typeface="Times New Roman"/>
                <a:cs typeface="Times New Roman"/>
              </a:rPr>
              <a:t>Eg.</a:t>
            </a:r>
            <a:r>
              <a:rPr dirty="0" sz="2250">
                <a:latin typeface="Times New Roman"/>
                <a:cs typeface="Times New Roman"/>
              </a:rPr>
              <a:t>	</a:t>
            </a:r>
            <a:r>
              <a:rPr dirty="0" sz="2250" spc="55">
                <a:latin typeface="Times New Roman"/>
                <a:cs typeface="Times New Roman"/>
              </a:rPr>
              <a:t>6</a:t>
            </a:r>
            <a:r>
              <a:rPr dirty="0" sz="2250" spc="-145">
                <a:latin typeface="Times New Roman"/>
                <a:cs typeface="Times New Roman"/>
              </a:rPr>
              <a:t> </a:t>
            </a:r>
            <a:r>
              <a:rPr dirty="0" baseline="1234" sz="3375" spc="-37">
                <a:latin typeface="Times New Roman"/>
                <a:cs typeface="Times New Roman"/>
              </a:rPr>
              <a:t>Confusion</a:t>
            </a:r>
            <a:r>
              <a:rPr dirty="0" baseline="1234" sz="3375" spc="240">
                <a:latin typeface="Times New Roman"/>
                <a:cs typeface="Times New Roman"/>
              </a:rPr>
              <a:t> </a:t>
            </a:r>
            <a:r>
              <a:rPr dirty="0" baseline="6172" sz="3375" spc="-15">
                <a:latin typeface="Times New Roman"/>
                <a:cs typeface="Times New Roman"/>
              </a:rPr>
              <a:t>matrix</a:t>
            </a:r>
            <a:r>
              <a:rPr dirty="0" baseline="6172" sz="3375" spc="82">
                <a:latin typeface="Times New Roman"/>
                <a:cs typeface="Times New Roman"/>
              </a:rPr>
              <a:t> </a:t>
            </a:r>
            <a:r>
              <a:rPr dirty="0" baseline="1234" sz="3375" spc="-52">
                <a:latin typeface="Times New Roman"/>
                <a:cs typeface="Times New Roman"/>
              </a:rPr>
              <a:t>musœaóng</a:t>
            </a:r>
            <a:r>
              <a:rPr dirty="0" baseline="1234" sz="3375" spc="157">
                <a:latin typeface="Times New Roman"/>
                <a:cs typeface="Times New Roman"/>
              </a:rPr>
              <a:t> </a:t>
            </a:r>
            <a:r>
              <a:rPr dirty="0" baseline="1234" sz="3375" spc="-60">
                <a:latin typeface="Times New Roman"/>
                <a:cs typeface="Times New Roman"/>
              </a:rPr>
              <a:t>per-</a:t>
            </a:r>
            <a:r>
              <a:rPr dirty="0" baseline="1234" sz="3375">
                <a:latin typeface="Times New Roman"/>
                <a:cs typeface="Times New Roman"/>
              </a:rPr>
              <a:t>class</a:t>
            </a:r>
            <a:r>
              <a:rPr dirty="0" baseline="1234" sz="3375" spc="-7">
                <a:latin typeface="Times New Roman"/>
                <a:cs typeface="Times New Roman"/>
              </a:rPr>
              <a:t> </a:t>
            </a:r>
            <a:r>
              <a:rPr dirty="0" sz="2250">
                <a:latin typeface="Times New Roman"/>
                <a:cs typeface="Times New Roman"/>
              </a:rPr>
              <a:t>perfonmnce</a:t>
            </a:r>
            <a:r>
              <a:rPr dirty="0" sz="2250" spc="190">
                <a:latin typeface="Times New Roman"/>
                <a:cs typeface="Times New Roman"/>
              </a:rPr>
              <a:t> </a:t>
            </a:r>
            <a:r>
              <a:rPr dirty="0" baseline="6172" sz="3375">
                <a:latin typeface="Times New Roman"/>
                <a:cs typeface="Times New Roman"/>
              </a:rPr>
              <a:t>of</a:t>
            </a:r>
            <a:r>
              <a:rPr dirty="0" baseline="6172" sz="3375" spc="60">
                <a:latin typeface="Times New Roman"/>
                <a:cs typeface="Times New Roman"/>
              </a:rPr>
              <a:t> </a:t>
            </a:r>
            <a:r>
              <a:rPr dirty="0" baseline="6172" sz="3375">
                <a:latin typeface="Times New Roman"/>
                <a:cs typeface="Times New Roman"/>
              </a:rPr>
              <a:t>the</a:t>
            </a:r>
            <a:r>
              <a:rPr dirty="0" baseline="6172" sz="3375" spc="-97">
                <a:latin typeface="Times New Roman"/>
                <a:cs typeface="Times New Roman"/>
              </a:rPr>
              <a:t> </a:t>
            </a:r>
            <a:r>
              <a:rPr dirty="0" baseline="1234" sz="3375" spc="-15">
                <a:latin typeface="Times New Roman"/>
                <a:cs typeface="Times New Roman"/>
              </a:rPr>
              <a:t>proposed</a:t>
            </a:r>
            <a:endParaRPr baseline="1234" sz="3375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61556" y="7733493"/>
            <a:ext cx="3263265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spc="-204">
                <a:latin typeface="Calibri"/>
                <a:cs typeface="Calibri"/>
              </a:rPr>
              <a:t>approac</a:t>
            </a:r>
            <a:r>
              <a:rPr dirty="0" baseline="2178" sz="3825" spc="-307">
                <a:latin typeface="Calibri"/>
                <a:cs typeface="Calibri"/>
              </a:rPr>
              <a:t>h</a:t>
            </a:r>
            <a:r>
              <a:rPr dirty="0" baseline="2178" sz="3825" spc="-247">
                <a:latin typeface="Calibri"/>
                <a:cs typeface="Calibri"/>
              </a:rPr>
              <a:t> </a:t>
            </a:r>
            <a:r>
              <a:rPr dirty="0" baseline="2178" sz="3825" spc="-300">
                <a:latin typeface="Calibri"/>
                <a:cs typeface="Calibri"/>
              </a:rPr>
              <a:t>on</a:t>
            </a:r>
            <a:r>
              <a:rPr dirty="0" baseline="2178" sz="3825" spc="-37">
                <a:latin typeface="Calibri"/>
                <a:cs typeface="Calibri"/>
              </a:rPr>
              <a:t> </a:t>
            </a:r>
            <a:r>
              <a:rPr dirty="0" baseline="1089" sz="3825" spc="-390">
                <a:latin typeface="Calibri"/>
                <a:cs typeface="Calibri"/>
              </a:rPr>
              <a:t>the</a:t>
            </a:r>
            <a:r>
              <a:rPr dirty="0" baseline="1089" sz="3825" spc="-44">
                <a:latin typeface="Calibri"/>
                <a:cs typeface="Calibri"/>
              </a:rPr>
              <a:t> </a:t>
            </a:r>
            <a:r>
              <a:rPr dirty="0" sz="2550" spc="-100">
                <a:latin typeface="Calibri"/>
                <a:cs typeface="Calibri"/>
              </a:rPr>
              <a:t>fi‹st</a:t>
            </a:r>
            <a:r>
              <a:rPr dirty="0" sz="2550" spc="-70">
                <a:latin typeface="Calibri"/>
                <a:cs typeface="Calibri"/>
              </a:rPr>
              <a:t> </a:t>
            </a:r>
            <a:r>
              <a:rPr dirty="0" baseline="1089" sz="3825" spc="-300">
                <a:latin typeface="Calibri"/>
                <a:cs typeface="Calibri"/>
              </a:rPr>
              <a:t>dataset.</a:t>
            </a:r>
            <a:endParaRPr baseline="1089" sz="3825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1334" y="8040873"/>
            <a:ext cx="11196320" cy="23876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4810">
              <a:lnSpc>
                <a:spcPts val="3135"/>
              </a:lnSpc>
              <a:spcBef>
                <a:spcPts val="125"/>
              </a:spcBef>
            </a:pPr>
            <a:r>
              <a:rPr dirty="0" sz="2700" spc="-105">
                <a:latin typeface="Calibri"/>
                <a:cs typeface="Calibri"/>
              </a:rPr>
              <a:t>Validation</a:t>
            </a:r>
            <a:r>
              <a:rPr dirty="0" sz="2700" spc="-5">
                <a:latin typeface="Calibri"/>
                <a:cs typeface="Calibri"/>
              </a:rPr>
              <a:t> </a:t>
            </a:r>
            <a:r>
              <a:rPr dirty="0" sz="2700" spc="-75">
                <a:latin typeface="Calibri"/>
                <a:cs typeface="Calibri"/>
              </a:rPr>
              <a:t>accuracy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 spc="-125">
                <a:latin typeface="Calibri"/>
                <a:cs typeface="Calibri"/>
              </a:rPr>
              <a:t>improved-</a:t>
            </a:r>
            <a:r>
              <a:rPr dirty="0" sz="2700">
                <a:latin typeface="Calibri"/>
                <a:cs typeface="Calibri"/>
              </a:rPr>
              <a:t>&gt;</a:t>
            </a:r>
            <a:r>
              <a:rPr dirty="0" sz="2700" spc="120">
                <a:latin typeface="Calibri"/>
                <a:cs typeface="Calibri"/>
              </a:rPr>
              <a:t> </a:t>
            </a:r>
            <a:r>
              <a:rPr dirty="0" sz="2700" spc="-105">
                <a:latin typeface="Calibri"/>
                <a:cs typeface="Calibri"/>
              </a:rPr>
              <a:t>From</a:t>
            </a:r>
            <a:r>
              <a:rPr dirty="0" sz="2700" spc="60">
                <a:latin typeface="Calibri"/>
                <a:cs typeface="Calibri"/>
              </a:rPr>
              <a:t> </a:t>
            </a:r>
            <a:r>
              <a:rPr dirty="0" sz="2700" spc="135">
                <a:latin typeface="Calibri"/>
                <a:cs typeface="Calibri"/>
              </a:rPr>
              <a:t>-</a:t>
            </a:r>
            <a:r>
              <a:rPr dirty="0" sz="2700" spc="225">
                <a:latin typeface="Calibri"/>
                <a:cs typeface="Calibri"/>
              </a:rPr>
              <a:t>5?B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(val</a:t>
            </a:r>
            <a:r>
              <a:rPr dirty="0" sz="2700" spc="-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loss</a:t>
            </a:r>
            <a:r>
              <a:rPr dirty="0" sz="2700" spc="-12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=</a:t>
            </a:r>
            <a:r>
              <a:rPr dirty="0" sz="2700" spc="-10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4.4) </a:t>
            </a:r>
            <a:r>
              <a:rPr dirty="0" sz="2700" spc="-200">
                <a:latin typeface="Calibri"/>
                <a:cs typeface="Calibri"/>
              </a:rPr>
              <a:t>To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245">
                <a:latin typeface="Calibri"/>
                <a:cs typeface="Calibri"/>
              </a:rPr>
              <a:t>&gt;9646</a:t>
            </a:r>
            <a:r>
              <a:rPr dirty="0" sz="2700" spc="7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(val</a:t>
            </a:r>
            <a:r>
              <a:rPr dirty="0" sz="2700" spc="-18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loss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-</a:t>
            </a:r>
            <a:r>
              <a:rPr dirty="0" sz="2700" spc="310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0.5)</a:t>
            </a:r>
            <a:endParaRPr sz="2700">
              <a:latin typeface="Calibri"/>
              <a:cs typeface="Calibri"/>
            </a:endParaRPr>
          </a:p>
          <a:p>
            <a:pPr marL="382270">
              <a:lnSpc>
                <a:spcPts val="3025"/>
              </a:lnSpc>
            </a:pPr>
            <a:r>
              <a:rPr dirty="0" sz="2650" spc="-45">
                <a:latin typeface="Calibri"/>
                <a:cs typeface="Calibri"/>
              </a:rPr>
              <a:t>Learning</a:t>
            </a:r>
            <a:r>
              <a:rPr dirty="0" sz="2650" spc="-95">
                <a:latin typeface="Calibri"/>
                <a:cs typeface="Calibri"/>
              </a:rPr>
              <a:t> </a:t>
            </a:r>
            <a:r>
              <a:rPr dirty="0" sz="2650" spc="-45">
                <a:latin typeface="Calibri"/>
                <a:cs typeface="Calibri"/>
              </a:rPr>
              <a:t>rate</a:t>
            </a:r>
            <a:r>
              <a:rPr dirty="0" sz="2650" spc="50">
                <a:latin typeface="Calibri"/>
                <a:cs typeface="Calibri"/>
              </a:rPr>
              <a:t> </a:t>
            </a:r>
            <a:r>
              <a:rPr dirty="0" sz="2650" spc="-55">
                <a:latin typeface="Calibri"/>
                <a:cs typeface="Calibri"/>
              </a:rPr>
              <a:t>adaptively</a:t>
            </a:r>
            <a:r>
              <a:rPr dirty="0" sz="2650" spc="60">
                <a:latin typeface="Calibri"/>
                <a:cs typeface="Calibri"/>
              </a:rPr>
              <a:t> </a:t>
            </a:r>
            <a:r>
              <a:rPr dirty="0" baseline="2096" sz="3975" spc="-52">
                <a:latin typeface="Calibri"/>
                <a:cs typeface="Calibri"/>
              </a:rPr>
              <a:t>r</a:t>
            </a:r>
            <a:r>
              <a:rPr dirty="0" sz="2650" spc="-35">
                <a:latin typeface="Calibri"/>
                <a:cs typeface="Calibri"/>
              </a:rPr>
              <a:t>educed</a:t>
            </a:r>
            <a:r>
              <a:rPr dirty="0" sz="2650" spc="-305">
                <a:latin typeface="Calibri"/>
                <a:cs typeface="Calibri"/>
              </a:rPr>
              <a:t> </a:t>
            </a:r>
            <a:r>
              <a:rPr dirty="0" sz="2650" spc="-35">
                <a:latin typeface="Calibri"/>
                <a:cs typeface="Calibri"/>
              </a:rPr>
              <a:t>to</a:t>
            </a:r>
            <a:r>
              <a:rPr dirty="0" sz="2650" spc="-19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"2</a:t>
            </a:r>
            <a:r>
              <a:rPr dirty="0" sz="2650" spc="235">
                <a:latin typeface="Calibri"/>
                <a:cs typeface="Calibri"/>
              </a:rPr>
              <a:t> </a:t>
            </a:r>
            <a:r>
              <a:rPr dirty="0" sz="2650" spc="55">
                <a:latin typeface="Calibri"/>
                <a:cs typeface="Calibri"/>
              </a:rPr>
              <a:t>x</a:t>
            </a:r>
            <a:r>
              <a:rPr dirty="0" sz="2650" spc="-35">
                <a:latin typeface="Calibri"/>
                <a:cs typeface="Calibri"/>
              </a:rPr>
              <a:t> </a:t>
            </a:r>
            <a:r>
              <a:rPr dirty="0" sz="2650">
                <a:latin typeface="Calibri"/>
                <a:cs typeface="Calibri"/>
              </a:rPr>
              <a:t>10</a:t>
            </a:r>
            <a:r>
              <a:rPr dirty="0" sz="2650" spc="150">
                <a:latin typeface="Calibri"/>
                <a:cs typeface="Calibri"/>
              </a:rPr>
              <a:t> </a:t>
            </a:r>
            <a:r>
              <a:rPr dirty="0" sz="2650" spc="-409">
                <a:latin typeface="Calibri"/>
                <a:cs typeface="Calibri"/>
              </a:rPr>
              <a:t>^</a:t>
            </a:r>
            <a:endParaRPr sz="2650">
              <a:latin typeface="Calibri"/>
              <a:cs typeface="Calibri"/>
            </a:endParaRPr>
          </a:p>
          <a:p>
            <a:pPr marL="384810" marR="7071995" indent="-372745">
              <a:lnSpc>
                <a:spcPts val="3100"/>
              </a:lnSpc>
              <a:spcBef>
                <a:spcPts val="170"/>
              </a:spcBef>
              <a:buChar char="•"/>
              <a:tabLst>
                <a:tab pos="384810" algn="l"/>
                <a:tab pos="387985" algn="l"/>
              </a:tabLst>
            </a:pPr>
            <a:r>
              <a:rPr dirty="0" sz="2700">
                <a:latin typeface="Calibri"/>
                <a:cs typeface="Calibri"/>
              </a:rPr>
              <a:t>	</a:t>
            </a:r>
            <a:r>
              <a:rPr dirty="0" sz="2700" spc="-120">
                <a:latin typeface="Calibri"/>
                <a:cs typeface="Calibri"/>
              </a:rPr>
              <a:t>Training</a:t>
            </a:r>
            <a:r>
              <a:rPr dirty="0" sz="2700" spc="-35">
                <a:latin typeface="Calibri"/>
                <a:cs typeface="Calibri"/>
              </a:rPr>
              <a:t> </a:t>
            </a:r>
            <a:r>
              <a:rPr dirty="0" sz="2700" spc="-60">
                <a:latin typeface="Calibri"/>
                <a:cs typeface="Calibri"/>
              </a:rPr>
              <a:t>accuracy:</a:t>
            </a:r>
            <a:r>
              <a:rPr dirty="0" sz="2700" spc="-45">
                <a:latin typeface="Calibri"/>
                <a:cs typeface="Calibri"/>
              </a:rPr>
              <a:t> </a:t>
            </a:r>
            <a:r>
              <a:rPr dirty="0" sz="2700" spc="-20">
                <a:latin typeface="Calibri"/>
                <a:cs typeface="Calibri"/>
              </a:rPr>
              <a:t>&gt;999ś </a:t>
            </a:r>
            <a:r>
              <a:rPr dirty="0" sz="2700" spc="-105">
                <a:latin typeface="Calibri"/>
                <a:cs typeface="Calibri"/>
              </a:rPr>
              <a:t>Validation</a:t>
            </a:r>
            <a:r>
              <a:rPr dirty="0" sz="2700" spc="-20">
                <a:latin typeface="Calibri"/>
                <a:cs typeface="Calibri"/>
              </a:rPr>
              <a:t> </a:t>
            </a:r>
            <a:r>
              <a:rPr dirty="0" sz="2700" spc="-70">
                <a:latin typeface="Calibri"/>
                <a:cs typeface="Calibri"/>
              </a:rPr>
              <a:t>accuracy:</a:t>
            </a:r>
            <a:r>
              <a:rPr dirty="0" sz="2700" spc="15">
                <a:latin typeface="Calibri"/>
                <a:cs typeface="Calibri"/>
              </a:rPr>
              <a:t> </a:t>
            </a:r>
            <a:r>
              <a:rPr dirty="0" sz="2700" spc="-265">
                <a:latin typeface="Calibri"/>
                <a:cs typeface="Calibri"/>
              </a:rPr>
              <a:t>96—</a:t>
            </a:r>
            <a:r>
              <a:rPr dirty="0" sz="2700" spc="-180">
                <a:latin typeface="Calibri"/>
                <a:cs typeface="Calibri"/>
              </a:rPr>
              <a:t>97Ø</a:t>
            </a:r>
            <a:endParaRPr sz="2700">
              <a:latin typeface="Calibri"/>
              <a:cs typeface="Calibri"/>
            </a:endParaRPr>
          </a:p>
          <a:p>
            <a:pPr marL="387350" indent="-374015">
              <a:lnSpc>
                <a:spcPts val="2870"/>
              </a:lnSpc>
              <a:buChar char="•"/>
              <a:tabLst>
                <a:tab pos="387350" algn="l"/>
              </a:tabLst>
            </a:pPr>
            <a:r>
              <a:rPr dirty="0" sz="2600" spc="-10">
                <a:latin typeface="Calibri"/>
                <a:cs typeface="Calibri"/>
              </a:rPr>
              <a:t>SVM</a:t>
            </a:r>
            <a:r>
              <a:rPr dirty="0" sz="2600" spc="-140">
                <a:latin typeface="Calibri"/>
                <a:cs typeface="Calibri"/>
              </a:rPr>
              <a:t> </a:t>
            </a:r>
            <a:r>
              <a:rPr dirty="0" sz="2600" spc="-105">
                <a:latin typeface="Calibri"/>
                <a:cs typeface="Calibri"/>
              </a:rPr>
              <a:t>Test</a:t>
            </a:r>
            <a:r>
              <a:rPr dirty="0" sz="2600" spc="-40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Accuracy: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98.1146</a:t>
            </a:r>
            <a:endParaRPr sz="2600">
              <a:latin typeface="Calibri"/>
              <a:cs typeface="Calibri"/>
            </a:endParaRPr>
          </a:p>
          <a:p>
            <a:pPr marL="381635">
              <a:lnSpc>
                <a:spcPts val="3165"/>
              </a:lnSpc>
            </a:pPr>
            <a:r>
              <a:rPr dirty="0" sz="2700" spc="-80">
                <a:latin typeface="Calibri"/>
                <a:cs typeface="Calibri"/>
              </a:rPr>
              <a:t>Precision,</a:t>
            </a:r>
            <a:r>
              <a:rPr dirty="0" sz="2700" spc="50">
                <a:latin typeface="Calibri"/>
                <a:cs typeface="Calibri"/>
              </a:rPr>
              <a:t> </a:t>
            </a:r>
            <a:r>
              <a:rPr dirty="0" sz="2700" spc="-85">
                <a:latin typeface="Calibri"/>
                <a:cs typeface="Calibri"/>
              </a:rPr>
              <a:t>Recall,</a:t>
            </a:r>
            <a:r>
              <a:rPr dirty="0" sz="2700" spc="-60">
                <a:latin typeface="Calibri"/>
                <a:cs typeface="Calibri"/>
              </a:rPr>
              <a:t> </a:t>
            </a:r>
            <a:r>
              <a:rPr dirty="0" sz="2700" spc="-105">
                <a:latin typeface="Calibri"/>
                <a:cs typeface="Calibri"/>
              </a:rPr>
              <a:t>F1-</a:t>
            </a:r>
            <a:r>
              <a:rPr dirty="0" sz="2700" spc="-45">
                <a:latin typeface="Calibri"/>
                <a:cs typeface="Calibri"/>
              </a:rPr>
              <a:t>score:</a:t>
            </a:r>
            <a:r>
              <a:rPr dirty="0" sz="2700" spc="185">
                <a:latin typeface="Calibri"/>
                <a:cs typeface="Calibri"/>
              </a:rPr>
              <a:t> </a:t>
            </a:r>
            <a:r>
              <a:rPr dirty="0" sz="2700" spc="-45">
                <a:latin typeface="Calibri"/>
                <a:cs typeface="Calibri"/>
              </a:rPr>
              <a:t>0.98</a:t>
            </a:r>
            <a:r>
              <a:rPr dirty="0" sz="2700" spc="-65">
                <a:latin typeface="Calibri"/>
                <a:cs typeface="Calibri"/>
              </a:rPr>
              <a:t> </a:t>
            </a:r>
            <a:r>
              <a:rPr dirty="0" sz="2700" spc="-55">
                <a:latin typeface="Calibri"/>
                <a:cs typeface="Calibri"/>
              </a:rPr>
              <a:t>across</a:t>
            </a:r>
            <a:r>
              <a:rPr dirty="0" sz="2700" spc="-95">
                <a:latin typeface="Calibri"/>
                <a:cs typeface="Calibri"/>
              </a:rPr>
              <a:t> </a:t>
            </a:r>
            <a:r>
              <a:rPr dirty="0" sz="2700">
                <a:latin typeface="Calibri"/>
                <a:cs typeface="Calibri"/>
              </a:rPr>
              <a:t>all</a:t>
            </a:r>
            <a:r>
              <a:rPr dirty="0" sz="2700" spc="-155">
                <a:latin typeface="Calibri"/>
                <a:cs typeface="Calibri"/>
              </a:rPr>
              <a:t> </a:t>
            </a:r>
            <a:r>
              <a:rPr dirty="0" sz="2700" spc="-10">
                <a:latin typeface="Calibri"/>
                <a:cs typeface="Calibri"/>
              </a:rPr>
              <a:t>classes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24606" y="566957"/>
            <a:ext cx="10751672" cy="71975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242069" y="1421001"/>
            <a:ext cx="297815" cy="4813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000" spc="-30">
                <a:latin typeface="Calibri"/>
                <a:cs typeface="Calibri"/>
              </a:rPr>
              <a:t>II.</a:t>
            </a:r>
            <a:endParaRPr sz="300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871" y="2074824"/>
            <a:ext cx="9770592" cy="489755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55082" y="1632517"/>
            <a:ext cx="5227066" cy="4608041"/>
          </a:xfrm>
          <a:prstGeom prst="rect">
            <a:avLst/>
          </a:prstGeom>
        </p:spPr>
      </p:pic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4960" rIns="0" bIns="0" rtlCol="0" vert="horz">
            <a:spAutoFit/>
          </a:bodyPr>
          <a:lstStyle/>
          <a:p>
            <a:pPr marL="1677035">
              <a:lnSpc>
                <a:spcPct val="100000"/>
              </a:lnSpc>
              <a:spcBef>
                <a:spcPts val="2480"/>
              </a:spcBef>
            </a:pPr>
            <a:r>
              <a:rPr dirty="0" spc="-40"/>
              <a:t>Result</a:t>
            </a:r>
            <a:r>
              <a:rPr dirty="0" spc="-185"/>
              <a:t> </a:t>
            </a:r>
            <a:r>
              <a:rPr dirty="0" spc="-35"/>
              <a:t>Analysis</a:t>
            </a:r>
            <a:r>
              <a:rPr dirty="0" spc="-240"/>
              <a:t> </a:t>
            </a:r>
            <a:r>
              <a:rPr dirty="0" spc="-25"/>
              <a:t>and</a:t>
            </a:r>
            <a:r>
              <a:rPr dirty="0" spc="-310"/>
              <a:t> </a:t>
            </a:r>
            <a:r>
              <a:rPr dirty="0" sz="6700"/>
              <a:t>D</a:t>
            </a:r>
            <a:r>
              <a:rPr dirty="0" sz="6700"/>
              <a:t>iscussion</a:t>
            </a:r>
            <a:r>
              <a:rPr dirty="0" sz="6700" spc="770"/>
              <a:t> </a:t>
            </a:r>
            <a:r>
              <a:rPr dirty="0" sz="6700" spc="-65"/>
              <a:t>cont.</a:t>
            </a:r>
            <a:endParaRPr sz="6700"/>
          </a:p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dirty="0" baseline="1851" sz="4500"/>
              <a:t>Kaggle</a:t>
            </a:r>
            <a:r>
              <a:rPr dirty="0" baseline="1851" sz="4500" spc="-7"/>
              <a:t> </a:t>
            </a:r>
            <a:r>
              <a:rPr dirty="0" baseline="1851" sz="4500"/>
              <a:t>Leaf</a:t>
            </a:r>
            <a:r>
              <a:rPr dirty="0" baseline="1851" sz="4500" spc="-97"/>
              <a:t> </a:t>
            </a:r>
            <a:r>
              <a:rPr dirty="0" baseline="1851" sz="4500"/>
              <a:t>Dise</a:t>
            </a:r>
            <a:r>
              <a:rPr dirty="0" sz="3000"/>
              <a:t>a</a:t>
            </a:r>
            <a:r>
              <a:rPr dirty="0" baseline="1851" sz="4500"/>
              <a:t>se</a:t>
            </a:r>
            <a:r>
              <a:rPr dirty="0" baseline="1851" sz="4500" spc="15"/>
              <a:t> </a:t>
            </a:r>
            <a:r>
              <a:rPr dirty="0" baseline="1851" sz="4500"/>
              <a:t>Dataset</a:t>
            </a:r>
            <a:r>
              <a:rPr dirty="0" baseline="1851" sz="4500" spc="127"/>
              <a:t> </a:t>
            </a:r>
            <a:r>
              <a:rPr dirty="0" baseline="1851" sz="4500" spc="89"/>
              <a:t>2</a:t>
            </a:r>
            <a:r>
              <a:rPr dirty="0" baseline="1851" sz="4500" spc="-172"/>
              <a:t> </a:t>
            </a:r>
            <a:r>
              <a:rPr dirty="0" baseline="1851" sz="4500" spc="-30"/>
              <a:t>[10]</a:t>
            </a:r>
            <a:endParaRPr baseline="1851" sz="4500"/>
          </a:p>
        </p:txBody>
      </p:sp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507834" y="1632517"/>
            <a:ext cx="249290" cy="217937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853377" y="1978321"/>
            <a:ext cx="7229434" cy="1527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789043" y="2955419"/>
            <a:ext cx="1057475" cy="11258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197983" y="3811888"/>
            <a:ext cx="7860703" cy="19702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1379578" y="4593554"/>
            <a:ext cx="55689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45">
                <a:solidFill>
                  <a:srgbClr val="595959"/>
                </a:solidFill>
                <a:latin typeface="Cambria"/>
                <a:cs typeface="Cambria"/>
              </a:rPr>
              <a:t>f„</a:t>
            </a:r>
            <a:r>
              <a:rPr dirty="0" sz="2200" spc="200">
                <a:solidFill>
                  <a:srgbClr val="595959"/>
                </a:solidFill>
                <a:latin typeface="Cambria"/>
                <a:cs typeface="Cambria"/>
              </a:rPr>
              <a:t> </a:t>
            </a:r>
            <a:r>
              <a:rPr dirty="0" sz="2200" spc="-495">
                <a:solidFill>
                  <a:srgbClr val="4D4D4D"/>
                </a:solidFill>
                <a:latin typeface="Cambria"/>
                <a:cs typeface="Cambria"/>
              </a:rPr>
              <a:t>T•</a:t>
            </a:r>
            <a:r>
              <a:rPr dirty="0" sz="2200" spc="-495">
                <a:solidFill>
                  <a:srgbClr val="7E7E7E"/>
                </a:solidFill>
                <a:latin typeface="Cambria"/>
                <a:cs typeface="Cambria"/>
              </a:rPr>
              <a:t>.</a:t>
            </a:r>
            <a:r>
              <a:rPr dirty="0" sz="2200" spc="210">
                <a:solidFill>
                  <a:srgbClr val="7E7E7E"/>
                </a:solidFill>
                <a:latin typeface="Cambria"/>
                <a:cs typeface="Cambria"/>
              </a:rPr>
              <a:t> </a:t>
            </a:r>
            <a:r>
              <a:rPr dirty="0" sz="2200" spc="-365">
                <a:solidFill>
                  <a:srgbClr val="808080"/>
                </a:solidFill>
                <a:latin typeface="Cambria"/>
                <a:cs typeface="Cambria"/>
              </a:rPr>
              <a:t>,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248008" y="4593554"/>
            <a:ext cx="54737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40">
                <a:solidFill>
                  <a:srgbClr val="878787"/>
                </a:solidFill>
                <a:latin typeface="Cambria"/>
                <a:cs typeface="Cambria"/>
              </a:rPr>
              <a:t>.</a:t>
            </a:r>
            <a:r>
              <a:rPr dirty="0" sz="2200" spc="-170">
                <a:solidFill>
                  <a:srgbClr val="878787"/>
                </a:solidFill>
                <a:latin typeface="Cambria"/>
                <a:cs typeface="Cambria"/>
              </a:rPr>
              <a:t> </a:t>
            </a:r>
            <a:r>
              <a:rPr dirty="0" sz="2200" spc="-305">
                <a:solidFill>
                  <a:srgbClr val="545454"/>
                </a:solidFill>
                <a:latin typeface="Cambria"/>
                <a:cs typeface="Cambria"/>
              </a:rPr>
              <a:t>fi</a:t>
            </a:r>
            <a:r>
              <a:rPr dirty="0" sz="2200" spc="-305">
                <a:solidFill>
                  <a:srgbClr val="676767"/>
                </a:solidFill>
                <a:latin typeface="Cambria"/>
                <a:cs typeface="Cambria"/>
              </a:rPr>
              <a:t>liliiyi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376417" y="6354743"/>
            <a:ext cx="14922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0">
                <a:solidFill>
                  <a:srgbClr val="7B7B7B"/>
                </a:solidFill>
                <a:latin typeface="Cambria"/>
                <a:cs typeface="Cambria"/>
              </a:rPr>
              <a:t>•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506090" y="6146993"/>
            <a:ext cx="111760" cy="74168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36830">
              <a:lnSpc>
                <a:spcPct val="100000"/>
              </a:lnSpc>
              <a:spcBef>
                <a:spcPts val="275"/>
              </a:spcBef>
            </a:pPr>
            <a:r>
              <a:rPr dirty="0" sz="2200" spc="-780">
                <a:solidFill>
                  <a:srgbClr val="7C7C7C"/>
                </a:solidFill>
                <a:latin typeface="Cambria"/>
                <a:cs typeface="Cambria"/>
              </a:rPr>
              <a:t>^</a:t>
            </a:r>
            <a:endParaRPr sz="22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 sz="2200" spc="-50">
                <a:solidFill>
                  <a:srgbClr val="5D5D5D"/>
                </a:solidFill>
                <a:latin typeface="Cambria"/>
                <a:cs typeface="Cambria"/>
              </a:rPr>
              <a:t>‹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563120" y="6354743"/>
            <a:ext cx="812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85">
                <a:solidFill>
                  <a:srgbClr val="808080"/>
                </a:solidFill>
                <a:latin typeface="Cambria"/>
                <a:cs typeface="Cambria"/>
              </a:rPr>
              <a:t>-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71430" y="6612085"/>
            <a:ext cx="787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225">
                <a:solidFill>
                  <a:srgbClr val="7E7E7E"/>
                </a:solidFill>
                <a:latin typeface="Cambria"/>
                <a:cs typeface="Cambria"/>
              </a:rPr>
              <a:t>„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588428" y="6527644"/>
            <a:ext cx="8128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2200" spc="-85">
                <a:solidFill>
                  <a:srgbClr val="7E7E7E"/>
                </a:solidFill>
                <a:latin typeface="Cambria"/>
                <a:cs typeface="Cambria"/>
              </a:rPr>
              <a:t>-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11515" y="6764883"/>
            <a:ext cx="653923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8775" algn="l"/>
                <a:tab pos="4358640" algn="l"/>
                <a:tab pos="6470015" algn="l"/>
              </a:tabLst>
            </a:pPr>
            <a:r>
              <a:rPr dirty="0" sz="2200" spc="-50">
                <a:latin typeface="Cambria"/>
                <a:cs typeface="Cambria"/>
              </a:rPr>
              <a:t>.</a:t>
            </a:r>
            <a:r>
              <a:rPr dirty="0" sz="2200">
                <a:latin typeface="Cambria"/>
                <a:cs typeface="Cambria"/>
              </a:rPr>
              <a:t>	</a:t>
            </a:r>
            <a:r>
              <a:rPr dirty="0" sz="2200" spc="-50">
                <a:solidFill>
                  <a:srgbClr val="3D3D3D"/>
                </a:solidFill>
                <a:latin typeface="Cambria"/>
                <a:cs typeface="Cambria"/>
              </a:rPr>
              <a:t>.</a:t>
            </a:r>
            <a:r>
              <a:rPr dirty="0" sz="2200">
                <a:solidFill>
                  <a:srgbClr val="3D3D3D"/>
                </a:solidFill>
                <a:latin typeface="Cambria"/>
                <a:cs typeface="Cambria"/>
              </a:rPr>
              <a:t>	</a:t>
            </a:r>
            <a:r>
              <a:rPr dirty="0" sz="2200" spc="-50">
                <a:solidFill>
                  <a:srgbClr val="3F3F3F"/>
                </a:solidFill>
                <a:latin typeface="Cambria"/>
                <a:cs typeface="Cambria"/>
              </a:rPr>
              <a:t>,</a:t>
            </a:r>
            <a:r>
              <a:rPr dirty="0" sz="2200">
                <a:solidFill>
                  <a:srgbClr val="3F3F3F"/>
                </a:solidFill>
                <a:latin typeface="Cambria"/>
                <a:cs typeface="Cambria"/>
              </a:rPr>
              <a:t>	</a:t>
            </a:r>
            <a:r>
              <a:rPr dirty="0" sz="2200" spc="-210">
                <a:latin typeface="Cambria"/>
                <a:cs typeface="Cambria"/>
              </a:rPr>
              <a:t>..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542791" y="6764883"/>
            <a:ext cx="167640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95"/>
              </a:spcBef>
            </a:pPr>
            <a:r>
              <a:rPr dirty="0" sz="2200" spc="-235">
                <a:solidFill>
                  <a:srgbClr val="707070"/>
                </a:solidFill>
                <a:latin typeface="Cambria"/>
                <a:cs typeface="Cambria"/>
              </a:rPr>
              <a:t>.</a:t>
            </a:r>
            <a:r>
              <a:rPr dirty="0" sz="2200" spc="-40">
                <a:solidFill>
                  <a:srgbClr val="707070"/>
                </a:solidFill>
                <a:latin typeface="Cambria"/>
                <a:cs typeface="Cambria"/>
              </a:rPr>
              <a:t> </a:t>
            </a:r>
            <a:r>
              <a:rPr dirty="0" baseline="-31565" sz="3300" spc="-75">
                <a:solidFill>
                  <a:srgbClr val="898989"/>
                </a:solidFill>
                <a:latin typeface="Cambria"/>
                <a:cs typeface="Cambria"/>
              </a:rPr>
              <a:t>,</a:t>
            </a:r>
            <a:endParaRPr baseline="-31565" sz="33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459593" y="6925722"/>
            <a:ext cx="107314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727272"/>
                </a:solidFill>
                <a:latin typeface="Cambria"/>
                <a:cs typeface="Cambria"/>
              </a:rPr>
              <a:t>-</a:t>
            </a:r>
            <a:endParaRPr sz="2200">
              <a:latin typeface="Cambria"/>
              <a:cs typeface="Cambria"/>
            </a:endParaRPr>
          </a:p>
        </p:txBody>
      </p:sp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242928" y="7804719"/>
            <a:ext cx="647352" cy="9650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501913" y="8536537"/>
            <a:ext cx="6256395" cy="2372377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0477536" y="8117495"/>
            <a:ext cx="8789035" cy="687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baseline="2583" sz="3225" spc="195">
                <a:latin typeface="Cambria"/>
                <a:cs typeface="Cambria"/>
              </a:rPr>
              <a:t>Fig.</a:t>
            </a:r>
            <a:r>
              <a:rPr dirty="0" baseline="2583" sz="3225" spc="-179">
                <a:latin typeface="Cambria"/>
                <a:cs typeface="Cambria"/>
              </a:rPr>
              <a:t> </a:t>
            </a:r>
            <a:r>
              <a:rPr dirty="0" baseline="2583" sz="3225">
                <a:latin typeface="Cambria"/>
                <a:cs typeface="Cambria"/>
              </a:rPr>
              <a:t>8</a:t>
            </a:r>
            <a:r>
              <a:rPr dirty="0" baseline="2583" sz="3225" spc="-150">
                <a:latin typeface="Cambria"/>
                <a:cs typeface="Cambria"/>
              </a:rPr>
              <a:t> </a:t>
            </a:r>
            <a:r>
              <a:rPr dirty="0" sz="2150" spc="-25">
                <a:latin typeface="Cambria"/>
                <a:cs typeface="Cambria"/>
              </a:rPr>
              <a:t>C</a:t>
            </a:r>
            <a:r>
              <a:rPr dirty="0" baseline="2583" sz="3225" spc="-37">
                <a:latin typeface="Cambria"/>
                <a:cs typeface="Cambria"/>
              </a:rPr>
              <a:t>DnfusionmatriX</a:t>
            </a:r>
            <a:r>
              <a:rPr dirty="0" baseline="2583" sz="3225" spc="337">
                <a:latin typeface="Cambria"/>
                <a:cs typeface="Cambria"/>
              </a:rPr>
              <a:t> </a:t>
            </a:r>
            <a:r>
              <a:rPr dirty="0" baseline="2583" sz="3225" spc="-75">
                <a:latin typeface="Cambria"/>
                <a:cs typeface="Cambria"/>
              </a:rPr>
              <a:t>showing</a:t>
            </a:r>
            <a:r>
              <a:rPr dirty="0" baseline="2583" sz="3225" spc="480">
                <a:latin typeface="Cambria"/>
                <a:cs typeface="Cambria"/>
              </a:rPr>
              <a:t> </a:t>
            </a:r>
            <a:r>
              <a:rPr dirty="0" baseline="2583" sz="3225" spc="-120">
                <a:latin typeface="Cambria"/>
                <a:cs typeface="Cambria"/>
              </a:rPr>
              <a:t>the</a:t>
            </a:r>
            <a:r>
              <a:rPr dirty="0" baseline="2583" sz="3225" spc="37">
                <a:latin typeface="Cambria"/>
                <a:cs typeface="Cambria"/>
              </a:rPr>
              <a:t> </a:t>
            </a:r>
            <a:r>
              <a:rPr dirty="0" baseline="2583" sz="3225" spc="-120">
                <a:latin typeface="Cambria"/>
                <a:cs typeface="Cambria"/>
              </a:rPr>
              <a:t>performance</a:t>
            </a:r>
            <a:r>
              <a:rPr dirty="0" baseline="2583" sz="3225" spc="502">
                <a:latin typeface="Cambria"/>
                <a:cs typeface="Cambria"/>
              </a:rPr>
              <a:t> </a:t>
            </a:r>
            <a:r>
              <a:rPr dirty="0" baseline="2583" sz="3225">
                <a:latin typeface="Cambria"/>
                <a:cs typeface="Cambria"/>
              </a:rPr>
              <a:t>of</a:t>
            </a:r>
            <a:r>
              <a:rPr dirty="0" baseline="2583" sz="3225" spc="67">
                <a:latin typeface="Cambria"/>
                <a:cs typeface="Cambria"/>
              </a:rPr>
              <a:t> </a:t>
            </a:r>
            <a:r>
              <a:rPr dirty="0" baseline="2583" sz="3225" spc="-120">
                <a:latin typeface="Cambria"/>
                <a:cs typeface="Cambria"/>
              </a:rPr>
              <a:t>the</a:t>
            </a:r>
            <a:r>
              <a:rPr dirty="0" baseline="2583" sz="3225" spc="37">
                <a:latin typeface="Cambria"/>
                <a:cs typeface="Cambria"/>
              </a:rPr>
              <a:t> </a:t>
            </a:r>
            <a:r>
              <a:rPr dirty="0" baseline="2583" sz="3225" spc="-127">
                <a:latin typeface="Cambria"/>
                <a:cs typeface="Cambria"/>
              </a:rPr>
              <a:t>proposed</a:t>
            </a:r>
            <a:r>
              <a:rPr dirty="0" baseline="2583" sz="3225" spc="359">
                <a:latin typeface="Cambria"/>
                <a:cs typeface="Cambria"/>
              </a:rPr>
              <a:t> </a:t>
            </a:r>
            <a:r>
              <a:rPr dirty="0" baseline="2583" sz="3225" spc="-82">
                <a:latin typeface="Cambria"/>
                <a:cs typeface="Cambria"/>
              </a:rPr>
              <a:t>framework</a:t>
            </a:r>
            <a:endParaRPr baseline="2583" sz="3225">
              <a:latin typeface="Cambria"/>
              <a:cs typeface="Cambria"/>
            </a:endParaRPr>
          </a:p>
          <a:p>
            <a:pPr algn="ctr" marR="276860">
              <a:lnSpc>
                <a:spcPct val="100000"/>
              </a:lnSpc>
              <a:spcBef>
                <a:spcPts val="45"/>
              </a:spcBef>
            </a:pPr>
            <a:r>
              <a:rPr dirty="0" sz="2150">
                <a:latin typeface="Cambria"/>
                <a:cs typeface="Cambria"/>
              </a:rPr>
              <a:t>on</a:t>
            </a:r>
            <a:r>
              <a:rPr dirty="0" sz="2150" spc="30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the</a:t>
            </a:r>
            <a:r>
              <a:rPr dirty="0" sz="2150" spc="15">
                <a:latin typeface="Cambria"/>
                <a:cs typeface="Cambria"/>
              </a:rPr>
              <a:t> </a:t>
            </a:r>
            <a:r>
              <a:rPr dirty="0" sz="2150" spc="-65">
                <a:latin typeface="Cambria"/>
                <a:cs typeface="Cambria"/>
              </a:rPr>
              <a:t>second</a:t>
            </a:r>
            <a:r>
              <a:rPr dirty="0" sz="2150" spc="45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dataset.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0808" y="6925722"/>
            <a:ext cx="10006330" cy="34156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96595">
              <a:lnSpc>
                <a:spcPct val="100000"/>
              </a:lnSpc>
              <a:spcBef>
                <a:spcPts val="95"/>
              </a:spcBef>
            </a:pPr>
            <a:r>
              <a:rPr dirty="0" sz="2200" spc="85">
                <a:latin typeface="Cambria"/>
                <a:cs typeface="Cambria"/>
              </a:rPr>
              <a:t>Fig.</a:t>
            </a:r>
            <a:r>
              <a:rPr dirty="0" sz="2200" spc="-3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7</a:t>
            </a:r>
            <a:r>
              <a:rPr dirty="0" sz="2200" spc="-35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The</a:t>
            </a:r>
            <a:r>
              <a:rPr dirty="0" sz="2200" spc="80">
                <a:latin typeface="Cambria"/>
                <a:cs typeface="Cambria"/>
              </a:rPr>
              <a:t> </a:t>
            </a:r>
            <a:r>
              <a:rPr dirty="0" sz="2200">
                <a:latin typeface="Cambria"/>
                <a:cs typeface="Cambria"/>
              </a:rPr>
              <a:t>MobileNetV2-</a:t>
            </a:r>
            <a:r>
              <a:rPr dirty="0" sz="2200" spc="50">
                <a:latin typeface="Cambria"/>
                <a:cs typeface="Cambria"/>
              </a:rPr>
              <a:t>CBAM</a:t>
            </a:r>
            <a:r>
              <a:rPr dirty="0" sz="2200">
                <a:latin typeface="Cambria"/>
                <a:cs typeface="Cambria"/>
              </a:rPr>
              <a:t> </a:t>
            </a:r>
            <a:r>
              <a:rPr dirty="0" sz="2200" spc="-145">
                <a:latin typeface="Cambria"/>
                <a:cs typeface="Cambria"/>
              </a:rPr>
              <a:t>model</a:t>
            </a:r>
            <a:r>
              <a:rPr dirty="0" sz="2200" spc="25">
                <a:latin typeface="Cambria"/>
                <a:cs typeface="Cambria"/>
              </a:rPr>
              <a:t> </a:t>
            </a:r>
            <a:r>
              <a:rPr dirty="0" sz="2200">
                <a:solidFill>
                  <a:srgbClr val="212121"/>
                </a:solidFill>
                <a:latin typeface="Cambria"/>
                <a:cs typeface="Cambria"/>
              </a:rPr>
              <a:t>s</a:t>
            </a:r>
            <a:r>
              <a:rPr dirty="0" sz="2200" spc="235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dirty="0" sz="2200" spc="-114">
                <a:latin typeface="Cambria"/>
                <a:cs typeface="Cambria"/>
              </a:rPr>
              <a:t>performance</a:t>
            </a:r>
            <a:r>
              <a:rPr dirty="0" sz="2200" spc="340">
                <a:latin typeface="Cambria"/>
                <a:cs typeface="Cambria"/>
              </a:rPr>
              <a:t> </a:t>
            </a:r>
            <a:r>
              <a:rPr dirty="0" sz="2200" spc="-85">
                <a:latin typeface="Cambria"/>
                <a:cs typeface="Cambria"/>
              </a:rPr>
              <a:t>during</a:t>
            </a:r>
            <a:r>
              <a:rPr dirty="0" sz="2200" spc="295">
                <a:latin typeface="Cambria"/>
                <a:cs typeface="Cambria"/>
              </a:rPr>
              <a:t> </a:t>
            </a:r>
            <a:r>
              <a:rPr dirty="0" sz="2200" spc="-80">
                <a:latin typeface="Cambria"/>
                <a:cs typeface="Cambria"/>
              </a:rPr>
              <a:t>training</a:t>
            </a:r>
            <a:r>
              <a:rPr dirty="0" sz="2200" spc="225">
                <a:latin typeface="Cambria"/>
                <a:cs typeface="Cambria"/>
              </a:rPr>
              <a:t> </a:t>
            </a:r>
            <a:r>
              <a:rPr dirty="0" sz="2200" spc="-25">
                <a:latin typeface="Cambria"/>
                <a:cs typeface="Cambria"/>
              </a:rPr>
              <a:t>and</a:t>
            </a:r>
            <a:endParaRPr sz="2200">
              <a:latin typeface="Cambria"/>
              <a:cs typeface="Cambria"/>
            </a:endParaRPr>
          </a:p>
          <a:p>
            <a:pPr marL="754380">
              <a:lnSpc>
                <a:spcPts val="2505"/>
              </a:lnSpc>
              <a:spcBef>
                <a:spcPts val="135"/>
              </a:spcBef>
            </a:pPr>
            <a:r>
              <a:rPr dirty="0" sz="2150" spc="-45">
                <a:latin typeface="Cambria"/>
                <a:cs typeface="Cambria"/>
              </a:rPr>
              <a:t>validation</a:t>
            </a:r>
            <a:r>
              <a:rPr dirty="0" sz="2150" spc="5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on</a:t>
            </a:r>
            <a:r>
              <a:rPr dirty="0" sz="2150" spc="95">
                <a:latin typeface="Cambria"/>
                <a:cs typeface="Cambria"/>
              </a:rPr>
              <a:t> </a:t>
            </a:r>
            <a:r>
              <a:rPr dirty="0" sz="2150" spc="-65">
                <a:latin typeface="Cambria"/>
                <a:cs typeface="Cambria"/>
              </a:rPr>
              <a:t>the</a:t>
            </a:r>
            <a:r>
              <a:rPr dirty="0" sz="2150" spc="55">
                <a:latin typeface="Cambria"/>
                <a:cs typeface="Cambria"/>
              </a:rPr>
              <a:t> </a:t>
            </a:r>
            <a:r>
              <a:rPr dirty="0" sz="2150" spc="-45">
                <a:latin typeface="Cambria"/>
                <a:cs typeface="Cambria"/>
              </a:rPr>
              <a:t>second</a:t>
            </a:r>
            <a:r>
              <a:rPr dirty="0" sz="2150" spc="90">
                <a:latin typeface="Cambria"/>
                <a:cs typeface="Cambria"/>
              </a:rPr>
              <a:t> </a:t>
            </a:r>
            <a:r>
              <a:rPr dirty="0" sz="2150" spc="-60">
                <a:latin typeface="Cambria"/>
                <a:cs typeface="Cambria"/>
              </a:rPr>
              <a:t>dataset:</a:t>
            </a:r>
            <a:r>
              <a:rPr dirty="0" sz="2150" spc="3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(a)</a:t>
            </a:r>
            <a:r>
              <a:rPr dirty="0" sz="2150" spc="-12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Accuracy</a:t>
            </a:r>
            <a:r>
              <a:rPr dirty="0" sz="2150" spc="18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Curves</a:t>
            </a:r>
            <a:r>
              <a:rPr dirty="0" sz="2150" spc="5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(b)</a:t>
            </a:r>
            <a:r>
              <a:rPr dirty="0" sz="2150" spc="-120">
                <a:latin typeface="Cambria"/>
                <a:cs typeface="Cambria"/>
              </a:rPr>
              <a:t> </a:t>
            </a:r>
            <a:r>
              <a:rPr dirty="0" sz="2150">
                <a:latin typeface="Cambria"/>
                <a:cs typeface="Cambria"/>
              </a:rPr>
              <a:t>Loss</a:t>
            </a:r>
            <a:r>
              <a:rPr dirty="0" sz="2150" spc="30">
                <a:latin typeface="Cambria"/>
                <a:cs typeface="Cambria"/>
              </a:rPr>
              <a:t> </a:t>
            </a:r>
            <a:r>
              <a:rPr dirty="0" sz="2150" spc="-10">
                <a:latin typeface="Cambria"/>
                <a:cs typeface="Cambria"/>
              </a:rPr>
              <a:t>Curves</a:t>
            </a:r>
            <a:endParaRPr sz="2150">
              <a:latin typeface="Cambria"/>
              <a:cs typeface="Cambria"/>
            </a:endParaRPr>
          </a:p>
          <a:p>
            <a:pPr marL="388620" indent="-374015">
              <a:lnSpc>
                <a:spcPts val="2945"/>
              </a:lnSpc>
              <a:buChar char="•"/>
              <a:tabLst>
                <a:tab pos="388620" algn="l"/>
              </a:tabLst>
            </a:pPr>
            <a:r>
              <a:rPr dirty="0" sz="2600" spc="-70">
                <a:latin typeface="Calibri"/>
                <a:cs typeface="Calibri"/>
              </a:rPr>
              <a:t>Training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 spc="-50">
                <a:latin typeface="Calibri"/>
                <a:cs typeface="Calibri"/>
              </a:rPr>
              <a:t>completed</a:t>
            </a:r>
            <a:r>
              <a:rPr dirty="0" sz="2600" spc="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in</a:t>
            </a:r>
            <a:r>
              <a:rPr dirty="0" sz="2600" spc="-9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45</a:t>
            </a:r>
            <a:r>
              <a:rPr dirty="0" sz="2600" spc="-10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epochs</a:t>
            </a:r>
            <a:endParaRPr sz="2600">
              <a:latin typeface="Calibri"/>
              <a:cs typeface="Calibri"/>
            </a:endParaRPr>
          </a:p>
          <a:p>
            <a:pPr marL="388620" indent="-375920">
              <a:lnSpc>
                <a:spcPts val="3145"/>
              </a:lnSpc>
              <a:buChar char="•"/>
              <a:tabLst>
                <a:tab pos="388620" algn="l"/>
              </a:tabLst>
            </a:pPr>
            <a:r>
              <a:rPr dirty="0" sz="2750" spc="-130">
                <a:latin typeface="Calibri"/>
                <a:cs typeface="Calibri"/>
              </a:rPr>
              <a:t>Training</a:t>
            </a:r>
            <a:r>
              <a:rPr dirty="0" sz="2750" spc="25">
                <a:latin typeface="Calibri"/>
                <a:cs typeface="Calibri"/>
              </a:rPr>
              <a:t> </a:t>
            </a:r>
            <a:r>
              <a:rPr dirty="0" sz="2750" spc="-110">
                <a:latin typeface="Calibri"/>
                <a:cs typeface="Calibri"/>
              </a:rPr>
              <a:t>accuracy</a:t>
            </a:r>
            <a:r>
              <a:rPr dirty="0" sz="2750" spc="90">
                <a:latin typeface="Calibri"/>
                <a:cs typeface="Calibri"/>
              </a:rPr>
              <a:t> </a:t>
            </a:r>
            <a:r>
              <a:rPr dirty="0" sz="2750" spc="-140">
                <a:latin typeface="Calibri"/>
                <a:cs typeface="Calibri"/>
              </a:rPr>
              <a:t>-</a:t>
            </a:r>
            <a:r>
              <a:rPr dirty="0" sz="2750">
                <a:latin typeface="Calibri"/>
                <a:cs typeface="Calibri"/>
              </a:rPr>
              <a:t>&gt;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-110">
                <a:latin typeface="Calibri"/>
                <a:cs typeface="Calibri"/>
              </a:rPr>
              <a:t>Increased</a:t>
            </a:r>
            <a:r>
              <a:rPr dirty="0" sz="2750" spc="20">
                <a:latin typeface="Calibri"/>
                <a:cs typeface="Calibri"/>
              </a:rPr>
              <a:t> </a:t>
            </a:r>
            <a:r>
              <a:rPr dirty="0" sz="2750" spc="-140">
                <a:latin typeface="Calibri"/>
                <a:cs typeface="Calibri"/>
              </a:rPr>
              <a:t>from</a:t>
            </a:r>
            <a:r>
              <a:rPr dirty="0" sz="2750" spc="-15">
                <a:latin typeface="Calibri"/>
                <a:cs typeface="Calibri"/>
              </a:rPr>
              <a:t> </a:t>
            </a:r>
            <a:r>
              <a:rPr dirty="0" sz="2750" spc="220">
                <a:latin typeface="Calibri"/>
                <a:cs typeface="Calibri"/>
              </a:rPr>
              <a:t>-</a:t>
            </a:r>
            <a:r>
              <a:rPr dirty="0" sz="2750" spc="315">
                <a:latin typeface="Calibri"/>
                <a:cs typeface="Calibri"/>
              </a:rPr>
              <a:t>zgx</a:t>
            </a:r>
            <a:r>
              <a:rPr dirty="0" sz="2750" spc="-125">
                <a:latin typeface="Calibri"/>
                <a:cs typeface="Calibri"/>
              </a:rPr>
              <a:t> </a:t>
            </a:r>
            <a:r>
              <a:rPr dirty="0" sz="2750" spc="-35">
                <a:latin typeface="Calibri"/>
                <a:cs typeface="Calibri"/>
              </a:rPr>
              <a:t>to</a:t>
            </a:r>
            <a:r>
              <a:rPr dirty="0" sz="2750" spc="-18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»99e›</a:t>
            </a:r>
            <a:endParaRPr sz="2750">
              <a:latin typeface="Calibri"/>
              <a:cs typeface="Calibri"/>
            </a:endParaRPr>
          </a:p>
          <a:p>
            <a:pPr marL="393700" indent="-379095">
              <a:lnSpc>
                <a:spcPts val="3040"/>
              </a:lnSpc>
              <a:buChar char="•"/>
              <a:tabLst>
                <a:tab pos="393700" algn="l"/>
                <a:tab pos="5530215" algn="l"/>
              </a:tabLst>
            </a:pPr>
            <a:r>
              <a:rPr dirty="0" sz="2600" spc="-60">
                <a:latin typeface="Calibri"/>
                <a:cs typeface="Calibri"/>
              </a:rPr>
              <a:t>Validation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accuracy</a:t>
            </a:r>
            <a:r>
              <a:rPr dirty="0" sz="2600" spc="1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Improved</a:t>
            </a:r>
            <a:r>
              <a:rPr dirty="0" sz="2600" spc="-6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from</a:t>
            </a:r>
            <a:r>
              <a:rPr dirty="0" sz="2600">
                <a:latin typeface="Calibri"/>
                <a:cs typeface="Calibri"/>
              </a:rPr>
              <a:t>	</a:t>
            </a:r>
            <a:r>
              <a:rPr dirty="0" sz="2600" spc="-260">
                <a:latin typeface="Calibri"/>
                <a:cs typeface="Calibri"/>
              </a:rPr>
              <a:t>77°%</a:t>
            </a:r>
            <a:r>
              <a:rPr dirty="0" sz="2600" spc="114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to</a:t>
            </a:r>
            <a:r>
              <a:rPr dirty="0" sz="2600" spc="-1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*99.7%</a:t>
            </a:r>
            <a:endParaRPr sz="2600">
              <a:latin typeface="Calibri"/>
              <a:cs typeface="Calibri"/>
            </a:endParaRPr>
          </a:p>
          <a:p>
            <a:pPr marL="386080" indent="-371475">
              <a:lnSpc>
                <a:spcPts val="3055"/>
              </a:lnSpc>
              <a:buChar char="•"/>
              <a:tabLst>
                <a:tab pos="386080" algn="l"/>
              </a:tabLst>
            </a:pPr>
            <a:r>
              <a:rPr dirty="0" sz="2600" spc="-60">
                <a:latin typeface="Calibri"/>
                <a:cs typeface="Calibri"/>
              </a:rPr>
              <a:t>Validation</a:t>
            </a:r>
            <a:r>
              <a:rPr dirty="0" sz="2600" spc="-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loss</a:t>
            </a:r>
            <a:r>
              <a:rPr dirty="0" sz="2600" spc="5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-14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Decreased</a:t>
            </a:r>
            <a:r>
              <a:rPr dirty="0" sz="2600" spc="10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steadily</a:t>
            </a:r>
            <a:r>
              <a:rPr dirty="0" sz="2600" spc="50">
                <a:latin typeface="Calibri"/>
                <a:cs typeface="Calibri"/>
              </a:rPr>
              <a:t> </a:t>
            </a:r>
            <a:r>
              <a:rPr dirty="0" sz="2600" spc="-70">
                <a:latin typeface="Calibri"/>
                <a:cs typeface="Calibri"/>
              </a:rPr>
              <a:t>to</a:t>
            </a:r>
            <a:r>
              <a:rPr dirty="0" sz="2600" spc="-15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*0.42</a:t>
            </a:r>
            <a:endParaRPr sz="2600">
              <a:latin typeface="Calibri"/>
              <a:cs typeface="Calibri"/>
            </a:endParaRPr>
          </a:p>
          <a:p>
            <a:pPr marL="383540" indent="-368935">
              <a:lnSpc>
                <a:spcPts val="3055"/>
              </a:lnSpc>
              <a:buChar char="•"/>
              <a:tabLst>
                <a:tab pos="383540" algn="l"/>
                <a:tab pos="5266055" algn="l"/>
              </a:tabLst>
            </a:pPr>
            <a:r>
              <a:rPr dirty="0" sz="2600" spc="-35">
                <a:latin typeface="Calibri"/>
                <a:cs typeface="Calibri"/>
              </a:rPr>
              <a:t>Learning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35">
                <a:latin typeface="Calibri"/>
                <a:cs typeface="Calibri"/>
              </a:rPr>
              <a:t>rate</a:t>
            </a:r>
            <a:r>
              <a:rPr dirty="0" sz="2600" spc="-65">
                <a:latin typeface="Calibri"/>
                <a:cs typeface="Calibri"/>
              </a:rPr>
              <a:t> </a:t>
            </a:r>
            <a:r>
              <a:rPr dirty="0" sz="2600" spc="-40">
                <a:latin typeface="Calibri"/>
                <a:cs typeface="Calibri"/>
              </a:rPr>
              <a:t>adaptively</a:t>
            </a:r>
            <a:r>
              <a:rPr dirty="0" sz="2600" spc="-35">
                <a:latin typeface="Calibri"/>
                <a:cs typeface="Calibri"/>
              </a:rPr>
              <a:t> reduced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to</a:t>
            </a:r>
            <a:r>
              <a:rPr dirty="0" sz="2600">
                <a:latin typeface="Calibri"/>
                <a:cs typeface="Calibri"/>
              </a:rPr>
              <a:t>	2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x</a:t>
            </a:r>
            <a:r>
              <a:rPr dirty="0" sz="2600" spc="70">
                <a:latin typeface="Calibri"/>
                <a:cs typeface="Calibri"/>
              </a:rPr>
              <a:t> </a:t>
            </a:r>
            <a:r>
              <a:rPr dirty="0" sz="2600" spc="120">
                <a:latin typeface="Calibri"/>
                <a:cs typeface="Calibri"/>
              </a:rPr>
              <a:t>10-</a:t>
            </a:r>
            <a:r>
              <a:rPr dirty="0" sz="2600" spc="15">
                <a:latin typeface="Calibri"/>
                <a:cs typeface="Calibri"/>
              </a:rPr>
              <a:t>’</a:t>
            </a:r>
            <a:endParaRPr sz="2600">
              <a:latin typeface="Calibri"/>
              <a:cs typeface="Calibri"/>
            </a:endParaRPr>
          </a:p>
          <a:p>
            <a:pPr marL="387985" indent="-374015">
              <a:lnSpc>
                <a:spcPts val="3070"/>
              </a:lnSpc>
              <a:buChar char="•"/>
              <a:tabLst>
                <a:tab pos="387985" algn="l"/>
              </a:tabLst>
            </a:pPr>
            <a:r>
              <a:rPr dirty="0" sz="2600" spc="-20">
                <a:latin typeface="Calibri"/>
                <a:cs typeface="Calibri"/>
              </a:rPr>
              <a:t>SVM</a:t>
            </a:r>
            <a:r>
              <a:rPr dirty="0" sz="2600" spc="-130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classifier</a:t>
            </a:r>
            <a:r>
              <a:rPr dirty="0" sz="2600" spc="75">
                <a:latin typeface="Calibri"/>
                <a:cs typeface="Calibri"/>
              </a:rPr>
              <a:t> </a:t>
            </a:r>
            <a:r>
              <a:rPr dirty="0" sz="2600" spc="-30">
                <a:latin typeface="Calibri"/>
                <a:cs typeface="Calibri"/>
              </a:rPr>
              <a:t>trained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on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deep</a:t>
            </a:r>
            <a:r>
              <a:rPr dirty="0" sz="2600" spc="-100">
                <a:latin typeface="Calibri"/>
                <a:cs typeface="Calibri"/>
              </a:rPr>
              <a:t> </a:t>
            </a:r>
            <a:r>
              <a:rPr dirty="0" sz="2600" spc="-45">
                <a:latin typeface="Calibri"/>
                <a:cs typeface="Calibri"/>
              </a:rPr>
              <a:t>features</a:t>
            </a:r>
            <a:r>
              <a:rPr dirty="0" sz="2600" spc="-20">
                <a:latin typeface="Calibri"/>
                <a:cs typeface="Calibri"/>
              </a:rPr>
              <a:t> </a:t>
            </a:r>
            <a:r>
              <a:rPr dirty="0" sz="2600" spc="-60">
                <a:latin typeface="Calibri"/>
                <a:cs typeface="Calibri"/>
              </a:rPr>
              <a:t>-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40">
                <a:latin typeface="Calibri"/>
                <a:cs typeface="Calibri"/>
              </a:rPr>
              <a:t>Achieved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99.44%</a:t>
            </a:r>
            <a:r>
              <a:rPr dirty="0" sz="2600" spc="-50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test</a:t>
            </a:r>
            <a:r>
              <a:rPr dirty="0" sz="2600" spc="-11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accuracy</a:t>
            </a:r>
            <a:endParaRPr sz="2600">
              <a:latin typeface="Calibri"/>
              <a:cs typeface="Calibri"/>
            </a:endParaRPr>
          </a:p>
          <a:p>
            <a:pPr marL="383540" indent="-369570">
              <a:lnSpc>
                <a:spcPts val="3095"/>
              </a:lnSpc>
              <a:buChar char="•"/>
              <a:tabLst>
                <a:tab pos="383540" algn="l"/>
              </a:tabLst>
            </a:pPr>
            <a:r>
              <a:rPr dirty="0" sz="2600" spc="-35">
                <a:latin typeface="Calibri"/>
                <a:cs typeface="Calibri"/>
              </a:rPr>
              <a:t>Precision,</a:t>
            </a:r>
            <a:r>
              <a:rPr dirty="0" sz="2600" spc="55">
                <a:latin typeface="Calibri"/>
                <a:cs typeface="Calibri"/>
              </a:rPr>
              <a:t> </a:t>
            </a:r>
            <a:r>
              <a:rPr dirty="0" sz="2600" spc="-25">
                <a:latin typeface="Calibri"/>
                <a:cs typeface="Calibri"/>
              </a:rPr>
              <a:t>Recall, </a:t>
            </a:r>
            <a:r>
              <a:rPr dirty="0" sz="2600" spc="-70">
                <a:latin typeface="Calibri"/>
                <a:cs typeface="Calibri"/>
              </a:rPr>
              <a:t>F1-</a:t>
            </a:r>
            <a:r>
              <a:rPr dirty="0" sz="2600" spc="-10">
                <a:latin typeface="Calibri"/>
                <a:cs typeface="Calibri"/>
              </a:rPr>
              <a:t>score:</a:t>
            </a:r>
            <a:r>
              <a:rPr dirty="0" sz="2600" spc="6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&gt;</a:t>
            </a:r>
            <a:r>
              <a:rPr dirty="0" sz="2600" spc="-114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0.99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4606" y="566957"/>
            <a:ext cx="10751672" cy="71975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7879" rIns="0" bIns="0" rtlCol="0" vert="horz">
            <a:spAutoFit/>
          </a:bodyPr>
          <a:lstStyle/>
          <a:p>
            <a:pPr marL="1678939">
              <a:lnSpc>
                <a:spcPct val="100000"/>
              </a:lnSpc>
              <a:spcBef>
                <a:spcPts val="95"/>
              </a:spcBef>
            </a:pPr>
            <a:r>
              <a:rPr dirty="0" sz="6600" spc="-20"/>
              <a:t>Result</a:t>
            </a:r>
            <a:r>
              <a:rPr dirty="0" sz="6600" spc="-85"/>
              <a:t> </a:t>
            </a:r>
            <a:r>
              <a:rPr dirty="0" sz="6600"/>
              <a:t>Analysis</a:t>
            </a:r>
            <a:r>
              <a:rPr dirty="0" sz="6600" spc="-250"/>
              <a:t> </a:t>
            </a:r>
            <a:r>
              <a:rPr dirty="0" sz="6600"/>
              <a:t>and</a:t>
            </a:r>
            <a:r>
              <a:rPr dirty="0" sz="6600" spc="-320"/>
              <a:t> </a:t>
            </a:r>
            <a:r>
              <a:rPr dirty="0" sz="6600"/>
              <a:t>D</a:t>
            </a:r>
            <a:r>
              <a:rPr dirty="0" sz="6600"/>
              <a:t>iscussion</a:t>
            </a:r>
            <a:r>
              <a:rPr dirty="0" sz="6600" spc="1155"/>
              <a:t> </a:t>
            </a:r>
            <a:r>
              <a:rPr dirty="0" sz="6600" spc="-10"/>
              <a:t>cont.</a:t>
            </a:r>
            <a:endParaRPr sz="6600"/>
          </a:p>
        </p:txBody>
      </p:sp>
      <p:sp>
        <p:nvSpPr>
          <p:cNvPr id="4" name="object 4"/>
          <p:cNvSpPr txBox="1"/>
          <p:nvPr/>
        </p:nvSpPr>
        <p:spPr>
          <a:xfrm>
            <a:off x="1370422" y="2434289"/>
            <a:ext cx="3472179" cy="1368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24130">
              <a:lnSpc>
                <a:spcPct val="100000"/>
              </a:lnSpc>
              <a:spcBef>
                <a:spcPts val="95"/>
              </a:spcBef>
            </a:pPr>
            <a:r>
              <a:rPr dirty="0" sz="2200" spc="65">
                <a:latin typeface="Calibri"/>
                <a:cs typeface="Calibri"/>
              </a:rPr>
              <a:t>Pillai</a:t>
            </a:r>
            <a:r>
              <a:rPr dirty="0" sz="2200" spc="-95"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0A0A0A"/>
                </a:solidFill>
                <a:latin typeface="Calibri"/>
                <a:cs typeface="Calibri"/>
              </a:rPr>
              <a:t>et</a:t>
            </a:r>
            <a:r>
              <a:rPr dirty="0" sz="2200" spc="3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dirty="0" sz="2200" spc="55">
                <a:latin typeface="Calibri"/>
                <a:cs typeface="Calibri"/>
              </a:rPr>
              <a:t>al.</a:t>
            </a:r>
            <a:r>
              <a:rPr dirty="0" sz="2200" spc="15">
                <a:latin typeface="Calibri"/>
                <a:cs typeface="Calibri"/>
              </a:rPr>
              <a:t> </a:t>
            </a:r>
            <a:r>
              <a:rPr dirty="0" baseline="-7575" sz="3300">
                <a:latin typeface="Calibri"/>
                <a:cs typeface="Calibri"/>
              </a:rPr>
              <a:t>[7]</a:t>
            </a:r>
            <a:r>
              <a:rPr dirty="0" baseline="-7575" sz="3300" spc="60">
                <a:latin typeface="Calibri"/>
                <a:cs typeface="Calibri"/>
              </a:rPr>
              <a:t> </a:t>
            </a:r>
            <a:r>
              <a:rPr dirty="0" baseline="-7575" sz="3300">
                <a:solidFill>
                  <a:srgbClr val="444444"/>
                </a:solidFill>
                <a:latin typeface="Calibri"/>
                <a:cs typeface="Calibri"/>
              </a:rPr>
              <a:t>-</a:t>
            </a:r>
            <a:r>
              <a:rPr dirty="0" baseline="-7575" sz="3300" spc="292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dirty="0" sz="2200" spc="30">
                <a:latin typeface="Calibri"/>
                <a:cs typeface="Calibri"/>
              </a:rPr>
              <a:t>202a</a:t>
            </a:r>
            <a:endParaRPr sz="2200">
              <a:latin typeface="Calibri"/>
              <a:cs typeface="Calibri"/>
            </a:endParaRPr>
          </a:p>
          <a:p>
            <a:pPr algn="ctr" marL="19685">
              <a:lnSpc>
                <a:spcPct val="100000"/>
              </a:lnSpc>
              <a:spcBef>
                <a:spcPts val="2155"/>
              </a:spcBef>
            </a:pPr>
            <a:r>
              <a:rPr dirty="0" sz="2250" spc="-50">
                <a:latin typeface="Arial"/>
                <a:cs typeface="Arial"/>
              </a:rPr>
              <a:t>Tariq</a:t>
            </a:r>
            <a:r>
              <a:rPr dirty="0" sz="2250" spc="-8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et</a:t>
            </a:r>
            <a:r>
              <a:rPr dirty="0" sz="2250" spc="-110">
                <a:latin typeface="Arial"/>
                <a:cs typeface="Arial"/>
              </a:rPr>
              <a:t> </a:t>
            </a:r>
            <a:r>
              <a:rPr dirty="0" sz="2250" spc="-20">
                <a:latin typeface="Arial"/>
                <a:cs typeface="Arial"/>
              </a:rPr>
              <a:t>al.</a:t>
            </a:r>
            <a:r>
              <a:rPr dirty="0" sz="2250" spc="-45"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0F0F0F"/>
                </a:solidFill>
                <a:latin typeface="Arial"/>
                <a:cs typeface="Arial"/>
              </a:rPr>
              <a:t>[8]</a:t>
            </a:r>
            <a:r>
              <a:rPr dirty="0" sz="2250" spc="-4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dirty="0" baseline="-7407" sz="3375" spc="-225">
                <a:solidFill>
                  <a:srgbClr val="444444"/>
                </a:solidFill>
                <a:latin typeface="Arial"/>
                <a:cs typeface="Arial"/>
              </a:rPr>
              <a:t>-</a:t>
            </a:r>
            <a:r>
              <a:rPr dirty="0" baseline="-7407" sz="3375" spc="-7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dirty="0" baseline="-7407" sz="3375" spc="270" i="1">
                <a:latin typeface="Arial"/>
                <a:cs typeface="Arial"/>
              </a:rPr>
              <a:t>•*^4</a:t>
            </a:r>
            <a:endParaRPr baseline="-7407" sz="3375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250">
                <a:latin typeface="Arial"/>
                <a:cs typeface="Arial"/>
              </a:rPr>
              <a:t>Theelhagiri</a:t>
            </a:r>
            <a:r>
              <a:rPr dirty="0" sz="2250" spc="125">
                <a:latin typeface="Arial"/>
                <a:cs typeface="Arial"/>
              </a:rPr>
              <a:t> </a:t>
            </a:r>
            <a:r>
              <a:rPr dirty="0" sz="2250">
                <a:latin typeface="Arial"/>
                <a:cs typeface="Arial"/>
              </a:rPr>
              <a:t>et</a:t>
            </a:r>
            <a:r>
              <a:rPr dirty="0" sz="2250" spc="45">
                <a:latin typeface="Arial"/>
                <a:cs typeface="Arial"/>
              </a:rPr>
              <a:t> </a:t>
            </a:r>
            <a:r>
              <a:rPr dirty="0" sz="2250" spc="-60">
                <a:latin typeface="Arial"/>
                <a:cs typeface="Arial"/>
              </a:rPr>
              <a:t>al.</a:t>
            </a:r>
            <a:r>
              <a:rPr dirty="0" sz="2250" spc="-70">
                <a:latin typeface="Arial"/>
                <a:cs typeface="Arial"/>
              </a:rPr>
              <a:t> </a:t>
            </a:r>
            <a:r>
              <a:rPr dirty="0" baseline="-13580" sz="3375">
                <a:latin typeface="Arial"/>
                <a:cs typeface="Arial"/>
              </a:rPr>
              <a:t>[9]</a:t>
            </a:r>
            <a:r>
              <a:rPr dirty="0" baseline="-13580" sz="3375" spc="187">
                <a:latin typeface="Arial"/>
                <a:cs typeface="Arial"/>
              </a:rPr>
              <a:t> </a:t>
            </a:r>
            <a:r>
              <a:rPr dirty="0" baseline="-13580" sz="3375" spc="-217">
                <a:solidFill>
                  <a:srgbClr val="464646"/>
                </a:solidFill>
                <a:latin typeface="Arial"/>
                <a:cs typeface="Arial"/>
              </a:rPr>
              <a:t>-</a:t>
            </a:r>
            <a:r>
              <a:rPr dirty="0" baseline="-13580" sz="3375" spc="7">
                <a:solidFill>
                  <a:srgbClr val="464646"/>
                </a:solidFill>
                <a:latin typeface="Arial"/>
                <a:cs typeface="Arial"/>
              </a:rPr>
              <a:t> </a:t>
            </a:r>
            <a:r>
              <a:rPr dirty="0" baseline="-7407" sz="3375" i="1">
                <a:latin typeface="Arial"/>
                <a:cs typeface="Arial"/>
              </a:rPr>
              <a:t>^</a:t>
            </a:r>
            <a:r>
              <a:rPr dirty="0" baseline="-7407" sz="3375" spc="225" i="1">
                <a:latin typeface="Arial"/>
                <a:cs typeface="Arial"/>
              </a:rPr>
              <a:t>  </a:t>
            </a:r>
            <a:r>
              <a:rPr dirty="0" baseline="-7407" sz="3375" spc="-37" i="1">
                <a:latin typeface="Arial"/>
                <a:cs typeface="Arial"/>
              </a:rPr>
              <a:t>+k</a:t>
            </a:r>
            <a:endParaRPr baseline="-7407" sz="3375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9180" y="4023692"/>
            <a:ext cx="1969770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500">
                <a:latin typeface="Calibri"/>
                <a:cs typeface="Calibri"/>
              </a:rPr>
              <a:t>Liu</a:t>
            </a:r>
            <a:r>
              <a:rPr dirty="0" sz="2500" spc="-140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et</a:t>
            </a:r>
            <a:r>
              <a:rPr dirty="0" sz="2500" spc="-80">
                <a:latin typeface="Calibri"/>
                <a:cs typeface="Calibri"/>
              </a:rPr>
              <a:t> </a:t>
            </a:r>
            <a:r>
              <a:rPr dirty="0" sz="2500" spc="-60">
                <a:latin typeface="Calibri"/>
                <a:cs typeface="Calibri"/>
              </a:rPr>
              <a:t>al.</a:t>
            </a:r>
            <a:r>
              <a:rPr dirty="0" sz="2500" spc="-125">
                <a:latin typeface="Calibri"/>
                <a:cs typeface="Calibri"/>
              </a:rPr>
              <a:t> </a:t>
            </a:r>
            <a:r>
              <a:rPr dirty="0" sz="2500">
                <a:latin typeface="Calibri"/>
                <a:cs typeface="Calibri"/>
              </a:rPr>
              <a:t>[zo]</a:t>
            </a:r>
            <a:r>
              <a:rPr dirty="0" sz="2500" spc="-15">
                <a:latin typeface="Calibri"/>
                <a:cs typeface="Calibri"/>
              </a:rPr>
              <a:t> </a:t>
            </a:r>
            <a:r>
              <a:rPr dirty="0" sz="2500" spc="-100">
                <a:latin typeface="Calibri"/>
                <a:cs typeface="Calibri"/>
              </a:rPr>
              <a:t>-</a:t>
            </a:r>
            <a:r>
              <a:rPr dirty="0" sz="2500" spc="-50">
                <a:latin typeface="Calibri"/>
                <a:cs typeface="Calibri"/>
              </a:rPr>
              <a:t> </a:t>
            </a:r>
            <a:r>
              <a:rPr dirty="0" baseline="-6666" sz="3750" spc="-75">
                <a:latin typeface="Calibri"/>
                <a:cs typeface="Calibri"/>
              </a:rPr>
              <a:t>›</a:t>
            </a:r>
            <a:endParaRPr baseline="-6666" sz="3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99618" y="4059882"/>
            <a:ext cx="332105" cy="407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500" spc="-25">
                <a:latin typeface="Calibri"/>
                <a:cs typeface="Calibri"/>
              </a:rPr>
              <a:t>*4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58759" y="4583278"/>
            <a:ext cx="2917190" cy="86233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dirty="0" sz="2350">
                <a:latin typeface="Calibri"/>
                <a:cs typeface="Calibri"/>
              </a:rPr>
              <a:t>Proposed</a:t>
            </a:r>
            <a:r>
              <a:rPr dirty="0" sz="2350" spc="210">
                <a:latin typeface="Calibri"/>
                <a:cs typeface="Calibri"/>
              </a:rPr>
              <a:t> </a:t>
            </a:r>
            <a:r>
              <a:rPr dirty="0" sz="2350">
                <a:latin typeface="Calibri"/>
                <a:cs typeface="Calibri"/>
              </a:rPr>
              <a:t>Framework</a:t>
            </a:r>
            <a:r>
              <a:rPr dirty="0" sz="2350" spc="80">
                <a:latin typeface="Calibri"/>
                <a:cs typeface="Calibri"/>
              </a:rPr>
              <a:t>  </a:t>
            </a:r>
            <a:r>
              <a:rPr dirty="0" sz="2350" spc="-50">
                <a:latin typeface="Calibri"/>
                <a:cs typeface="Calibri"/>
              </a:rPr>
              <a:t>-</a:t>
            </a:r>
            <a:endParaRPr sz="2350">
              <a:latin typeface="Calibri"/>
              <a:cs typeface="Calibri"/>
            </a:endParaRPr>
          </a:p>
          <a:p>
            <a:pPr algn="ctr" marR="311785">
              <a:lnSpc>
                <a:spcPct val="100000"/>
              </a:lnSpc>
              <a:spcBef>
                <a:spcPts val="475"/>
              </a:spcBef>
            </a:pPr>
            <a:r>
              <a:rPr dirty="0" sz="2350" spc="100">
                <a:latin typeface="Calibri"/>
                <a:cs typeface="Calibri"/>
              </a:rPr>
              <a:t>zoz6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2102" y="2134679"/>
            <a:ext cx="3049905" cy="3310890"/>
          </a:xfrm>
          <a:prstGeom prst="rect">
            <a:avLst/>
          </a:prstGeom>
        </p:spPr>
        <p:txBody>
          <a:bodyPr wrap="square" lIns="0" tIns="78105" rIns="0" bIns="0" rtlCol="0" vert="horz">
            <a:spAutoFit/>
          </a:bodyPr>
          <a:lstStyle/>
          <a:p>
            <a:pPr algn="r" marR="147320">
              <a:lnSpc>
                <a:spcPct val="100000"/>
              </a:lnSpc>
              <a:spcBef>
                <a:spcPts val="615"/>
              </a:spcBef>
            </a:pPr>
            <a:r>
              <a:rPr dirty="0" sz="2300">
                <a:latin typeface="Calibri"/>
                <a:cs typeface="Calibri"/>
              </a:rPr>
              <a:t>Fusion</a:t>
            </a:r>
            <a:r>
              <a:rPr dirty="0" sz="2300" spc="114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model</a:t>
            </a:r>
            <a:r>
              <a:rPr dirty="0" sz="2300" spc="10">
                <a:latin typeface="Calibri"/>
                <a:cs typeface="Calibri"/>
              </a:rPr>
              <a:t> </a:t>
            </a:r>
            <a:r>
              <a:rPr dirty="0" sz="2300" spc="90">
                <a:latin typeface="Calibri"/>
                <a:cs typeface="Calibri"/>
              </a:rPr>
              <a:t>(CNN</a:t>
            </a:r>
            <a:r>
              <a:rPr dirty="0" sz="2300" spc="105">
                <a:latin typeface="Calibri"/>
                <a:cs typeface="Calibri"/>
              </a:rPr>
              <a:t> </a:t>
            </a:r>
            <a:r>
              <a:rPr dirty="0" sz="2300" spc="-50">
                <a:solidFill>
                  <a:srgbClr val="444444"/>
                </a:solidFill>
                <a:latin typeface="Calibri"/>
                <a:cs typeface="Calibri"/>
              </a:rPr>
              <a:t>+</a:t>
            </a:r>
            <a:endParaRPr sz="2300">
              <a:latin typeface="Calibri"/>
              <a:cs typeface="Calibri"/>
            </a:endParaRPr>
          </a:p>
          <a:p>
            <a:pPr algn="r" marR="145415">
              <a:lnSpc>
                <a:spcPct val="100000"/>
              </a:lnSpc>
              <a:spcBef>
                <a:spcPts val="520"/>
              </a:spcBef>
            </a:pPr>
            <a:r>
              <a:rPr dirty="0" sz="2250" spc="105">
                <a:latin typeface="Calibri"/>
                <a:cs typeface="Calibri"/>
              </a:rPr>
              <a:t>VGGz6</a:t>
            </a:r>
            <a:r>
              <a:rPr dirty="0" sz="2250" spc="220">
                <a:latin typeface="Calibri"/>
                <a:cs typeface="Calibri"/>
              </a:rPr>
              <a:t> </a:t>
            </a:r>
            <a:r>
              <a:rPr dirty="0" sz="2250">
                <a:latin typeface="Calibri"/>
                <a:cs typeface="Calibri"/>
              </a:rPr>
              <a:t>+</a:t>
            </a:r>
            <a:r>
              <a:rPr dirty="0" sz="2250" spc="95">
                <a:latin typeface="Calibri"/>
                <a:cs typeface="Calibri"/>
              </a:rPr>
              <a:t> </a:t>
            </a:r>
            <a:r>
              <a:rPr dirty="0" sz="2250">
                <a:latin typeface="Calibri"/>
                <a:cs typeface="Calibri"/>
              </a:rPr>
              <a:t>Decision</a:t>
            </a:r>
            <a:r>
              <a:rPr dirty="0" sz="2250" spc="165">
                <a:latin typeface="Calibri"/>
                <a:cs typeface="Calibri"/>
              </a:rPr>
              <a:t> </a:t>
            </a:r>
            <a:r>
              <a:rPr dirty="0" sz="2250" spc="-10">
                <a:latin typeface="Calibri"/>
                <a:cs typeface="Calibri"/>
              </a:rPr>
              <a:t>Tree)</a:t>
            </a:r>
            <a:endParaRPr sz="2250">
              <a:latin typeface="Calibri"/>
              <a:cs typeface="Calibri"/>
            </a:endParaRPr>
          </a:p>
          <a:p>
            <a:pPr marL="414020" marR="5080" indent="-229235">
              <a:lnSpc>
                <a:spcPct val="117200"/>
              </a:lnSpc>
              <a:spcBef>
                <a:spcPts val="35"/>
              </a:spcBef>
            </a:pPr>
            <a:r>
              <a:rPr dirty="0" sz="2250">
                <a:latin typeface="Calibri"/>
                <a:cs typeface="Calibri"/>
              </a:rPr>
              <a:t>VGG:z6</a:t>
            </a:r>
            <a:r>
              <a:rPr dirty="0" sz="2250" spc="135">
                <a:latin typeface="Calibri"/>
                <a:cs typeface="Calibri"/>
              </a:rPr>
              <a:t> </a:t>
            </a:r>
            <a:r>
              <a:rPr dirty="0" sz="2250">
                <a:solidFill>
                  <a:srgbClr val="1A1A1A"/>
                </a:solidFill>
                <a:latin typeface="Calibri"/>
                <a:cs typeface="Calibri"/>
              </a:rPr>
              <a:t>+</a:t>
            </a:r>
            <a:r>
              <a:rPr dirty="0" sz="2250" spc="215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dirty="0" sz="2250">
                <a:latin typeface="Calibri"/>
                <a:cs typeface="Calibri"/>
              </a:rPr>
              <a:t>Explainable</a:t>
            </a:r>
            <a:r>
              <a:rPr dirty="0" sz="2250" spc="105">
                <a:latin typeface="Calibri"/>
                <a:cs typeface="Calibri"/>
              </a:rPr>
              <a:t> </a:t>
            </a:r>
            <a:r>
              <a:rPr dirty="0" sz="2250" spc="25">
                <a:latin typeface="Calibri"/>
                <a:cs typeface="Calibri"/>
              </a:rPr>
              <a:t>AI </a:t>
            </a:r>
            <a:r>
              <a:rPr dirty="0" sz="2250" spc="80">
                <a:latin typeface="Calibri"/>
                <a:cs typeface="Calibri"/>
              </a:rPr>
              <a:t>Deep</a:t>
            </a:r>
            <a:r>
              <a:rPr dirty="0" sz="2250" spc="30">
                <a:latin typeface="Calibri"/>
                <a:cs typeface="Calibri"/>
              </a:rPr>
              <a:t> </a:t>
            </a:r>
            <a:r>
              <a:rPr dirty="0" sz="2250" spc="40">
                <a:latin typeface="Calibri"/>
                <a:cs typeface="Calibri"/>
              </a:rPr>
              <a:t>SqueezeNet </a:t>
            </a:r>
            <a:r>
              <a:rPr dirty="0" sz="2350">
                <a:latin typeface="Calibri"/>
                <a:cs typeface="Calibri"/>
              </a:rPr>
              <a:t>Multi-Scale</a:t>
            </a:r>
            <a:r>
              <a:rPr dirty="0" sz="2350" spc="50">
                <a:latin typeface="Calibri"/>
                <a:cs typeface="Calibri"/>
              </a:rPr>
              <a:t> </a:t>
            </a:r>
            <a:r>
              <a:rPr dirty="0" sz="2350" spc="-10">
                <a:latin typeface="Calibri"/>
                <a:cs typeface="Calibri"/>
              </a:rPr>
              <a:t>Feature </a:t>
            </a:r>
            <a:r>
              <a:rPr dirty="0" sz="2300">
                <a:latin typeface="Calibri"/>
                <a:cs typeface="Calibri"/>
              </a:rPr>
              <a:t>Fusion</a:t>
            </a:r>
            <a:r>
              <a:rPr dirty="0" sz="2300" spc="95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Network</a:t>
            </a:r>
            <a:endParaRPr sz="2300">
              <a:latin typeface="Calibri"/>
              <a:cs typeface="Calibri"/>
            </a:endParaRPr>
          </a:p>
          <a:p>
            <a:pPr algn="ctr" marL="161925">
              <a:lnSpc>
                <a:spcPct val="100000"/>
              </a:lnSpc>
              <a:spcBef>
                <a:spcPts val="355"/>
              </a:spcBef>
            </a:pPr>
            <a:r>
              <a:rPr dirty="0" sz="2350" spc="80">
                <a:latin typeface="Calibri"/>
                <a:cs typeface="Calibri"/>
              </a:rPr>
              <a:t>MobileNetVz-</a:t>
            </a:r>
            <a:r>
              <a:rPr dirty="0" sz="2350" spc="110">
                <a:latin typeface="Calibri"/>
                <a:cs typeface="Calibri"/>
              </a:rPr>
              <a:t>CBAM</a:t>
            </a:r>
            <a:r>
              <a:rPr dirty="0" sz="2350" spc="-160">
                <a:latin typeface="Calibri"/>
                <a:cs typeface="Calibri"/>
              </a:rPr>
              <a:t> </a:t>
            </a:r>
            <a:r>
              <a:rPr dirty="0" sz="2350" spc="-50">
                <a:latin typeface="Calibri"/>
                <a:cs typeface="Calibri"/>
              </a:rPr>
              <a:t>+</a:t>
            </a:r>
            <a:endParaRPr sz="2350">
              <a:latin typeface="Calibri"/>
              <a:cs typeface="Calibri"/>
            </a:endParaRPr>
          </a:p>
          <a:p>
            <a:pPr algn="ctr" marR="119380">
              <a:lnSpc>
                <a:spcPct val="100000"/>
              </a:lnSpc>
              <a:spcBef>
                <a:spcPts val="470"/>
              </a:spcBef>
            </a:pPr>
            <a:r>
              <a:rPr dirty="0" sz="2350" spc="70">
                <a:latin typeface="Calibri"/>
                <a:cs typeface="Calibri"/>
              </a:rPr>
              <a:t>SVM</a:t>
            </a:r>
            <a:endParaRPr sz="2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228139" y="2362357"/>
            <a:ext cx="786765" cy="2098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baseline="-10683" sz="3900" spc="-37">
                <a:latin typeface="Calibri"/>
                <a:cs typeface="Calibri"/>
              </a:rPr>
              <a:t>9</a:t>
            </a:r>
            <a:r>
              <a:rPr dirty="0" sz="2600" spc="-25">
                <a:latin typeface="Calibri"/>
                <a:cs typeface="Calibri"/>
              </a:rPr>
              <a:t>6</a:t>
            </a:r>
            <a:endParaRPr sz="2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895"/>
              </a:spcBef>
            </a:pPr>
            <a:r>
              <a:rPr dirty="0" baseline="-12731" sz="3600" spc="-15">
                <a:latin typeface="Cambria"/>
                <a:cs typeface="Cambria"/>
              </a:rPr>
              <a:t>94</a:t>
            </a:r>
            <a:r>
              <a:rPr dirty="0" sz="2400" spc="-10">
                <a:latin typeface="Cambria"/>
                <a:cs typeface="Cambria"/>
              </a:rPr>
              <a:t>.6/</a:t>
            </a:r>
            <a:endParaRPr sz="2400">
              <a:latin typeface="Cambria"/>
              <a:cs typeface="Cambria"/>
            </a:endParaRPr>
          </a:p>
          <a:p>
            <a:pPr algn="ctr" marR="26034">
              <a:lnSpc>
                <a:spcPct val="100000"/>
              </a:lnSpc>
              <a:spcBef>
                <a:spcPts val="935"/>
              </a:spcBef>
            </a:pPr>
            <a:r>
              <a:rPr dirty="0" sz="2350" spc="-25">
                <a:latin typeface="Cambria"/>
                <a:cs typeface="Cambria"/>
              </a:rPr>
              <a:t>97</a:t>
            </a:r>
            <a:endParaRPr sz="2350">
              <a:latin typeface="Cambria"/>
              <a:cs typeface="Cambria"/>
            </a:endParaRPr>
          </a:p>
          <a:p>
            <a:pPr algn="ctr" marR="43180">
              <a:lnSpc>
                <a:spcPct val="100000"/>
              </a:lnSpc>
              <a:spcBef>
                <a:spcPts val="1935"/>
              </a:spcBef>
            </a:pPr>
            <a:r>
              <a:rPr dirty="0" sz="2250" spc="-204">
                <a:latin typeface="Times New Roman"/>
                <a:cs typeface="Times New Roman"/>
              </a:rPr>
              <a:t>97-</a:t>
            </a:r>
            <a:r>
              <a:rPr dirty="0" sz="2250" spc="-200">
                <a:latin typeface="Times New Roman"/>
                <a:cs typeface="Times New Roman"/>
              </a:rPr>
              <a:t>h-</a:t>
            </a:r>
            <a:r>
              <a:rPr dirty="0" sz="2250" spc="-305">
                <a:latin typeface="Times New Roman"/>
                <a:cs typeface="Times New Roman"/>
              </a:rPr>
              <a:t>S</a:t>
            </a:r>
            <a:endParaRPr sz="22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98668" y="4869885"/>
            <a:ext cx="761365" cy="4343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50" spc="-445">
                <a:latin typeface="Courier New"/>
                <a:cs typeface="Courier New"/>
              </a:rPr>
              <a:t>9#.**</a:t>
            </a:r>
            <a:endParaRPr sz="265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8624" y="5505646"/>
            <a:ext cx="10415905" cy="7429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ts val="2690"/>
              </a:lnSpc>
              <a:spcBef>
                <a:spcPts val="130"/>
              </a:spcBef>
            </a:pPr>
            <a:r>
              <a:rPr dirty="0" sz="2300" spc="55">
                <a:latin typeface="Times New Roman"/>
                <a:cs typeface="Times New Roman"/>
              </a:rPr>
              <a:t>Table</a:t>
            </a:r>
            <a:r>
              <a:rPr dirty="0" sz="2300" spc="-130">
                <a:latin typeface="Times New Roman"/>
                <a:cs typeface="Times New Roman"/>
              </a:rPr>
              <a:t> </a:t>
            </a:r>
            <a:r>
              <a:rPr dirty="0" sz="2300" spc="65">
                <a:latin typeface="Times New Roman"/>
                <a:cs typeface="Times New Roman"/>
              </a:rPr>
              <a:t>1.</a:t>
            </a:r>
            <a:r>
              <a:rPr dirty="0" sz="2300" spc="-1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Performance</a:t>
            </a:r>
            <a:r>
              <a:rPr dirty="0" sz="2300" spc="10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comparison</a:t>
            </a:r>
            <a:r>
              <a:rPr dirty="0" sz="2300" spc="19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of</a:t>
            </a:r>
            <a:r>
              <a:rPr dirty="0" sz="2300" spc="5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recent</a:t>
            </a:r>
            <a:r>
              <a:rPr dirty="0" sz="2300" spc="160">
                <a:latin typeface="Times New Roman"/>
                <a:cs typeface="Times New Roman"/>
              </a:rPr>
              <a:t> </a:t>
            </a:r>
            <a:r>
              <a:rPr dirty="0" sz="2300" spc="-10">
                <a:latin typeface="Times New Roman"/>
                <a:cs typeface="Times New Roman"/>
              </a:rPr>
              <a:t>methods</a:t>
            </a:r>
            <a:r>
              <a:rPr dirty="0" sz="2300" spc="220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versus</a:t>
            </a:r>
            <a:r>
              <a:rPr dirty="0" sz="2300" spc="2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the</a:t>
            </a:r>
            <a:r>
              <a:rPr dirty="0" sz="2300" spc="-5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proposed</a:t>
            </a:r>
            <a:r>
              <a:rPr dirty="0" sz="2300" spc="135">
                <a:latin typeface="Times New Roman"/>
                <a:cs typeface="Times New Roman"/>
              </a:rPr>
              <a:t> </a:t>
            </a:r>
            <a:r>
              <a:rPr dirty="0" sz="2300">
                <a:latin typeface="Times New Roman"/>
                <a:cs typeface="Times New Roman"/>
              </a:rPr>
              <a:t>framework</a:t>
            </a:r>
            <a:r>
              <a:rPr dirty="0" sz="2300" spc="100">
                <a:latin typeface="Times New Roman"/>
                <a:cs typeface="Times New Roman"/>
              </a:rPr>
              <a:t> </a:t>
            </a:r>
            <a:r>
              <a:rPr dirty="0" sz="2300" spc="-25">
                <a:latin typeface="Times New Roman"/>
                <a:cs typeface="Times New Roman"/>
              </a:rPr>
              <a:t>on</a:t>
            </a:r>
            <a:endParaRPr sz="2300">
              <a:latin typeface="Times New Roman"/>
              <a:cs typeface="Times New Roman"/>
            </a:endParaRPr>
          </a:p>
          <a:p>
            <a:pPr algn="ctr" marR="302260">
              <a:lnSpc>
                <a:spcPts val="2930"/>
              </a:lnSpc>
            </a:pPr>
            <a:r>
              <a:rPr dirty="0" sz="2500" spc="-95">
                <a:latin typeface="Times New Roman"/>
                <a:cs typeface="Times New Roman"/>
              </a:rPr>
              <a:t>the</a:t>
            </a:r>
            <a:r>
              <a:rPr dirty="0" sz="2500" spc="-25">
                <a:latin typeface="Times New Roman"/>
                <a:cs typeface="Times New Roman"/>
              </a:rPr>
              <a:t> </a:t>
            </a:r>
            <a:r>
              <a:rPr dirty="0" sz="2500" spc="-80">
                <a:latin typeface="Times New Roman"/>
                <a:cs typeface="Times New Roman"/>
              </a:rPr>
              <a:t>rirst</a:t>
            </a:r>
            <a:r>
              <a:rPr dirty="0" sz="2500" spc="-70">
                <a:latin typeface="Times New Roman"/>
                <a:cs typeface="Times New Roman"/>
              </a:rPr>
              <a:t> </a:t>
            </a:r>
            <a:r>
              <a:rPr dirty="0" sz="2500" spc="-10">
                <a:latin typeface="Times New Roman"/>
                <a:cs typeface="Times New Roman"/>
              </a:rPr>
              <a:t>daiaset.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09628" y="6703898"/>
            <a:ext cx="2242185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55">
                <a:latin typeface="Arial"/>
                <a:cs typeface="Arial"/>
              </a:rPr>
              <a:t>Li</a:t>
            </a:r>
            <a:r>
              <a:rPr dirty="0" sz="2300" spc="-14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et</a:t>
            </a:r>
            <a:r>
              <a:rPr dirty="0" sz="2300" spc="-160">
                <a:latin typeface="Arial"/>
                <a:cs typeface="Arial"/>
              </a:rPr>
              <a:t> </a:t>
            </a:r>
            <a:r>
              <a:rPr dirty="0" sz="2300" spc="-75">
                <a:latin typeface="Arial"/>
                <a:cs typeface="Arial"/>
              </a:rPr>
              <a:t>al.</a:t>
            </a:r>
            <a:r>
              <a:rPr dirty="0" sz="2300" spc="-16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[zz]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-</a:t>
            </a:r>
            <a:r>
              <a:rPr dirty="0" sz="2300" spc="10">
                <a:latin typeface="Arial"/>
                <a:cs typeface="Arial"/>
              </a:rPr>
              <a:t> </a:t>
            </a:r>
            <a:r>
              <a:rPr dirty="0" sz="2300" spc="-20">
                <a:latin typeface="Arial"/>
                <a:cs typeface="Arial"/>
              </a:rPr>
              <a:t>zozz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05810" y="7134143"/>
            <a:ext cx="1917064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300" spc="-114">
                <a:latin typeface="Arial"/>
                <a:cs typeface="Arial"/>
              </a:rPr>
              <a:t>Hu</a:t>
            </a:r>
            <a:r>
              <a:rPr dirty="0" sz="2300" spc="-145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et</a:t>
            </a:r>
            <a:r>
              <a:rPr dirty="0" sz="2300" spc="-35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al. </a:t>
            </a:r>
            <a:r>
              <a:rPr dirty="0" sz="2300">
                <a:latin typeface="Arial"/>
                <a:cs typeface="Arial"/>
              </a:rPr>
              <a:t>[zz]</a:t>
            </a:r>
            <a:r>
              <a:rPr dirty="0" sz="2300" spc="-70">
                <a:latin typeface="Arial"/>
                <a:cs typeface="Arial"/>
              </a:rPr>
              <a:t> </a:t>
            </a:r>
            <a:r>
              <a:rPr dirty="0" baseline="-6038" sz="3450" spc="-307" i="1">
                <a:latin typeface="Arial"/>
                <a:cs typeface="Arial"/>
              </a:rPr>
              <a:t>-</a:t>
            </a:r>
            <a:r>
              <a:rPr dirty="0" baseline="-6038" sz="3450" spc="-75" i="1">
                <a:latin typeface="Arial"/>
                <a:cs typeface="Arial"/>
              </a:rPr>
              <a:t> •</a:t>
            </a:r>
            <a:endParaRPr baseline="-6038" sz="34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004827" y="7166310"/>
            <a:ext cx="326390" cy="3810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00" spc="-25" i="1">
                <a:latin typeface="Arial"/>
                <a:cs typeface="Arial"/>
              </a:rPr>
              <a:t>^4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594208" y="7518593"/>
            <a:ext cx="3100705" cy="202501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dirty="0" sz="2300" spc="-100">
                <a:latin typeface="Arial"/>
                <a:cs typeface="Arial"/>
              </a:rPr>
              <a:t>Bachhal</a:t>
            </a:r>
            <a:r>
              <a:rPr dirty="0" sz="2300" spc="-50">
                <a:latin typeface="Arial"/>
                <a:cs typeface="Arial"/>
              </a:rPr>
              <a:t> </a:t>
            </a:r>
            <a:r>
              <a:rPr dirty="0" sz="2300">
                <a:latin typeface="Arial"/>
                <a:cs typeface="Arial"/>
              </a:rPr>
              <a:t>et</a:t>
            </a:r>
            <a:r>
              <a:rPr dirty="0" sz="2300" spc="-30">
                <a:latin typeface="Arial"/>
                <a:cs typeface="Arial"/>
              </a:rPr>
              <a:t> </a:t>
            </a:r>
            <a:r>
              <a:rPr dirty="0" sz="2300" spc="-65">
                <a:latin typeface="Arial"/>
                <a:cs typeface="Arial"/>
              </a:rPr>
              <a:t>al.</a:t>
            </a:r>
            <a:r>
              <a:rPr dirty="0" sz="2300" spc="-95">
                <a:latin typeface="Arial"/>
                <a:cs typeface="Arial"/>
              </a:rPr>
              <a:t> </a:t>
            </a:r>
            <a:r>
              <a:rPr dirty="0" baseline="6038" sz="3450" spc="-60">
                <a:latin typeface="Arial"/>
                <a:cs typeface="Arial"/>
              </a:rPr>
              <a:t>[1</a:t>
            </a:r>
            <a:r>
              <a:rPr dirty="0" baseline="-6038" sz="3450" spc="-60">
                <a:latin typeface="Arial"/>
                <a:cs typeface="Arial"/>
              </a:rPr>
              <a:t>3]</a:t>
            </a:r>
            <a:r>
              <a:rPr dirty="0" baseline="-6038" sz="3450" spc="-450">
                <a:latin typeface="Arial"/>
                <a:cs typeface="Arial"/>
              </a:rPr>
              <a:t> </a:t>
            </a:r>
            <a:r>
              <a:rPr dirty="0" baseline="-9661" sz="3450" spc="-254">
                <a:latin typeface="Arial"/>
                <a:cs typeface="Arial"/>
              </a:rPr>
              <a:t>-</a:t>
            </a:r>
            <a:r>
              <a:rPr dirty="0" baseline="-9661" sz="3450" spc="-67">
                <a:latin typeface="Arial"/>
                <a:cs typeface="Arial"/>
              </a:rPr>
              <a:t> </a:t>
            </a:r>
            <a:r>
              <a:rPr dirty="0" sz="2300" spc="-20" i="1">
                <a:latin typeface="Arial"/>
                <a:cs typeface="Arial"/>
              </a:rPr>
              <a:t>202</a:t>
            </a:r>
            <a:r>
              <a:rPr dirty="0" baseline="-8274" sz="3525" spc="-30" i="1">
                <a:latin typeface="Arial"/>
                <a:cs typeface="Arial"/>
              </a:rPr>
              <a:t>4</a:t>
            </a:r>
            <a:endParaRPr baseline="-8274" sz="3525">
              <a:latin typeface="Arial"/>
              <a:cs typeface="Arial"/>
            </a:endParaRPr>
          </a:p>
          <a:p>
            <a:pPr algn="ctr" marR="5715">
              <a:lnSpc>
                <a:spcPct val="100000"/>
              </a:lnSpc>
              <a:spcBef>
                <a:spcPts val="2025"/>
              </a:spcBef>
            </a:pPr>
            <a:r>
              <a:rPr dirty="0" sz="2250" spc="55">
                <a:latin typeface="Calibri"/>
                <a:cs typeface="Calibri"/>
              </a:rPr>
              <a:t>Joyce</a:t>
            </a:r>
            <a:r>
              <a:rPr dirty="0" sz="2250" spc="10">
                <a:latin typeface="Calibri"/>
                <a:cs typeface="Calibri"/>
              </a:rPr>
              <a:t> </a:t>
            </a:r>
            <a:r>
              <a:rPr dirty="0" sz="2250" spc="60">
                <a:latin typeface="Calibri"/>
                <a:cs typeface="Calibri"/>
              </a:rPr>
              <a:t>et</a:t>
            </a:r>
            <a:r>
              <a:rPr dirty="0" sz="2250" spc="30">
                <a:latin typeface="Calibri"/>
                <a:cs typeface="Calibri"/>
              </a:rPr>
              <a:t> </a:t>
            </a:r>
            <a:r>
              <a:rPr dirty="0" sz="2250">
                <a:latin typeface="Calibri"/>
                <a:cs typeface="Calibri"/>
              </a:rPr>
              <a:t>al.</a:t>
            </a:r>
            <a:r>
              <a:rPr dirty="0" sz="2250" spc="60">
                <a:latin typeface="Calibri"/>
                <a:cs typeface="Calibri"/>
              </a:rPr>
              <a:t> </a:t>
            </a:r>
            <a:r>
              <a:rPr dirty="0" baseline="-11111" sz="3375" i="1">
                <a:latin typeface="Calibri"/>
                <a:cs typeface="Calibri"/>
              </a:rPr>
              <a:t>[+k]</a:t>
            </a:r>
            <a:r>
              <a:rPr dirty="0" baseline="-11111" sz="3375" spc="232" i="1">
                <a:latin typeface="Calibri"/>
                <a:cs typeface="Calibri"/>
              </a:rPr>
              <a:t> </a:t>
            </a:r>
            <a:r>
              <a:rPr dirty="0" baseline="-11111" sz="3375" i="1">
                <a:latin typeface="Calibri"/>
                <a:cs typeface="Calibri"/>
              </a:rPr>
              <a:t>-</a:t>
            </a:r>
            <a:r>
              <a:rPr dirty="0" baseline="-11111" sz="3375" spc="-22" i="1">
                <a:latin typeface="Calibri"/>
                <a:cs typeface="Calibri"/>
              </a:rPr>
              <a:t> </a:t>
            </a:r>
            <a:r>
              <a:rPr dirty="0" baseline="-12345" sz="3375" spc="292">
                <a:latin typeface="Calibri"/>
                <a:cs typeface="Calibri"/>
              </a:rPr>
              <a:t>••›s</a:t>
            </a:r>
            <a:endParaRPr baseline="-12345" sz="3375">
              <a:latin typeface="Calibri"/>
              <a:cs typeface="Calibri"/>
            </a:endParaRPr>
          </a:p>
          <a:p>
            <a:pPr algn="ctr" marR="24130">
              <a:lnSpc>
                <a:spcPct val="100000"/>
              </a:lnSpc>
              <a:spcBef>
                <a:spcPts val="2095"/>
              </a:spcBef>
            </a:pPr>
            <a:r>
              <a:rPr dirty="0" sz="2300" spc="70">
                <a:latin typeface="Calibri"/>
                <a:cs typeface="Calibri"/>
              </a:rPr>
              <a:t>Proposed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 spc="75">
                <a:latin typeface="Calibri"/>
                <a:cs typeface="Calibri"/>
              </a:rPr>
              <a:t>Framework</a:t>
            </a:r>
            <a:r>
              <a:rPr dirty="0" sz="2300" spc="175">
                <a:latin typeface="Calibri"/>
                <a:cs typeface="Calibri"/>
              </a:rPr>
              <a:t> </a:t>
            </a:r>
            <a:r>
              <a:rPr dirty="0" sz="2300" spc="-50">
                <a:latin typeface="Calibri"/>
                <a:cs typeface="Calibri"/>
              </a:rPr>
              <a:t>-</a:t>
            </a:r>
            <a:endParaRPr sz="2300">
              <a:latin typeface="Calibri"/>
              <a:cs typeface="Calibri"/>
            </a:endParaRPr>
          </a:p>
          <a:p>
            <a:pPr algn="ctr" marR="318135">
              <a:lnSpc>
                <a:spcPct val="100000"/>
              </a:lnSpc>
              <a:spcBef>
                <a:spcPts val="615"/>
              </a:spcBef>
            </a:pPr>
            <a:r>
              <a:rPr dirty="0" sz="2250" spc="40">
                <a:latin typeface="Calibri"/>
                <a:cs typeface="Calibri"/>
              </a:rPr>
              <a:t>aoa6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307539" y="6628839"/>
            <a:ext cx="2640965" cy="291465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algn="ctr" marR="53340">
              <a:lnSpc>
                <a:spcPct val="100000"/>
              </a:lnSpc>
              <a:spcBef>
                <a:spcPts val="720"/>
              </a:spcBef>
            </a:pPr>
            <a:r>
              <a:rPr dirty="0" sz="2300" spc="-125">
                <a:latin typeface="Arial"/>
                <a:cs typeface="Arial"/>
              </a:rPr>
              <a:t>WG-</a:t>
            </a:r>
            <a:r>
              <a:rPr dirty="0" sz="2300" spc="-10">
                <a:latin typeface="Arial"/>
                <a:cs typeface="Arial"/>
              </a:rPr>
              <a:t>MARNet</a:t>
            </a:r>
            <a:endParaRPr sz="2300">
              <a:latin typeface="Arial"/>
              <a:cs typeface="Arial"/>
            </a:endParaRPr>
          </a:p>
          <a:p>
            <a:pPr algn="ctr" marR="55244">
              <a:lnSpc>
                <a:spcPct val="100000"/>
              </a:lnSpc>
              <a:spcBef>
                <a:spcPts val="630"/>
              </a:spcBef>
            </a:pPr>
            <a:r>
              <a:rPr dirty="0" sz="2300" spc="-10">
                <a:latin typeface="Arial"/>
                <a:cs typeface="Arial"/>
              </a:rPr>
              <a:t>LFMNet</a:t>
            </a:r>
            <a:endParaRPr sz="2300">
              <a:latin typeface="Arial"/>
              <a:cs typeface="Arial"/>
            </a:endParaRPr>
          </a:p>
          <a:p>
            <a:pPr marL="432434" marR="40005" indent="-418465">
              <a:lnSpc>
                <a:spcPct val="108600"/>
              </a:lnSpc>
              <a:spcBef>
                <a:spcPts val="70"/>
              </a:spcBef>
            </a:pPr>
            <a:r>
              <a:rPr dirty="0" sz="2300" spc="-180">
                <a:latin typeface="Arial"/>
                <a:cs typeface="Arial"/>
              </a:rPr>
              <a:t>PRF-</a:t>
            </a:r>
            <a:r>
              <a:rPr dirty="0" sz="2300" spc="-225">
                <a:latin typeface="Arial"/>
                <a:cs typeface="Arial"/>
              </a:rPr>
              <a:t>SVM</a:t>
            </a:r>
            <a:r>
              <a:rPr dirty="0" sz="2300" spc="5">
                <a:latin typeface="Arial"/>
                <a:cs typeface="Arial"/>
              </a:rPr>
              <a:t> </a:t>
            </a:r>
            <a:r>
              <a:rPr dirty="0" sz="2300" spc="-25">
                <a:latin typeface="Arial"/>
                <a:cs typeface="Arial"/>
              </a:rPr>
              <a:t>Integration </a:t>
            </a:r>
            <a:r>
              <a:rPr dirty="0" sz="2500">
                <a:latin typeface="Calibri"/>
                <a:cs typeface="Calibri"/>
              </a:rPr>
              <a:t>CNN,</a:t>
            </a:r>
            <a:r>
              <a:rPr dirty="0" sz="2500" spc="-75">
                <a:latin typeface="Calibri"/>
                <a:cs typeface="Calibri"/>
              </a:rPr>
              <a:t> </a:t>
            </a:r>
            <a:r>
              <a:rPr dirty="0" sz="2500" spc="-10">
                <a:latin typeface="Calibri"/>
                <a:cs typeface="Calibri"/>
              </a:rPr>
              <a:t>Transfer Learning</a:t>
            </a:r>
            <a:endParaRPr sz="25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335"/>
              </a:spcBef>
            </a:pPr>
            <a:r>
              <a:rPr dirty="0" sz="2300" spc="100">
                <a:latin typeface="Calibri"/>
                <a:cs typeface="Calibri"/>
              </a:rPr>
              <a:t>MobileNetVz-</a:t>
            </a:r>
            <a:r>
              <a:rPr dirty="0" sz="2300" spc="114">
                <a:latin typeface="Calibri"/>
                <a:cs typeface="Calibri"/>
              </a:rPr>
              <a:t>CBAM</a:t>
            </a:r>
            <a:endParaRPr sz="2300">
              <a:latin typeface="Calibri"/>
              <a:cs typeface="Calibri"/>
            </a:endParaRPr>
          </a:p>
          <a:p>
            <a:pPr marL="747395">
              <a:lnSpc>
                <a:spcPct val="100000"/>
              </a:lnSpc>
              <a:spcBef>
                <a:spcPts val="615"/>
              </a:spcBef>
            </a:pPr>
            <a:r>
              <a:rPr dirty="0" sz="2250">
                <a:latin typeface="Calibri"/>
                <a:cs typeface="Calibri"/>
              </a:rPr>
              <a:t>+</a:t>
            </a:r>
            <a:r>
              <a:rPr dirty="0" sz="2250" spc="60">
                <a:latin typeface="Calibri"/>
                <a:cs typeface="Calibri"/>
              </a:rPr>
              <a:t> </a:t>
            </a:r>
            <a:r>
              <a:rPr dirty="0" sz="2250" spc="-25">
                <a:latin typeface="Calibri"/>
                <a:cs typeface="Calibri"/>
              </a:rPr>
              <a:t>SVM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7123675" y="6597350"/>
            <a:ext cx="793115" cy="1975485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070"/>
              </a:spcBef>
            </a:pPr>
            <a:r>
              <a:rPr dirty="0" sz="2200" spc="-10">
                <a:latin typeface="Arial"/>
                <a:cs typeface="Arial"/>
              </a:rPr>
              <a:t>gy.g6</a:t>
            </a:r>
            <a:endParaRPr sz="2200">
              <a:latin typeface="Arial"/>
              <a:cs typeface="Arial"/>
            </a:endParaRPr>
          </a:p>
          <a:p>
            <a:pPr marL="38100">
              <a:lnSpc>
                <a:spcPts val="2695"/>
              </a:lnSpc>
              <a:spcBef>
                <a:spcPts val="980"/>
              </a:spcBef>
            </a:pPr>
            <a:r>
              <a:rPr dirty="0" sz="2250" spc="-105" i="1">
                <a:latin typeface="Arial"/>
                <a:cs typeface="Arial"/>
              </a:rPr>
              <a:t>9k-</a:t>
            </a:r>
            <a:r>
              <a:rPr dirty="0" sz="2250" spc="-25" i="1">
                <a:latin typeface="Arial"/>
                <a:cs typeface="Arial"/>
              </a:rPr>
              <a:t>++</a:t>
            </a:r>
            <a:endParaRPr sz="2250">
              <a:latin typeface="Arial"/>
              <a:cs typeface="Arial"/>
            </a:endParaRPr>
          </a:p>
          <a:p>
            <a:pPr marL="47625">
              <a:lnSpc>
                <a:spcPts val="2695"/>
              </a:lnSpc>
            </a:pPr>
            <a:r>
              <a:rPr dirty="0" sz="2250" spc="-10">
                <a:latin typeface="Arial"/>
                <a:cs typeface="Arial"/>
              </a:rPr>
              <a:t>g6.6</a:t>
            </a:r>
            <a:r>
              <a:rPr dirty="0" baseline="-11111" sz="3375" spc="-15">
                <a:latin typeface="Arial"/>
                <a:cs typeface="Arial"/>
              </a:rPr>
              <a:t>7</a:t>
            </a:r>
            <a:endParaRPr baseline="-11111" sz="3375">
              <a:latin typeface="Arial"/>
              <a:cs typeface="Arial"/>
            </a:endParaRPr>
          </a:p>
          <a:p>
            <a:pPr marL="249554">
              <a:lnSpc>
                <a:spcPct val="100000"/>
              </a:lnSpc>
              <a:spcBef>
                <a:spcPts val="2370"/>
              </a:spcBef>
            </a:pPr>
            <a:r>
              <a:rPr dirty="0" sz="2500" spc="-25">
                <a:latin typeface="Times New Roman"/>
                <a:cs typeface="Times New Roman"/>
              </a:rPr>
              <a:t>97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47925" y="8988707"/>
            <a:ext cx="730250" cy="3943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400" spc="-90">
                <a:latin typeface="Calibri"/>
                <a:cs typeface="Calibri"/>
              </a:rPr>
              <a:t>99•44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1680" y="9697070"/>
            <a:ext cx="10436860" cy="732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2250">
                <a:latin typeface="Cambria"/>
                <a:cs typeface="Cambria"/>
              </a:rPr>
              <a:t>Table </a:t>
            </a:r>
            <a:r>
              <a:rPr dirty="0" sz="2250" spc="70">
                <a:latin typeface="Cambria"/>
                <a:cs typeface="Cambria"/>
              </a:rPr>
              <a:t>2.</a:t>
            </a:r>
            <a:r>
              <a:rPr dirty="0" sz="2250" spc="-85">
                <a:latin typeface="Cambria"/>
                <a:cs typeface="Cambria"/>
              </a:rPr>
              <a:t> </a:t>
            </a:r>
            <a:r>
              <a:rPr dirty="0" sz="2250" spc="-65">
                <a:latin typeface="Cambria"/>
                <a:cs typeface="Cambria"/>
              </a:rPr>
              <a:t>Performance</a:t>
            </a:r>
            <a:r>
              <a:rPr dirty="0" sz="2250" spc="229">
                <a:latin typeface="Cambria"/>
                <a:cs typeface="Cambria"/>
              </a:rPr>
              <a:t> </a:t>
            </a:r>
            <a:r>
              <a:rPr dirty="0" sz="2250" spc="-65">
                <a:latin typeface="Cambria"/>
                <a:cs typeface="Cambria"/>
              </a:rPr>
              <a:t>comparison</a:t>
            </a:r>
            <a:r>
              <a:rPr dirty="0" sz="2250" spc="180">
                <a:latin typeface="Cambria"/>
                <a:cs typeface="Cambria"/>
              </a:rPr>
              <a:t> </a:t>
            </a:r>
            <a:r>
              <a:rPr dirty="0" sz="2250">
                <a:latin typeface="Cambria"/>
                <a:cs typeface="Cambria"/>
              </a:rPr>
              <a:t>of</a:t>
            </a:r>
            <a:r>
              <a:rPr dirty="0" sz="2250" spc="55">
                <a:latin typeface="Cambria"/>
                <a:cs typeface="Cambria"/>
              </a:rPr>
              <a:t> </a:t>
            </a:r>
            <a:r>
              <a:rPr dirty="0" sz="2250" spc="-80">
                <a:latin typeface="Cambria"/>
                <a:cs typeface="Cambria"/>
              </a:rPr>
              <a:t>recent</a:t>
            </a:r>
            <a:r>
              <a:rPr dirty="0" sz="2250" spc="225">
                <a:latin typeface="Cambria"/>
                <a:cs typeface="Cambria"/>
              </a:rPr>
              <a:t> </a:t>
            </a:r>
            <a:r>
              <a:rPr dirty="0" sz="2250" spc="-75">
                <a:latin typeface="Cambria"/>
                <a:cs typeface="Cambria"/>
              </a:rPr>
              <a:t>approaches</a:t>
            </a:r>
            <a:r>
              <a:rPr dirty="0" sz="2250" spc="114">
                <a:latin typeface="Cambria"/>
                <a:cs typeface="Cambria"/>
              </a:rPr>
              <a:t> </a:t>
            </a:r>
            <a:r>
              <a:rPr dirty="0" sz="2250" spc="-40">
                <a:latin typeface="Cambria"/>
                <a:cs typeface="Cambria"/>
              </a:rPr>
              <a:t>and</a:t>
            </a:r>
            <a:r>
              <a:rPr dirty="0" sz="2250" spc="55">
                <a:latin typeface="Cambria"/>
                <a:cs typeface="Cambria"/>
              </a:rPr>
              <a:t> </a:t>
            </a:r>
            <a:r>
              <a:rPr dirty="0" sz="2250" spc="-80">
                <a:latin typeface="Cambria"/>
                <a:cs typeface="Cambria"/>
              </a:rPr>
              <a:t>the</a:t>
            </a:r>
            <a:r>
              <a:rPr dirty="0" sz="2250" spc="-25">
                <a:latin typeface="Cambria"/>
                <a:cs typeface="Cambria"/>
              </a:rPr>
              <a:t> </a:t>
            </a:r>
            <a:r>
              <a:rPr dirty="0" sz="2250" spc="-80">
                <a:latin typeface="Cambria"/>
                <a:cs typeface="Cambria"/>
              </a:rPr>
              <a:t>proposed</a:t>
            </a:r>
            <a:r>
              <a:rPr dirty="0" sz="2250" spc="180">
                <a:latin typeface="Cambria"/>
                <a:cs typeface="Cambria"/>
              </a:rPr>
              <a:t> </a:t>
            </a:r>
            <a:r>
              <a:rPr dirty="0" sz="2250" spc="-75">
                <a:latin typeface="Cambria"/>
                <a:cs typeface="Cambria"/>
              </a:rPr>
              <a:t>framework</a:t>
            </a:r>
            <a:r>
              <a:rPr dirty="0" sz="2250" spc="175">
                <a:latin typeface="Cambria"/>
                <a:cs typeface="Cambria"/>
              </a:rPr>
              <a:t> </a:t>
            </a:r>
            <a:r>
              <a:rPr dirty="0" sz="2250" spc="-25">
                <a:latin typeface="Cambria"/>
                <a:cs typeface="Cambria"/>
              </a:rPr>
              <a:t>on</a:t>
            </a:r>
            <a:endParaRPr sz="2250">
              <a:latin typeface="Cambria"/>
              <a:cs typeface="Cambria"/>
            </a:endParaRPr>
          </a:p>
          <a:p>
            <a:pPr algn="ctr" marR="322580">
              <a:lnSpc>
                <a:spcPct val="100000"/>
              </a:lnSpc>
              <a:spcBef>
                <a:spcPts val="120"/>
              </a:spcBef>
            </a:pPr>
            <a:r>
              <a:rPr dirty="0" sz="2250" spc="-50">
                <a:latin typeface="Cambria"/>
                <a:cs typeface="Cambria"/>
              </a:rPr>
              <a:t>the</a:t>
            </a:r>
            <a:r>
              <a:rPr dirty="0" sz="2250" spc="-55">
                <a:latin typeface="Cambria"/>
                <a:cs typeface="Cambria"/>
              </a:rPr>
              <a:t> second</a:t>
            </a:r>
            <a:r>
              <a:rPr dirty="0" sz="2250" spc="75">
                <a:latin typeface="Cambria"/>
                <a:cs typeface="Cambria"/>
              </a:rPr>
              <a:t> </a:t>
            </a:r>
            <a:r>
              <a:rPr dirty="0" sz="2250" spc="-10">
                <a:latin typeface="Cambria"/>
                <a:cs typeface="Cambria"/>
              </a:rPr>
              <a:t>dataset.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8111447" y="10970604"/>
            <a:ext cx="1879600" cy="2063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50">
                <a:solidFill>
                  <a:srgbClr val="007E4B"/>
                </a:solidFill>
                <a:latin typeface="Calibri"/>
                <a:cs typeface="Calibri"/>
              </a:rPr>
              <a:t>:</a:t>
            </a:r>
            <a:r>
              <a:rPr dirty="0" sz="1150" spc="470">
                <a:solidFill>
                  <a:srgbClr val="007E4B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81818"/>
                </a:solidFill>
                <a:latin typeface="Calibri"/>
                <a:cs typeface="Calibri"/>
              </a:rPr>
              <a:t>Scanned</a:t>
            </a:r>
            <a:r>
              <a:rPr dirty="0" sz="1150" spc="5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81818"/>
                </a:solidFill>
                <a:latin typeface="Calibri"/>
                <a:cs typeface="Calibri"/>
              </a:rPr>
              <a:t>with</a:t>
            </a:r>
            <a:r>
              <a:rPr dirty="0" sz="1150" spc="3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150">
                <a:solidFill>
                  <a:srgbClr val="181818"/>
                </a:solidFill>
                <a:latin typeface="Calibri"/>
                <a:cs typeface="Calibri"/>
              </a:rPr>
              <a:t>OKEN</a:t>
            </a:r>
            <a:r>
              <a:rPr dirty="0" sz="1150" spc="55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dirty="0" sz="1150" spc="-10">
                <a:solidFill>
                  <a:srgbClr val="181818"/>
                </a:solidFill>
                <a:latin typeface="Calibri"/>
                <a:cs typeface="Calibri"/>
              </a:rPr>
              <a:t>Scanner</a:t>
            </a:r>
            <a:endParaRPr sz="11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60273" y="631293"/>
            <a:ext cx="10816005" cy="731818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759445" y="347177"/>
            <a:ext cx="12299315" cy="105092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40"/>
              <a:t>Result</a:t>
            </a:r>
            <a:r>
              <a:rPr dirty="0" spc="-340"/>
              <a:t> </a:t>
            </a:r>
            <a:r>
              <a:rPr dirty="0" spc="-35"/>
              <a:t>Analysis</a:t>
            </a:r>
            <a:r>
              <a:rPr dirty="0" spc="-345"/>
              <a:t> </a:t>
            </a:r>
            <a:r>
              <a:rPr dirty="0" spc="-30"/>
              <a:t>and</a:t>
            </a:r>
            <a:r>
              <a:rPr dirty="0" spc="-345"/>
              <a:t> </a:t>
            </a:r>
            <a:r>
              <a:rPr dirty="0"/>
              <a:t>Discussion</a:t>
            </a:r>
            <a:r>
              <a:rPr dirty="0" spc="1085"/>
              <a:t> </a:t>
            </a:r>
            <a:r>
              <a:rPr dirty="0" spc="-65"/>
              <a:t>cont.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02510" y="1869787"/>
            <a:ext cx="17479645" cy="410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21590">
              <a:lnSpc>
                <a:spcPct val="100000"/>
              </a:lnSpc>
              <a:spcBef>
                <a:spcPts val="135"/>
              </a:spcBef>
            </a:pP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Ablation</a:t>
            </a:r>
            <a:r>
              <a:rPr dirty="0" u="heavy" sz="3000" spc="2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r>
              <a:rPr dirty="0" u="heavy" sz="3000" spc="14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dirty="0" u="heavy" sz="3000" spc="-5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dirty="0" u="heavy" sz="3000" spc="-8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Proposed</a:t>
            </a:r>
            <a:r>
              <a:rPr dirty="0" u="heavy" sz="3000" spc="15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dirty="0" u="heavy" sz="3000" spc="-1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Framework</a:t>
            </a:r>
            <a:endParaRPr sz="3000">
              <a:latin typeface="Calibri"/>
              <a:cs typeface="Calibri"/>
            </a:endParaRPr>
          </a:p>
          <a:p>
            <a:pPr marL="633095" indent="-620395">
              <a:lnSpc>
                <a:spcPts val="3540"/>
              </a:lnSpc>
              <a:spcBef>
                <a:spcPts val="40"/>
              </a:spcBef>
              <a:buChar char="•"/>
              <a:tabLst>
                <a:tab pos="633095" algn="l"/>
              </a:tabLst>
            </a:pPr>
            <a:r>
              <a:rPr dirty="0" baseline="1851" sz="4500" spc="-37">
                <a:latin typeface="Calibri"/>
                <a:cs typeface="Calibri"/>
              </a:rPr>
              <a:t>Compared</a:t>
            </a:r>
            <a:r>
              <a:rPr dirty="0" baseline="1851" sz="4500" spc="592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models</a:t>
            </a:r>
            <a:r>
              <a:rPr dirty="0" baseline="1851" sz="4500" spc="270">
                <a:latin typeface="Calibri"/>
                <a:cs typeface="Calibri"/>
              </a:rPr>
              <a:t> </a:t>
            </a:r>
            <a:r>
              <a:rPr dirty="0" baseline="1851" sz="4500" spc="-44">
                <a:latin typeface="Calibri"/>
                <a:cs typeface="Calibri"/>
              </a:rPr>
              <a:t>-</a:t>
            </a:r>
            <a:r>
              <a:rPr dirty="0" baseline="1851" sz="4500">
                <a:latin typeface="Calibri"/>
                <a:cs typeface="Calibri"/>
              </a:rPr>
              <a:t>&gt;</a:t>
            </a:r>
            <a:r>
              <a:rPr dirty="0" baseline="1851" sz="4500" spc="179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Baselin</a:t>
            </a:r>
            <a:r>
              <a:rPr dirty="0" sz="3000">
                <a:latin typeface="Calibri"/>
                <a:cs typeface="Calibri"/>
              </a:rPr>
              <a:t>e</a:t>
            </a:r>
            <a:r>
              <a:rPr dirty="0" sz="3000" spc="-45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MobileNetV2,</a:t>
            </a:r>
            <a:r>
              <a:rPr dirty="0" baseline="1851" sz="4500" spc="397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MobileNetV2</a:t>
            </a:r>
            <a:r>
              <a:rPr dirty="0" baseline="1851" sz="4500" spc="562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+</a:t>
            </a:r>
            <a:r>
              <a:rPr dirty="0" baseline="1851" sz="4500" spc="97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CBAM</a:t>
            </a:r>
            <a:r>
              <a:rPr dirty="0" baseline="1851" sz="4500" spc="209">
                <a:latin typeface="Calibri"/>
                <a:cs typeface="Calibri"/>
              </a:rPr>
              <a:t> </a:t>
            </a:r>
            <a:r>
              <a:rPr dirty="0" baseline="1851" sz="4500" spc="-15">
                <a:latin typeface="Calibri"/>
                <a:cs typeface="Calibri"/>
              </a:rPr>
              <a:t>(attention-</a:t>
            </a:r>
            <a:r>
              <a:rPr dirty="0" baseline="1851" sz="4500">
                <a:latin typeface="Calibri"/>
                <a:cs typeface="Calibri"/>
              </a:rPr>
              <a:t>enhanced),</a:t>
            </a:r>
            <a:r>
              <a:rPr dirty="0" baseline="1851" sz="4500" spc="232">
                <a:latin typeface="Calibri"/>
                <a:cs typeface="Calibri"/>
              </a:rPr>
              <a:t> </a:t>
            </a:r>
            <a:r>
              <a:rPr dirty="0" baseline="1851" sz="4500">
                <a:latin typeface="Calibri"/>
                <a:cs typeface="Calibri"/>
              </a:rPr>
              <a:t>Proposed</a:t>
            </a:r>
            <a:r>
              <a:rPr dirty="0" baseline="1851" sz="4500" spc="292">
                <a:latin typeface="Calibri"/>
                <a:cs typeface="Calibri"/>
              </a:rPr>
              <a:t> </a:t>
            </a:r>
            <a:r>
              <a:rPr dirty="0" baseline="1851" sz="4500" spc="-15">
                <a:latin typeface="Calibri"/>
                <a:cs typeface="Calibri"/>
              </a:rPr>
              <a:t>Hybrid</a:t>
            </a:r>
            <a:endParaRPr baseline="1851" sz="4500">
              <a:latin typeface="Calibri"/>
              <a:cs typeface="Calibri"/>
            </a:endParaRPr>
          </a:p>
          <a:p>
            <a:pPr marL="619125">
              <a:lnSpc>
                <a:spcPts val="3529"/>
              </a:lnSpc>
            </a:pPr>
            <a:r>
              <a:rPr dirty="0" sz="3000">
                <a:latin typeface="Calibri"/>
                <a:cs typeface="Calibri"/>
              </a:rPr>
              <a:t>Model:</a:t>
            </a:r>
            <a:r>
              <a:rPr dirty="0" sz="3000" spc="229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MobileNetV2-</a:t>
            </a:r>
            <a:r>
              <a:rPr dirty="0" sz="3000" spc="50">
                <a:latin typeface="Calibri"/>
                <a:cs typeface="Calibri"/>
              </a:rPr>
              <a:t>CBAM</a:t>
            </a:r>
            <a:r>
              <a:rPr dirty="0" sz="3000" spc="4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+</a:t>
            </a:r>
            <a:r>
              <a:rPr dirty="0" sz="3000" spc="120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SVM</a:t>
            </a:r>
            <a:endParaRPr sz="3000">
              <a:latin typeface="Calibri"/>
              <a:cs typeface="Calibri"/>
            </a:endParaRPr>
          </a:p>
          <a:p>
            <a:pPr marL="641985" indent="-629920">
              <a:lnSpc>
                <a:spcPts val="3560"/>
              </a:lnSpc>
              <a:buChar char="•"/>
              <a:tabLst>
                <a:tab pos="641985" algn="l"/>
              </a:tabLst>
            </a:pPr>
            <a:r>
              <a:rPr dirty="0" sz="3000" spc="-35">
                <a:latin typeface="Calibri"/>
                <a:cs typeface="Calibri"/>
              </a:rPr>
              <a:t>Xey</a:t>
            </a:r>
            <a:r>
              <a:rPr dirty="0" sz="3000" spc="-9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Insights</a:t>
            </a:r>
            <a:r>
              <a:rPr dirty="0" sz="3000" spc="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from</a:t>
            </a:r>
            <a:r>
              <a:rPr dirty="0" sz="3000" spc="1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Ablation</a:t>
            </a:r>
            <a:r>
              <a:rPr dirty="0" sz="3000" spc="204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Study:</a:t>
            </a:r>
            <a:endParaRPr sz="3000">
              <a:latin typeface="Calibri"/>
              <a:cs typeface="Calibri"/>
            </a:endParaRPr>
          </a:p>
          <a:p>
            <a:pPr marL="24130">
              <a:lnSpc>
                <a:spcPts val="3535"/>
              </a:lnSpc>
              <a:tabLst>
                <a:tab pos="632460" algn="l"/>
              </a:tabLst>
            </a:pPr>
            <a:r>
              <a:rPr dirty="0" sz="3000" spc="-570">
                <a:latin typeface="Calibri"/>
                <a:cs typeface="Calibri"/>
              </a:rPr>
              <a:t>•*'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40">
                <a:latin typeface="Calibri"/>
                <a:cs typeface="Calibri"/>
              </a:rPr>
              <a:t>Attention-</a:t>
            </a:r>
            <a:r>
              <a:rPr dirty="0" sz="3000">
                <a:latin typeface="Calibri"/>
                <a:cs typeface="Calibri"/>
              </a:rPr>
              <a:t>weighted</a:t>
            </a:r>
            <a:r>
              <a:rPr dirty="0" sz="3000" spc="-10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deep</a:t>
            </a:r>
            <a:r>
              <a:rPr dirty="0" sz="3000" spc="-60">
                <a:latin typeface="Calibri"/>
                <a:cs typeface="Calibri"/>
              </a:rPr>
              <a:t> </a:t>
            </a:r>
            <a:r>
              <a:rPr dirty="0" sz="3000" spc="-40">
                <a:latin typeface="Calibri"/>
                <a:cs typeface="Calibri"/>
              </a:rPr>
              <a:t>feature</a:t>
            </a:r>
            <a:r>
              <a:rPr dirty="0" sz="3000" spc="5">
                <a:latin typeface="Calibri"/>
                <a:cs typeface="Calibri"/>
              </a:rPr>
              <a:t> </a:t>
            </a:r>
            <a:r>
              <a:rPr dirty="0" sz="3000" spc="-25">
                <a:latin typeface="Calibri"/>
                <a:cs typeface="Calibri"/>
              </a:rPr>
              <a:t>extraction</a:t>
            </a:r>
            <a:r>
              <a:rPr dirty="0" sz="3000" spc="75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significantly</a:t>
            </a:r>
            <a:r>
              <a:rPr dirty="0" sz="3000" spc="260">
                <a:latin typeface="Calibri"/>
                <a:cs typeface="Calibri"/>
              </a:rPr>
              <a:t> </a:t>
            </a:r>
            <a:r>
              <a:rPr dirty="0" sz="3000" spc="-35">
                <a:latin typeface="Calibri"/>
                <a:cs typeface="Calibri"/>
              </a:rPr>
              <a:t>improves</a:t>
            </a:r>
            <a:r>
              <a:rPr dirty="0" sz="3000" spc="145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performance.</a:t>
            </a:r>
            <a:endParaRPr sz="3000">
              <a:latin typeface="Calibri"/>
              <a:cs typeface="Calibri"/>
            </a:endParaRPr>
          </a:p>
          <a:p>
            <a:pPr marL="23495">
              <a:lnSpc>
                <a:spcPts val="3610"/>
              </a:lnSpc>
              <a:tabLst>
                <a:tab pos="630555" algn="l"/>
              </a:tabLst>
            </a:pPr>
            <a:r>
              <a:rPr dirty="0" sz="3050" spc="-455">
                <a:latin typeface="Calibri"/>
                <a:cs typeface="Calibri"/>
              </a:rPr>
              <a:t>•^</a:t>
            </a:r>
            <a:r>
              <a:rPr dirty="0" sz="3050">
                <a:latin typeface="Calibri"/>
                <a:cs typeface="Calibri"/>
              </a:rPr>
              <a:t>	</a:t>
            </a:r>
            <a:r>
              <a:rPr dirty="0" sz="3050" spc="-55">
                <a:latin typeface="Calibri"/>
                <a:cs typeface="Calibri"/>
              </a:rPr>
              <a:t>Hybrid</a:t>
            </a:r>
            <a:r>
              <a:rPr dirty="0" sz="3050" spc="-30">
                <a:latin typeface="Calibri"/>
                <a:cs typeface="Calibri"/>
              </a:rPr>
              <a:t> </a:t>
            </a:r>
            <a:r>
              <a:rPr dirty="0" sz="3050" spc="-40">
                <a:latin typeface="Calibri"/>
                <a:cs typeface="Calibri"/>
              </a:rPr>
              <a:t>learning</a:t>
            </a:r>
            <a:r>
              <a:rPr dirty="0" sz="3050" spc="70">
                <a:latin typeface="Calibri"/>
                <a:cs typeface="Calibri"/>
              </a:rPr>
              <a:t> </a:t>
            </a:r>
            <a:r>
              <a:rPr dirty="0" sz="3050" spc="-45">
                <a:latin typeface="Calibri"/>
                <a:cs typeface="Calibri"/>
              </a:rPr>
              <a:t>enhances</a:t>
            </a:r>
            <a:r>
              <a:rPr dirty="0" sz="3050">
                <a:latin typeface="Calibri"/>
                <a:cs typeface="Calibri"/>
              </a:rPr>
              <a:t> </a:t>
            </a:r>
            <a:r>
              <a:rPr dirty="0" sz="3050" spc="-35">
                <a:latin typeface="Calibri"/>
                <a:cs typeface="Calibri"/>
              </a:rPr>
              <a:t>decision</a:t>
            </a:r>
            <a:r>
              <a:rPr dirty="0" sz="3050" spc="-60">
                <a:latin typeface="Calibri"/>
                <a:cs typeface="Calibri"/>
              </a:rPr>
              <a:t> </a:t>
            </a:r>
            <a:r>
              <a:rPr dirty="0" sz="3050" spc="-65">
                <a:latin typeface="Calibri"/>
                <a:cs typeface="Calibri"/>
              </a:rPr>
              <a:t>boundary</a:t>
            </a:r>
            <a:r>
              <a:rPr dirty="0" sz="3050" spc="10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definition.</a:t>
            </a:r>
            <a:endParaRPr sz="3050">
              <a:latin typeface="Calibri"/>
              <a:cs typeface="Calibri"/>
            </a:endParaRPr>
          </a:p>
          <a:p>
            <a:pPr marL="24130">
              <a:lnSpc>
                <a:spcPts val="3529"/>
              </a:lnSpc>
              <a:tabLst>
                <a:tab pos="633095" algn="l"/>
              </a:tabLst>
            </a:pPr>
            <a:r>
              <a:rPr dirty="0" sz="3000" spc="-434">
                <a:latin typeface="Calibri"/>
                <a:cs typeface="Calibri"/>
              </a:rPr>
              <a:t>•^</a:t>
            </a:r>
            <a:r>
              <a:rPr dirty="0" sz="3000">
                <a:latin typeface="Calibri"/>
                <a:cs typeface="Calibri"/>
              </a:rPr>
              <a:t>	</a:t>
            </a:r>
            <a:r>
              <a:rPr dirty="0" sz="3000" spc="-30">
                <a:latin typeface="Calibri"/>
                <a:cs typeface="Calibri"/>
              </a:rPr>
              <a:t>Combining</a:t>
            </a:r>
            <a:r>
              <a:rPr dirty="0" sz="3000" spc="14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DL-</a:t>
            </a:r>
            <a:r>
              <a:rPr dirty="0" sz="3000">
                <a:latin typeface="Calibri"/>
                <a:cs typeface="Calibri"/>
              </a:rPr>
              <a:t>based</a:t>
            </a:r>
            <a:r>
              <a:rPr dirty="0" sz="3000" spc="-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attention</a:t>
            </a:r>
            <a:r>
              <a:rPr dirty="0" sz="3000" spc="1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mechanisms</a:t>
            </a:r>
            <a:r>
              <a:rPr dirty="0" sz="3000" spc="26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with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classical</a:t>
            </a:r>
            <a:r>
              <a:rPr dirty="0" sz="3000" spc="25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ML</a:t>
            </a:r>
            <a:r>
              <a:rPr dirty="0" sz="3000" spc="-120">
                <a:latin typeface="Calibri"/>
                <a:cs typeface="Calibri"/>
              </a:rPr>
              <a:t> </a:t>
            </a:r>
            <a:r>
              <a:rPr dirty="0" sz="3000">
                <a:latin typeface="Calibri"/>
                <a:cs typeface="Calibri"/>
              </a:rPr>
              <a:t>(SVM)</a:t>
            </a:r>
            <a:r>
              <a:rPr dirty="0" sz="3000" spc="20">
                <a:latin typeface="Calibri"/>
                <a:cs typeface="Calibri"/>
              </a:rPr>
              <a:t> </a:t>
            </a:r>
            <a:r>
              <a:rPr dirty="0" sz="3000" spc="-10">
                <a:latin typeface="Calibri"/>
                <a:cs typeface="Calibri"/>
              </a:rPr>
              <a:t>yields:</a:t>
            </a:r>
            <a:endParaRPr sz="3000">
              <a:latin typeface="Calibri"/>
              <a:cs typeface="Calibri"/>
            </a:endParaRPr>
          </a:p>
          <a:p>
            <a:pPr lvl="1" marL="1599565" indent="-619125">
              <a:lnSpc>
                <a:spcPts val="3520"/>
              </a:lnSpc>
              <a:buChar char="—"/>
              <a:tabLst>
                <a:tab pos="1599565" algn="l"/>
              </a:tabLst>
            </a:pPr>
            <a:r>
              <a:rPr dirty="0" sz="3050" spc="-40">
                <a:latin typeface="Calibri"/>
                <a:cs typeface="Calibri"/>
              </a:rPr>
              <a:t>Better</a:t>
            </a:r>
            <a:r>
              <a:rPr dirty="0" sz="3050" spc="-85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generalization</a:t>
            </a:r>
            <a:endParaRPr sz="3050">
              <a:latin typeface="Calibri"/>
              <a:cs typeface="Calibri"/>
            </a:endParaRPr>
          </a:p>
          <a:p>
            <a:pPr lvl="1" marL="1599565" indent="-619125">
              <a:lnSpc>
                <a:spcPts val="3570"/>
              </a:lnSpc>
              <a:buChar char="—"/>
              <a:tabLst>
                <a:tab pos="1599565" algn="l"/>
              </a:tabLst>
            </a:pPr>
            <a:r>
              <a:rPr dirty="0" sz="3050" spc="-40">
                <a:latin typeface="Calibri"/>
                <a:cs typeface="Calibri"/>
              </a:rPr>
              <a:t>Higher</a:t>
            </a:r>
            <a:r>
              <a:rPr dirty="0" sz="3050" spc="5">
                <a:latin typeface="Calibri"/>
                <a:cs typeface="Calibri"/>
              </a:rPr>
              <a:t> </a:t>
            </a:r>
            <a:r>
              <a:rPr dirty="0" sz="3050" spc="-40">
                <a:latin typeface="Calibri"/>
                <a:cs typeface="Calibri"/>
              </a:rPr>
              <a:t>classification</a:t>
            </a:r>
            <a:r>
              <a:rPr dirty="0" sz="3050" spc="-9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accuracy</a:t>
            </a:r>
            <a:endParaRPr sz="305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800858" y="7093006"/>
            <a:ext cx="4370705" cy="2051050"/>
            <a:chOff x="4800858" y="7093006"/>
            <a:chExt cx="4370705" cy="205105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0858" y="7093006"/>
              <a:ext cx="4370631" cy="116608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858" y="8299300"/>
              <a:ext cx="4370631" cy="4020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00858" y="8741607"/>
              <a:ext cx="4370631" cy="402097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276564" y="7832839"/>
            <a:ext cx="862965" cy="131826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75565">
              <a:lnSpc>
                <a:spcPct val="100000"/>
              </a:lnSpc>
              <a:spcBef>
                <a:spcPts val="635"/>
              </a:spcBef>
            </a:pPr>
            <a:r>
              <a:rPr dirty="0" sz="2500" spc="-229">
                <a:latin typeface="Arial"/>
                <a:cs typeface="Arial"/>
              </a:rPr>
              <a:t>95•</a:t>
            </a:r>
            <a:r>
              <a:rPr dirty="0" sz="2500" spc="-290">
                <a:latin typeface="Arial"/>
                <a:cs typeface="Arial"/>
              </a:rPr>
              <a:t> </a:t>
            </a:r>
            <a:r>
              <a:rPr dirty="0" baseline="15015" sz="2775" spc="-37">
                <a:latin typeface="Arial"/>
                <a:cs typeface="Arial"/>
              </a:rPr>
              <a:t>Z</a:t>
            </a:r>
            <a:r>
              <a:rPr dirty="0" sz="2500" spc="-25">
                <a:latin typeface="Arial"/>
                <a:cs typeface="Arial"/>
              </a:rPr>
              <a:t>7</a:t>
            </a:r>
            <a:endParaRPr sz="2500">
              <a:latin typeface="Arial"/>
              <a:cs typeface="Arial"/>
            </a:endParaRPr>
          </a:p>
          <a:p>
            <a:pPr marL="87630">
              <a:lnSpc>
                <a:spcPct val="100000"/>
              </a:lnSpc>
              <a:spcBef>
                <a:spcPts val="530"/>
              </a:spcBef>
            </a:pPr>
            <a:r>
              <a:rPr dirty="0" sz="2450" spc="-60">
                <a:latin typeface="Arial"/>
                <a:cs typeface="Arial"/>
              </a:rPr>
              <a:t>97•</a:t>
            </a:r>
            <a:r>
              <a:rPr dirty="0" baseline="11337" sz="3675" spc="-89">
                <a:latin typeface="Arial"/>
                <a:cs typeface="Arial"/>
              </a:rPr>
              <a:t>16</a:t>
            </a:r>
            <a:endParaRPr baseline="11337" sz="3675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45"/>
              </a:spcBef>
            </a:pPr>
            <a:r>
              <a:rPr dirty="0" sz="2600" spc="-10">
                <a:latin typeface="Arial"/>
                <a:cs typeface="Arial"/>
              </a:rPr>
              <a:t>g8.xa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345188" y="7888746"/>
            <a:ext cx="857250" cy="1322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67945">
              <a:lnSpc>
                <a:spcPts val="3100"/>
              </a:lnSpc>
              <a:spcBef>
                <a:spcPts val="95"/>
              </a:spcBef>
            </a:pPr>
            <a:r>
              <a:rPr dirty="0" sz="2600" spc="-155">
                <a:latin typeface="Cambria"/>
                <a:cs typeface="Cambria"/>
              </a:rPr>
              <a:t>97•9</a:t>
            </a:r>
            <a:r>
              <a:rPr dirty="0" baseline="10683" sz="3900" spc="-232">
                <a:latin typeface="Cambria"/>
                <a:cs typeface="Cambria"/>
              </a:rPr>
              <a:t>6</a:t>
            </a:r>
            <a:endParaRPr baseline="10683" sz="3900">
              <a:latin typeface="Cambria"/>
              <a:cs typeface="Cambria"/>
            </a:endParaRPr>
          </a:p>
          <a:p>
            <a:pPr marL="56515">
              <a:lnSpc>
                <a:spcPts val="2980"/>
              </a:lnSpc>
            </a:pPr>
            <a:r>
              <a:rPr dirty="0" sz="2500" spc="-10">
                <a:latin typeface="Cambria"/>
                <a:cs typeface="Cambria"/>
              </a:rPr>
              <a:t>98.9g</a:t>
            </a:r>
            <a:endParaRPr sz="25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830"/>
              </a:spcBef>
            </a:pPr>
            <a:r>
              <a:rPr dirty="0" sz="2750" spc="-114">
                <a:latin typeface="Calibri"/>
                <a:cs typeface="Calibri"/>
              </a:rPr>
              <a:t>99•44</a:t>
            </a:r>
            <a:endParaRPr sz="27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38298" y="9436599"/>
            <a:ext cx="10544175" cy="74549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966085" marR="5080" indent="-2954020">
              <a:lnSpc>
                <a:spcPct val="100000"/>
              </a:lnSpc>
              <a:spcBef>
                <a:spcPts val="125"/>
              </a:spcBef>
            </a:pPr>
            <a:r>
              <a:rPr dirty="0" sz="2350">
                <a:latin typeface="Times New Roman"/>
                <a:cs typeface="Times New Roman"/>
              </a:rPr>
              <a:t>Table</a:t>
            </a:r>
            <a:r>
              <a:rPr dirty="0" sz="2350" spc="-11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3.</a:t>
            </a:r>
            <a:r>
              <a:rPr dirty="0" sz="2350" spc="-110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Ablation</a:t>
            </a:r>
            <a:r>
              <a:rPr dirty="0" sz="2350" spc="13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study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evaluating</a:t>
            </a:r>
            <a:r>
              <a:rPr dirty="0" sz="2350" spc="15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-80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effect</a:t>
            </a:r>
            <a:r>
              <a:rPr dirty="0" sz="2350" spc="11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of</a:t>
            </a:r>
            <a:r>
              <a:rPr dirty="0" sz="2350" spc="-6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attention</a:t>
            </a:r>
            <a:r>
              <a:rPr dirty="0" sz="2350" spc="185">
                <a:latin typeface="Times New Roman"/>
                <a:cs typeface="Times New Roman"/>
              </a:rPr>
              <a:t> </a:t>
            </a:r>
            <a:r>
              <a:rPr dirty="0" sz="2350" spc="-35">
                <a:latin typeface="Times New Roman"/>
                <a:cs typeface="Times New Roman"/>
              </a:rPr>
              <a:t>mechanism</a:t>
            </a:r>
            <a:r>
              <a:rPr dirty="0" sz="2350" spc="125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and</a:t>
            </a:r>
            <a:r>
              <a:rPr dirty="0" sz="2350" spc="-15">
                <a:latin typeface="Times New Roman"/>
                <a:cs typeface="Times New Roman"/>
              </a:rPr>
              <a:t> </a:t>
            </a:r>
            <a:r>
              <a:rPr dirty="0" sz="2350" spc="-20">
                <a:latin typeface="Times New Roman"/>
                <a:cs typeface="Times New Roman"/>
              </a:rPr>
              <a:t>hybrid</a:t>
            </a:r>
            <a:r>
              <a:rPr dirty="0" sz="2350" spc="80">
                <a:latin typeface="Times New Roman"/>
                <a:cs typeface="Times New Roman"/>
              </a:rPr>
              <a:t> </a:t>
            </a:r>
            <a:r>
              <a:rPr dirty="0" sz="2350" spc="-50">
                <a:latin typeface="Times New Roman"/>
                <a:cs typeface="Times New Roman"/>
              </a:rPr>
              <a:t>DL-</a:t>
            </a:r>
            <a:r>
              <a:rPr dirty="0" sz="2350" spc="-25">
                <a:latin typeface="Times New Roman"/>
                <a:cs typeface="Times New Roman"/>
              </a:rPr>
              <a:t>ML </a:t>
            </a:r>
            <a:r>
              <a:rPr dirty="0" sz="2350">
                <a:latin typeface="Times New Roman"/>
                <a:cs typeface="Times New Roman"/>
              </a:rPr>
              <a:t>approach</a:t>
            </a:r>
            <a:r>
              <a:rPr dirty="0" sz="2350" spc="-11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on</a:t>
            </a:r>
            <a:r>
              <a:rPr dirty="0" sz="2350" spc="-50">
                <a:latin typeface="Times New Roman"/>
                <a:cs typeface="Times New Roman"/>
              </a:rPr>
              <a:t> </a:t>
            </a:r>
            <a:r>
              <a:rPr dirty="0" sz="2350">
                <a:latin typeface="Times New Roman"/>
                <a:cs typeface="Times New Roman"/>
              </a:rPr>
              <a:t>the</a:t>
            </a:r>
            <a:r>
              <a:rPr dirty="0" sz="2350" spc="-35">
                <a:latin typeface="Times New Roman"/>
                <a:cs typeface="Times New Roman"/>
              </a:rPr>
              <a:t> model</a:t>
            </a:r>
            <a:r>
              <a:rPr dirty="0" sz="2350" spc="190">
                <a:latin typeface="Times New Roman"/>
                <a:cs typeface="Times New Roman"/>
              </a:rPr>
              <a:t> </a:t>
            </a:r>
            <a:r>
              <a:rPr dirty="0" sz="2350" spc="-10">
                <a:latin typeface="Times New Roman"/>
                <a:cs typeface="Times New Roman"/>
              </a:rPr>
              <a:t>performance.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1648" rIns="0" bIns="0" rtlCol="0" vert="horz">
            <a:spAutoFit/>
          </a:bodyPr>
          <a:lstStyle/>
          <a:p>
            <a:pPr marL="2408555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Conclusion</a:t>
            </a:r>
            <a:r>
              <a:rPr dirty="0" spc="-145"/>
              <a:t> </a:t>
            </a:r>
            <a:r>
              <a:rPr dirty="0"/>
              <a:t>and</a:t>
            </a:r>
            <a:r>
              <a:rPr dirty="0" spc="-380"/>
              <a:t> </a:t>
            </a:r>
            <a:r>
              <a:rPr dirty="0" spc="-100"/>
              <a:t>Future</a:t>
            </a:r>
            <a:r>
              <a:rPr dirty="0" spc="-275"/>
              <a:t> </a:t>
            </a:r>
            <a:r>
              <a:rPr dirty="0" spc="-85"/>
              <a:t>Directions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639445" indent="-626745">
              <a:lnSpc>
                <a:spcPts val="3685"/>
              </a:lnSpc>
              <a:spcBef>
                <a:spcPts val="120"/>
              </a:spcBef>
              <a:buChar char="•"/>
              <a:tabLst>
                <a:tab pos="639445" algn="l"/>
              </a:tabLst>
            </a:pPr>
            <a:r>
              <a:rPr dirty="0" spc="-85"/>
              <a:t>Proposed</a:t>
            </a:r>
            <a:r>
              <a:rPr dirty="0" spc="-25"/>
              <a:t> </a:t>
            </a:r>
            <a:r>
              <a:rPr dirty="0" spc="-114"/>
              <a:t>an</a:t>
            </a:r>
            <a:r>
              <a:rPr dirty="0" spc="-75"/>
              <a:t> </a:t>
            </a:r>
            <a:r>
              <a:rPr dirty="0" spc="-10"/>
              <a:t>eflicient</a:t>
            </a:r>
            <a:r>
              <a:rPr dirty="0" spc="-70"/>
              <a:t> </a:t>
            </a:r>
            <a:r>
              <a:rPr dirty="0" spc="-20"/>
              <a:t>hybrid</a:t>
            </a:r>
            <a:r>
              <a:rPr dirty="0" spc="-155"/>
              <a:t> </a:t>
            </a:r>
            <a:r>
              <a:rPr dirty="0" spc="-50"/>
              <a:t>framework</a:t>
            </a:r>
            <a:r>
              <a:rPr dirty="0" spc="5"/>
              <a:t> </a:t>
            </a:r>
            <a:r>
              <a:rPr dirty="0" spc="-85"/>
              <a:t>for</a:t>
            </a:r>
            <a:r>
              <a:rPr dirty="0" spc="-100"/>
              <a:t> </a:t>
            </a:r>
            <a:r>
              <a:rPr dirty="0" spc="-70"/>
              <a:t>maize</a:t>
            </a:r>
            <a:r>
              <a:rPr dirty="0" spc="-35"/>
              <a:t> </a:t>
            </a:r>
            <a:r>
              <a:rPr dirty="0" spc="-25"/>
              <a:t>leaf</a:t>
            </a:r>
            <a:r>
              <a:rPr dirty="0" spc="-10"/>
              <a:t> </a:t>
            </a:r>
            <a:r>
              <a:rPr dirty="0" spc="-75"/>
              <a:t>disease</a:t>
            </a:r>
            <a:r>
              <a:rPr dirty="0" spc="-10"/>
              <a:t> identification.</a:t>
            </a:r>
          </a:p>
          <a:p>
            <a:pPr marL="640715" indent="-627380">
              <a:lnSpc>
                <a:spcPts val="3525"/>
              </a:lnSpc>
              <a:buChar char="•"/>
              <a:tabLst>
                <a:tab pos="640715" algn="l"/>
              </a:tabLst>
            </a:pPr>
            <a:r>
              <a:rPr dirty="0" sz="3000" spc="-55"/>
              <a:t>Framework</a:t>
            </a:r>
            <a:r>
              <a:rPr dirty="0" sz="3000" spc="65"/>
              <a:t> </a:t>
            </a:r>
            <a:r>
              <a:rPr dirty="0" sz="3000" spc="-10"/>
              <a:t>combines</a:t>
            </a:r>
            <a:r>
              <a:rPr dirty="0" sz="3000" spc="95"/>
              <a:t> </a:t>
            </a:r>
            <a:r>
              <a:rPr dirty="0" sz="3000" spc="-40"/>
              <a:t>-</a:t>
            </a:r>
            <a:r>
              <a:rPr dirty="0" sz="3000"/>
              <a:t>&gt;</a:t>
            </a:r>
            <a:r>
              <a:rPr dirty="0" sz="3000" spc="-145"/>
              <a:t> </a:t>
            </a:r>
            <a:r>
              <a:rPr dirty="0" sz="3000" spc="50"/>
              <a:t>MobileNetV2-</a:t>
            </a:r>
            <a:r>
              <a:rPr dirty="0" sz="3000" spc="70"/>
              <a:t>CBAM</a:t>
            </a:r>
            <a:r>
              <a:rPr dirty="0" sz="3000" spc="-50"/>
              <a:t> </a:t>
            </a:r>
            <a:r>
              <a:rPr dirty="0" sz="3000" spc="-20"/>
              <a:t>for</a:t>
            </a:r>
            <a:r>
              <a:rPr dirty="0" sz="3000" spc="-75"/>
              <a:t> </a:t>
            </a:r>
            <a:r>
              <a:rPr dirty="0" sz="3000" spc="-25"/>
              <a:t>attention-</a:t>
            </a:r>
            <a:r>
              <a:rPr dirty="0" sz="3000" spc="-10"/>
              <a:t>enhanced</a:t>
            </a:r>
            <a:r>
              <a:rPr dirty="0" sz="3000" spc="-125"/>
              <a:t> </a:t>
            </a:r>
            <a:r>
              <a:rPr dirty="0" sz="3000" spc="-25"/>
              <a:t>feature</a:t>
            </a:r>
            <a:r>
              <a:rPr dirty="0" sz="3000" spc="-10"/>
              <a:t> extraction,</a:t>
            </a:r>
            <a:r>
              <a:rPr dirty="0" sz="3000" spc="114"/>
              <a:t> </a:t>
            </a:r>
            <a:r>
              <a:rPr dirty="0" sz="3000"/>
              <a:t>SVM</a:t>
            </a:r>
            <a:r>
              <a:rPr dirty="0" sz="3000" spc="-60"/>
              <a:t> </a:t>
            </a:r>
            <a:r>
              <a:rPr dirty="0" sz="3000"/>
              <a:t>classifier</a:t>
            </a:r>
            <a:r>
              <a:rPr dirty="0" sz="3000" spc="125"/>
              <a:t> </a:t>
            </a:r>
            <a:r>
              <a:rPr dirty="0" sz="3000" spc="-20"/>
              <a:t>for</a:t>
            </a:r>
            <a:r>
              <a:rPr dirty="0" sz="3000" spc="-150"/>
              <a:t> </a:t>
            </a:r>
            <a:r>
              <a:rPr dirty="0" sz="3000" spc="-10"/>
              <a:t>robust</a:t>
            </a:r>
            <a:endParaRPr sz="3000"/>
          </a:p>
          <a:p>
            <a:pPr marL="646430">
              <a:lnSpc>
                <a:spcPts val="3610"/>
              </a:lnSpc>
            </a:pPr>
            <a:r>
              <a:rPr dirty="0" sz="3050" spc="-35"/>
              <a:t>disease</a:t>
            </a:r>
            <a:r>
              <a:rPr dirty="0" sz="3050" spc="-40"/>
              <a:t> </a:t>
            </a:r>
            <a:r>
              <a:rPr dirty="0" sz="3050" spc="-10"/>
              <a:t>classification.</a:t>
            </a:r>
            <a:endParaRPr sz="3050"/>
          </a:p>
          <a:p>
            <a:pPr marL="646430" indent="-633095">
              <a:lnSpc>
                <a:spcPts val="3554"/>
              </a:lnSpc>
              <a:buChar char="•"/>
              <a:tabLst>
                <a:tab pos="646430" algn="l"/>
              </a:tabLst>
            </a:pPr>
            <a:r>
              <a:rPr dirty="0" sz="3000" spc="-30"/>
              <a:t>Achieved</a:t>
            </a:r>
            <a:r>
              <a:rPr dirty="0" sz="3000" spc="135"/>
              <a:t> </a:t>
            </a:r>
            <a:r>
              <a:rPr dirty="0" sz="3000" spc="-35"/>
              <a:t>state-of-the-</a:t>
            </a:r>
            <a:r>
              <a:rPr dirty="0" sz="3000"/>
              <a:t>art</a:t>
            </a:r>
            <a:r>
              <a:rPr dirty="0" sz="3000" spc="-30"/>
              <a:t> </a:t>
            </a:r>
            <a:r>
              <a:rPr dirty="0" sz="3000" spc="-10"/>
              <a:t>performance:</a:t>
            </a:r>
            <a:endParaRPr sz="3000"/>
          </a:p>
          <a:p>
            <a:pPr marL="22225">
              <a:lnSpc>
                <a:spcPts val="3560"/>
              </a:lnSpc>
              <a:tabLst>
                <a:tab pos="637540" algn="l"/>
              </a:tabLst>
            </a:pPr>
            <a:r>
              <a:rPr dirty="0" sz="3000" spc="70"/>
              <a:t>•’</a:t>
            </a:r>
            <a:r>
              <a:rPr dirty="0" sz="3000"/>
              <a:t>	98.11%</a:t>
            </a:r>
            <a:r>
              <a:rPr dirty="0" sz="3000" spc="-40"/>
              <a:t> </a:t>
            </a:r>
            <a:r>
              <a:rPr dirty="0" sz="3000" spc="-10"/>
              <a:t>accuracy</a:t>
            </a:r>
            <a:r>
              <a:rPr dirty="0" sz="3000"/>
              <a:t> on</a:t>
            </a:r>
            <a:r>
              <a:rPr dirty="0" sz="3000" spc="-105"/>
              <a:t> </a:t>
            </a:r>
            <a:r>
              <a:rPr dirty="0" sz="3000" spc="-10"/>
              <a:t>Kaggle</a:t>
            </a:r>
            <a:r>
              <a:rPr dirty="0" sz="3000" spc="-35"/>
              <a:t> </a:t>
            </a:r>
            <a:r>
              <a:rPr dirty="0" sz="3000"/>
              <a:t>Leaf</a:t>
            </a:r>
            <a:r>
              <a:rPr dirty="0" sz="3000" spc="-105"/>
              <a:t> </a:t>
            </a:r>
            <a:r>
              <a:rPr dirty="0" sz="3000" spc="-10"/>
              <a:t>Disease</a:t>
            </a:r>
            <a:r>
              <a:rPr dirty="0" sz="3000" spc="-70"/>
              <a:t> </a:t>
            </a:r>
            <a:r>
              <a:rPr dirty="0" sz="3000" spc="-30"/>
              <a:t>Dataset</a:t>
            </a:r>
            <a:r>
              <a:rPr dirty="0" sz="3000"/>
              <a:t> </a:t>
            </a:r>
            <a:r>
              <a:rPr dirty="0" sz="3000" spc="-50"/>
              <a:t>1</a:t>
            </a:r>
            <a:endParaRPr sz="3000"/>
          </a:p>
          <a:p>
            <a:pPr marL="21590">
              <a:lnSpc>
                <a:spcPts val="3579"/>
              </a:lnSpc>
              <a:tabLst>
                <a:tab pos="637540" algn="l"/>
              </a:tabLst>
            </a:pPr>
            <a:r>
              <a:rPr dirty="0" sz="3000" spc="70"/>
              <a:t>•’</a:t>
            </a:r>
            <a:r>
              <a:rPr dirty="0" sz="3000"/>
              <a:t>	</a:t>
            </a:r>
            <a:r>
              <a:rPr dirty="0" sz="3000" spc="-10"/>
              <a:t>99.44% </a:t>
            </a:r>
            <a:r>
              <a:rPr dirty="0" sz="3000"/>
              <a:t>accuracy</a:t>
            </a:r>
            <a:r>
              <a:rPr dirty="0" sz="3000" spc="-30"/>
              <a:t> </a:t>
            </a:r>
            <a:r>
              <a:rPr dirty="0" sz="3000"/>
              <a:t>on</a:t>
            </a:r>
            <a:r>
              <a:rPr dirty="0" sz="3000" spc="-120"/>
              <a:t> </a:t>
            </a:r>
            <a:r>
              <a:rPr dirty="0" sz="3000" spc="-10"/>
              <a:t>Kaggle</a:t>
            </a:r>
            <a:r>
              <a:rPr dirty="0" sz="3000" spc="-5"/>
              <a:t> </a:t>
            </a:r>
            <a:r>
              <a:rPr dirty="0" sz="3000"/>
              <a:t>Leaf</a:t>
            </a:r>
            <a:r>
              <a:rPr dirty="0" sz="3000" spc="-90"/>
              <a:t> </a:t>
            </a:r>
            <a:r>
              <a:rPr dirty="0" sz="3000"/>
              <a:t>Disease</a:t>
            </a:r>
            <a:r>
              <a:rPr dirty="0" sz="3000" spc="-35"/>
              <a:t> </a:t>
            </a:r>
            <a:r>
              <a:rPr dirty="0" sz="3000" spc="-20"/>
              <a:t>Dataset</a:t>
            </a:r>
            <a:r>
              <a:rPr dirty="0" sz="3000" spc="-35"/>
              <a:t> </a:t>
            </a:r>
            <a:r>
              <a:rPr dirty="0" sz="3000" spc="-50"/>
              <a:t>2</a:t>
            </a:r>
            <a:endParaRPr sz="3000"/>
          </a:p>
          <a:p>
            <a:pPr marL="634365" indent="-621030">
              <a:lnSpc>
                <a:spcPts val="3560"/>
              </a:lnSpc>
              <a:buChar char="•"/>
              <a:tabLst>
                <a:tab pos="634365" algn="l"/>
              </a:tabLst>
            </a:pPr>
            <a:r>
              <a:rPr dirty="0" sz="3000"/>
              <a:t>Ablation</a:t>
            </a:r>
            <a:r>
              <a:rPr dirty="0" sz="3000" spc="55"/>
              <a:t> </a:t>
            </a:r>
            <a:r>
              <a:rPr dirty="0" sz="3000"/>
              <a:t>analysis</a:t>
            </a:r>
            <a:r>
              <a:rPr dirty="0" sz="3000" spc="60"/>
              <a:t> </a:t>
            </a:r>
            <a:r>
              <a:rPr dirty="0" sz="3000" spc="-10"/>
              <a:t>confirms</a:t>
            </a:r>
            <a:r>
              <a:rPr dirty="0" sz="3000" spc="-25"/>
              <a:t> </a:t>
            </a:r>
            <a:r>
              <a:rPr dirty="0" sz="3000"/>
              <a:t>-&gt;</a:t>
            </a:r>
            <a:r>
              <a:rPr dirty="0" sz="3000" spc="-165"/>
              <a:t> </a:t>
            </a:r>
            <a:r>
              <a:rPr dirty="0" sz="3000" spc="-20"/>
              <a:t>E0ectiveness</a:t>
            </a:r>
            <a:r>
              <a:rPr dirty="0" sz="3000" spc="225"/>
              <a:t> </a:t>
            </a:r>
            <a:r>
              <a:rPr dirty="0" sz="3000"/>
              <a:t>of</a:t>
            </a:r>
            <a:r>
              <a:rPr dirty="0" sz="3000" spc="-110"/>
              <a:t> </a:t>
            </a:r>
            <a:r>
              <a:rPr dirty="0" sz="3000"/>
              <a:t>attention</a:t>
            </a:r>
            <a:r>
              <a:rPr dirty="0" sz="3000" spc="215"/>
              <a:t> </a:t>
            </a:r>
            <a:r>
              <a:rPr dirty="0" sz="3000"/>
              <a:t>mechanisms</a:t>
            </a:r>
            <a:r>
              <a:rPr dirty="0" sz="3000" spc="210"/>
              <a:t> </a:t>
            </a:r>
            <a:r>
              <a:rPr dirty="0" sz="3000"/>
              <a:t>(CBAM),</a:t>
            </a:r>
            <a:r>
              <a:rPr dirty="0" sz="3000" spc="130"/>
              <a:t> </a:t>
            </a:r>
            <a:r>
              <a:rPr dirty="0" sz="3000" spc="-25"/>
              <a:t>Benefit</a:t>
            </a:r>
            <a:r>
              <a:rPr dirty="0" sz="3000" spc="90"/>
              <a:t> </a:t>
            </a:r>
            <a:r>
              <a:rPr dirty="0" sz="3000"/>
              <a:t>of</a:t>
            </a:r>
            <a:r>
              <a:rPr dirty="0" sz="3000" spc="-100"/>
              <a:t> </a:t>
            </a:r>
            <a:r>
              <a:rPr dirty="0" sz="3000"/>
              <a:t>hybrid</a:t>
            </a:r>
            <a:r>
              <a:rPr dirty="0" sz="3000" spc="-90"/>
              <a:t> </a:t>
            </a:r>
            <a:r>
              <a:rPr dirty="0" sz="3000" spc="100"/>
              <a:t>DL-</a:t>
            </a:r>
            <a:r>
              <a:rPr dirty="0" sz="3000" spc="90"/>
              <a:t>MLIearning.</a:t>
            </a:r>
            <a:endParaRPr sz="3000"/>
          </a:p>
          <a:p>
            <a:pPr marL="638175" indent="-624205">
              <a:lnSpc>
                <a:spcPts val="3575"/>
              </a:lnSpc>
              <a:buChar char="•"/>
              <a:tabLst>
                <a:tab pos="638175" algn="l"/>
              </a:tabLst>
            </a:pPr>
            <a:r>
              <a:rPr dirty="0" sz="3000"/>
              <a:t>The</a:t>
            </a:r>
            <a:r>
              <a:rPr dirty="0" sz="3000" spc="-150"/>
              <a:t> </a:t>
            </a:r>
            <a:r>
              <a:rPr dirty="0" sz="3000" spc="-35"/>
              <a:t>lightweight</a:t>
            </a:r>
            <a:r>
              <a:rPr dirty="0" sz="3000" spc="120"/>
              <a:t> </a:t>
            </a:r>
            <a:r>
              <a:rPr dirty="0" sz="3000" spc="-25"/>
              <a:t>design</a:t>
            </a:r>
            <a:r>
              <a:rPr dirty="0" sz="3000" spc="5"/>
              <a:t> </a:t>
            </a:r>
            <a:r>
              <a:rPr dirty="0" sz="3000" spc="-20"/>
              <a:t>makes</a:t>
            </a:r>
            <a:r>
              <a:rPr dirty="0" sz="3000" spc="45"/>
              <a:t> </a:t>
            </a:r>
            <a:r>
              <a:rPr dirty="0" sz="3000"/>
              <a:t>the</a:t>
            </a:r>
            <a:r>
              <a:rPr dirty="0" sz="3000" spc="-80"/>
              <a:t> </a:t>
            </a:r>
            <a:r>
              <a:rPr dirty="0" sz="3000" spc="-25"/>
              <a:t>model</a:t>
            </a:r>
            <a:r>
              <a:rPr dirty="0" sz="3000" spc="15"/>
              <a:t> </a:t>
            </a:r>
            <a:r>
              <a:rPr dirty="0" sz="3000" spc="-35"/>
              <a:t>suitable</a:t>
            </a:r>
            <a:r>
              <a:rPr dirty="0" sz="3000" spc="160"/>
              <a:t> </a:t>
            </a:r>
            <a:r>
              <a:rPr dirty="0" sz="3000" spc="-55"/>
              <a:t>for</a:t>
            </a:r>
            <a:r>
              <a:rPr dirty="0" sz="3000" spc="-125"/>
              <a:t> </a:t>
            </a:r>
            <a:r>
              <a:rPr dirty="0" sz="3000" spc="-25"/>
              <a:t>resource-</a:t>
            </a:r>
            <a:r>
              <a:rPr dirty="0" sz="3000"/>
              <a:t>constrained</a:t>
            </a:r>
            <a:r>
              <a:rPr dirty="0" sz="3000" spc="-40"/>
              <a:t> </a:t>
            </a:r>
            <a:r>
              <a:rPr dirty="0" sz="3000" spc="-10"/>
              <a:t>environments.</a:t>
            </a:r>
            <a:endParaRPr sz="3000"/>
          </a:p>
          <a:p>
            <a:pPr>
              <a:lnSpc>
                <a:spcPct val="100000"/>
              </a:lnSpc>
              <a:spcBef>
                <a:spcPts val="30"/>
              </a:spcBef>
              <a:buFont typeface="Calibri"/>
              <a:buChar char="•"/>
            </a:pPr>
            <a:endParaRPr sz="3000"/>
          </a:p>
          <a:p>
            <a:pPr marL="637540" marR="5080" indent="-624205">
              <a:lnSpc>
                <a:spcPts val="3579"/>
              </a:lnSpc>
              <a:buChar char="•"/>
              <a:tabLst>
                <a:tab pos="637540" algn="l"/>
                <a:tab pos="640715" algn="l"/>
              </a:tabLst>
            </a:pPr>
            <a:r>
              <a:rPr dirty="0" sz="3000"/>
              <a:t>	Future</a:t>
            </a:r>
            <a:r>
              <a:rPr dirty="0" sz="3000" spc="50"/>
              <a:t>  </a:t>
            </a:r>
            <a:r>
              <a:rPr dirty="0" sz="3000"/>
              <a:t>works</a:t>
            </a:r>
            <a:r>
              <a:rPr dirty="0" sz="3000" spc="55"/>
              <a:t>  </a:t>
            </a:r>
            <a:r>
              <a:rPr dirty="0" sz="3000"/>
              <a:t>can</a:t>
            </a:r>
            <a:r>
              <a:rPr dirty="0" sz="3000" spc="665"/>
              <a:t> </a:t>
            </a:r>
            <a:r>
              <a:rPr dirty="0" sz="3000"/>
              <a:t>extend</a:t>
            </a:r>
            <a:r>
              <a:rPr dirty="0" sz="3000" spc="60"/>
              <a:t>  </a:t>
            </a:r>
            <a:r>
              <a:rPr dirty="0" sz="3000"/>
              <a:t>the</a:t>
            </a:r>
            <a:r>
              <a:rPr dirty="0" sz="3000" spc="45"/>
              <a:t>  </a:t>
            </a:r>
            <a:r>
              <a:rPr dirty="0" sz="3000"/>
              <a:t>framework</a:t>
            </a:r>
            <a:r>
              <a:rPr dirty="0" sz="3000" spc="75"/>
              <a:t>  </a:t>
            </a:r>
            <a:r>
              <a:rPr dirty="0" sz="3000"/>
              <a:t>to</a:t>
            </a:r>
            <a:r>
              <a:rPr dirty="0" sz="3000" spc="670"/>
              <a:t> </a:t>
            </a:r>
            <a:r>
              <a:rPr dirty="0" sz="3000"/>
              <a:t>-&gt;</a:t>
            </a:r>
            <a:r>
              <a:rPr dirty="0" sz="3000" spc="605"/>
              <a:t> </a:t>
            </a:r>
            <a:r>
              <a:rPr dirty="0" sz="3000"/>
              <a:t>other</a:t>
            </a:r>
            <a:r>
              <a:rPr dirty="0" sz="3000" spc="65"/>
              <a:t>  </a:t>
            </a:r>
            <a:r>
              <a:rPr dirty="0" sz="3000"/>
              <a:t>crops</a:t>
            </a:r>
            <a:r>
              <a:rPr dirty="0" sz="3000" spc="720"/>
              <a:t> </a:t>
            </a:r>
            <a:r>
              <a:rPr dirty="0" sz="3000"/>
              <a:t>and</a:t>
            </a:r>
            <a:r>
              <a:rPr dirty="0" sz="3000" spc="575"/>
              <a:t> </a:t>
            </a:r>
            <a:r>
              <a:rPr dirty="0" sz="3000"/>
              <a:t>plant</a:t>
            </a:r>
            <a:r>
              <a:rPr dirty="0" sz="3000" spc="35"/>
              <a:t>  </a:t>
            </a:r>
            <a:r>
              <a:rPr dirty="0" sz="3000"/>
              <a:t>diseases,</a:t>
            </a:r>
            <a:r>
              <a:rPr dirty="0" sz="3000" spc="40"/>
              <a:t>  </a:t>
            </a:r>
            <a:r>
              <a:rPr dirty="0" sz="3000"/>
              <a:t>diverse</a:t>
            </a:r>
            <a:r>
              <a:rPr dirty="0" sz="3000" spc="635"/>
              <a:t> </a:t>
            </a:r>
            <a:r>
              <a:rPr dirty="0" sz="3000"/>
              <a:t>agricultural</a:t>
            </a:r>
            <a:r>
              <a:rPr dirty="0" sz="3000" spc="75"/>
              <a:t>  </a:t>
            </a:r>
            <a:r>
              <a:rPr dirty="0" sz="3000" spc="-10"/>
              <a:t>image scenarios.</a:t>
            </a:r>
            <a:endParaRPr sz="3000"/>
          </a:p>
          <a:p>
            <a:pPr marL="640715" indent="-627380">
              <a:lnSpc>
                <a:spcPts val="3429"/>
              </a:lnSpc>
              <a:buChar char="•"/>
              <a:tabLst>
                <a:tab pos="640715" algn="l"/>
              </a:tabLst>
            </a:pPr>
            <a:r>
              <a:rPr dirty="0" sz="3000" spc="-40"/>
              <a:t>Incorporate</a:t>
            </a:r>
            <a:r>
              <a:rPr dirty="0" sz="3000" spc="260"/>
              <a:t> </a:t>
            </a:r>
            <a:r>
              <a:rPr dirty="0" sz="3000" spc="-25"/>
              <a:t>additional</a:t>
            </a:r>
            <a:r>
              <a:rPr dirty="0" sz="3000" spc="130"/>
              <a:t> </a:t>
            </a:r>
            <a:r>
              <a:rPr dirty="0" sz="3000" spc="-10"/>
              <a:t>imaging</a:t>
            </a:r>
            <a:r>
              <a:rPr dirty="0" sz="3000" spc="160"/>
              <a:t> </a:t>
            </a:r>
            <a:r>
              <a:rPr dirty="0" sz="3000" spc="-25"/>
              <a:t>modalities</a:t>
            </a:r>
            <a:r>
              <a:rPr dirty="0" sz="3000" spc="235"/>
              <a:t> </a:t>
            </a:r>
            <a:r>
              <a:rPr dirty="0" sz="3000" spc="-30"/>
              <a:t>-</a:t>
            </a:r>
            <a:r>
              <a:rPr dirty="0" sz="3000"/>
              <a:t>&gt;</a:t>
            </a:r>
            <a:r>
              <a:rPr dirty="0" sz="3000" spc="-130"/>
              <a:t> </a:t>
            </a:r>
            <a:r>
              <a:rPr dirty="0" sz="3000" spc="-10"/>
              <a:t>hyperspectral</a:t>
            </a:r>
            <a:r>
              <a:rPr dirty="0" sz="3000" spc="140"/>
              <a:t> </a:t>
            </a:r>
            <a:r>
              <a:rPr dirty="0" sz="3000"/>
              <a:t>imaging,</a:t>
            </a:r>
            <a:r>
              <a:rPr dirty="0" sz="3000" spc="-10"/>
              <a:t> </a:t>
            </a:r>
            <a:r>
              <a:rPr dirty="0" sz="3000"/>
              <a:t>thermal</a:t>
            </a:r>
            <a:r>
              <a:rPr dirty="0" sz="3000" spc="-20"/>
              <a:t> </a:t>
            </a:r>
            <a:r>
              <a:rPr dirty="0" sz="3000"/>
              <a:t>(thermography)</a:t>
            </a:r>
            <a:r>
              <a:rPr dirty="0" sz="3000" spc="-20"/>
              <a:t> </a:t>
            </a:r>
            <a:r>
              <a:rPr dirty="0" sz="3000" spc="-10"/>
              <a:t>imaging.</a:t>
            </a:r>
            <a:endParaRPr sz="3000"/>
          </a:p>
          <a:p>
            <a:pPr marL="645795" indent="-633095">
              <a:lnSpc>
                <a:spcPts val="3595"/>
              </a:lnSpc>
              <a:spcBef>
                <a:spcPts val="25"/>
              </a:spcBef>
              <a:buChar char="•"/>
              <a:tabLst>
                <a:tab pos="645795" algn="l"/>
              </a:tabLst>
            </a:pPr>
            <a:r>
              <a:rPr dirty="0" baseline="1821" sz="4575" spc="-52"/>
              <a:t>Optimize</a:t>
            </a:r>
            <a:r>
              <a:rPr dirty="0" baseline="1821" sz="4575" spc="1042"/>
              <a:t> </a:t>
            </a:r>
            <a:r>
              <a:rPr dirty="0" baseline="1821" sz="4575"/>
              <a:t>for</a:t>
            </a:r>
            <a:r>
              <a:rPr dirty="0" baseline="1821" sz="4575" spc="802"/>
              <a:t> </a:t>
            </a:r>
            <a:r>
              <a:rPr dirty="0" baseline="1821" sz="4575"/>
              <a:t>edge</a:t>
            </a:r>
            <a:r>
              <a:rPr dirty="0" baseline="1821" sz="4575" spc="937"/>
              <a:t> </a:t>
            </a:r>
            <a:r>
              <a:rPr dirty="0" baseline="1821" sz="4575"/>
              <a:t>and</a:t>
            </a:r>
            <a:r>
              <a:rPr dirty="0" baseline="1821" sz="4575" spc="794"/>
              <a:t> </a:t>
            </a:r>
            <a:r>
              <a:rPr dirty="0" baseline="1821" sz="4575"/>
              <a:t>mobile</a:t>
            </a:r>
            <a:r>
              <a:rPr dirty="0" baseline="1821" sz="4575" spc="989"/>
              <a:t> </a:t>
            </a:r>
            <a:r>
              <a:rPr dirty="0" baseline="1821" sz="4575" spc="-60"/>
              <a:t>deployment</a:t>
            </a:r>
            <a:r>
              <a:rPr dirty="0" baseline="1821" sz="4575" spc="1042"/>
              <a:t> </a:t>
            </a:r>
            <a:r>
              <a:rPr dirty="0" baseline="1821" sz="4575" spc="-75"/>
              <a:t>-</a:t>
            </a:r>
            <a:r>
              <a:rPr dirty="0" baseline="1821" sz="4575"/>
              <a:t>&gt;</a:t>
            </a:r>
            <a:r>
              <a:rPr dirty="0" baseline="1821" sz="4575" spc="772"/>
              <a:t> </a:t>
            </a:r>
            <a:r>
              <a:rPr dirty="0" baseline="1821" sz="4575"/>
              <a:t>model</a:t>
            </a:r>
            <a:r>
              <a:rPr dirty="0" baseline="1821" sz="4575" spc="787"/>
              <a:t> </a:t>
            </a:r>
            <a:r>
              <a:rPr dirty="0" baseline="1821" sz="4575"/>
              <a:t>quantizati</a:t>
            </a:r>
            <a:r>
              <a:rPr dirty="0" sz="3050"/>
              <a:t>o</a:t>
            </a:r>
            <a:r>
              <a:rPr dirty="0" baseline="1821" sz="4575"/>
              <a:t>n,</a:t>
            </a:r>
            <a:r>
              <a:rPr dirty="0" baseline="1821" sz="4575" spc="472"/>
              <a:t> </a:t>
            </a:r>
            <a:r>
              <a:rPr dirty="0" baseline="1821" sz="4575"/>
              <a:t>network</a:t>
            </a:r>
            <a:r>
              <a:rPr dirty="0" baseline="1821" sz="4575" spc="855"/>
              <a:t> </a:t>
            </a:r>
            <a:r>
              <a:rPr dirty="0" baseline="1821" sz="4575"/>
              <a:t>pruning,</a:t>
            </a:r>
            <a:r>
              <a:rPr dirty="0" baseline="1821" sz="4575" spc="855"/>
              <a:t> </a:t>
            </a:r>
            <a:r>
              <a:rPr dirty="0" baseline="1821" sz="4575"/>
              <a:t>lightweight</a:t>
            </a:r>
            <a:r>
              <a:rPr dirty="0" baseline="1821" sz="4575" spc="1035"/>
              <a:t> </a:t>
            </a:r>
            <a:r>
              <a:rPr dirty="0" baseline="1821" sz="4575" spc="-15"/>
              <a:t>inference</a:t>
            </a:r>
            <a:endParaRPr baseline="1821" sz="4575"/>
          </a:p>
          <a:p>
            <a:pPr marL="636270">
              <a:lnSpc>
                <a:spcPts val="3535"/>
              </a:lnSpc>
            </a:pPr>
            <a:r>
              <a:rPr dirty="0" sz="3000" spc="-10"/>
              <a:t>pipelines.</a:t>
            </a:r>
            <a:endParaRPr sz="3000"/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8179265" y="294011"/>
            <a:ext cx="3650615" cy="1037590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6650" spc="-160"/>
              <a:t>References</a:t>
            </a:r>
            <a:endParaRPr sz="6650"/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6642" y="9167831"/>
            <a:ext cx="15488198" cy="3297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64483" y="1498741"/>
            <a:ext cx="18358485" cy="88404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49275" indent="-523875">
              <a:lnSpc>
                <a:spcPct val="100000"/>
              </a:lnSpc>
              <a:spcBef>
                <a:spcPts val="125"/>
              </a:spcBef>
              <a:buAutoNum type="arabicPlain"/>
              <a:tabLst>
                <a:tab pos="549275" algn="l"/>
                <a:tab pos="1591945" algn="l"/>
                <a:tab pos="3094990" algn="l"/>
              </a:tabLst>
            </a:pPr>
            <a:r>
              <a:rPr dirty="0" sz="2700">
                <a:latin typeface="Cambria"/>
                <a:cs typeface="Cambria"/>
              </a:rPr>
              <a:t>Li,</a:t>
            </a:r>
            <a:r>
              <a:rPr dirty="0" sz="2700" spc="85">
                <a:latin typeface="Cambria"/>
                <a:cs typeface="Cambria"/>
              </a:rPr>
              <a:t>  </a:t>
            </a:r>
            <a:r>
              <a:rPr dirty="0" sz="2700" spc="-25">
                <a:latin typeface="Cambria"/>
                <a:cs typeface="Cambria"/>
              </a:rPr>
              <a:t>Z.,</a:t>
            </a:r>
            <a:r>
              <a:rPr dirty="0" sz="2700">
                <a:latin typeface="Cambria"/>
                <a:cs typeface="Cambria"/>
              </a:rPr>
              <a:t>	Zhou,</a:t>
            </a:r>
            <a:r>
              <a:rPr dirty="0" sz="2700" spc="49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G.,</a:t>
            </a:r>
            <a:r>
              <a:rPr dirty="0" sz="2700">
                <a:latin typeface="Cambria"/>
                <a:cs typeface="Cambria"/>
              </a:rPr>
              <a:t>	</a:t>
            </a:r>
            <a:r>
              <a:rPr dirty="0" sz="2700" spc="85">
                <a:latin typeface="Cambria"/>
                <a:cs typeface="Cambria"/>
              </a:rPr>
              <a:t>Hu,</a:t>
            </a:r>
            <a:r>
              <a:rPr dirty="0" sz="2700" spc="390">
                <a:latin typeface="Cambria"/>
                <a:cs typeface="Cambria"/>
              </a:rPr>
              <a:t> </a:t>
            </a:r>
            <a:r>
              <a:rPr dirty="0" sz="2700" spc="55">
                <a:latin typeface="Cambria"/>
                <a:cs typeface="Cambria"/>
              </a:rPr>
              <a:t>Y.,</a:t>
            </a:r>
            <a:r>
              <a:rPr dirty="0" sz="2700" spc="35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Chen,</a:t>
            </a:r>
            <a:r>
              <a:rPr dirty="0" sz="2700" spc="434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A.,</a:t>
            </a:r>
            <a:r>
              <a:rPr dirty="0" sz="2700" spc="65">
                <a:latin typeface="Cambria"/>
                <a:cs typeface="Cambria"/>
              </a:rPr>
              <a:t>  </a:t>
            </a:r>
            <a:r>
              <a:rPr dirty="0" sz="2700" spc="75">
                <a:latin typeface="Cambria"/>
                <a:cs typeface="Cambria"/>
              </a:rPr>
              <a:t>Lu,</a:t>
            </a:r>
            <a:r>
              <a:rPr dirty="0" sz="2700" spc="350">
                <a:latin typeface="Cambria"/>
                <a:cs typeface="Cambria"/>
              </a:rPr>
              <a:t> </a:t>
            </a:r>
            <a:r>
              <a:rPr dirty="0" sz="2700" spc="55">
                <a:latin typeface="Cambria"/>
                <a:cs typeface="Cambria"/>
              </a:rPr>
              <a:t>C.,</a:t>
            </a:r>
            <a:r>
              <a:rPr dirty="0" sz="2700" spc="67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He,</a:t>
            </a:r>
            <a:r>
              <a:rPr dirty="0" sz="2700" spc="31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M.,</a:t>
            </a:r>
            <a:r>
              <a:rPr dirty="0" sz="2700" spc="85">
                <a:latin typeface="Cambria"/>
                <a:cs typeface="Cambria"/>
              </a:rPr>
              <a:t>  </a:t>
            </a:r>
            <a:r>
              <a:rPr dirty="0" sz="2700">
                <a:latin typeface="Cambria"/>
                <a:cs typeface="Cambria"/>
              </a:rPr>
              <a:t>...</a:t>
            </a:r>
            <a:r>
              <a:rPr dirty="0" sz="2700" spc="595">
                <a:latin typeface="Cambria"/>
                <a:cs typeface="Cambria"/>
              </a:rPr>
              <a:t> </a:t>
            </a:r>
            <a:r>
              <a:rPr dirty="0" sz="2700" spc="185">
                <a:latin typeface="Cambria"/>
                <a:cs typeface="Cambria"/>
              </a:rPr>
              <a:t>&amp;</a:t>
            </a:r>
            <a:r>
              <a:rPr dirty="0" sz="2700" spc="420">
                <a:latin typeface="Cambria"/>
                <a:cs typeface="Cambria"/>
              </a:rPr>
              <a:t> </a:t>
            </a:r>
            <a:r>
              <a:rPr dirty="0" sz="2700" spc="-20">
                <a:latin typeface="Cambria"/>
                <a:cs typeface="Cambria"/>
              </a:rPr>
              <a:t>Wang,</a:t>
            </a:r>
            <a:r>
              <a:rPr dirty="0" sz="2700" spc="62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Y.</a:t>
            </a:r>
            <a:r>
              <a:rPr dirty="0" sz="2700" spc="265">
                <a:latin typeface="Cambria"/>
                <a:cs typeface="Cambria"/>
              </a:rPr>
              <a:t> </a:t>
            </a:r>
            <a:r>
              <a:rPr dirty="0" sz="2700" spc="-60">
                <a:latin typeface="Cambria"/>
                <a:cs typeface="Cambria"/>
              </a:rPr>
              <a:t>(2022).</a:t>
            </a:r>
            <a:r>
              <a:rPr dirty="0" sz="2700" spc="50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Maize</a:t>
            </a:r>
            <a:r>
              <a:rPr dirty="0" sz="2700" spc="44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leaf</a:t>
            </a:r>
            <a:r>
              <a:rPr dirty="0" sz="2700" spc="315">
                <a:latin typeface="Cambria"/>
                <a:cs typeface="Cambria"/>
              </a:rPr>
              <a:t> </a:t>
            </a:r>
            <a:r>
              <a:rPr dirty="0" sz="2700" spc="-50">
                <a:latin typeface="Cambria"/>
                <a:cs typeface="Cambria"/>
              </a:rPr>
              <a:t>disease</a:t>
            </a:r>
            <a:r>
              <a:rPr dirty="0" sz="2700" spc="475">
                <a:latin typeface="Cambria"/>
                <a:cs typeface="Cambria"/>
              </a:rPr>
              <a:t> </a:t>
            </a:r>
            <a:r>
              <a:rPr dirty="0" sz="2700" spc="-45">
                <a:latin typeface="Cambria"/>
                <a:cs typeface="Cambria"/>
              </a:rPr>
              <a:t>identification</a:t>
            </a:r>
            <a:r>
              <a:rPr dirty="0" sz="2700" spc="210">
                <a:latin typeface="Cambria"/>
                <a:cs typeface="Cambria"/>
              </a:rPr>
              <a:t> </a:t>
            </a:r>
            <a:r>
              <a:rPr dirty="0" sz="2700" spc="-50">
                <a:latin typeface="Cambria"/>
                <a:cs typeface="Cambria"/>
              </a:rPr>
              <a:t>based</a:t>
            </a:r>
            <a:r>
              <a:rPr dirty="0" sz="2700" spc="35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on</a:t>
            </a:r>
            <a:r>
              <a:rPr dirty="0" sz="2700" spc="300">
                <a:latin typeface="Cambria"/>
                <a:cs typeface="Cambria"/>
              </a:rPr>
              <a:t> </a:t>
            </a:r>
            <a:r>
              <a:rPr dirty="0" sz="2700" spc="85">
                <a:latin typeface="Cambria"/>
                <a:cs typeface="Cambria"/>
              </a:rPr>
              <a:t>WG-</a:t>
            </a:r>
            <a:endParaRPr sz="2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105">
                <a:latin typeface="Cambria"/>
                <a:cs typeface="Cambria"/>
              </a:rPr>
              <a:t>MARNet.</a:t>
            </a:r>
            <a:r>
              <a:rPr dirty="0" sz="2650" spc="420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Plos</a:t>
            </a:r>
            <a:r>
              <a:rPr dirty="0" sz="2650" spc="385" i="1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one,</a:t>
            </a:r>
            <a:r>
              <a:rPr dirty="0" sz="2650" spc="360" i="1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J7(4),</a:t>
            </a:r>
            <a:r>
              <a:rPr dirty="0" sz="2650" spc="285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e0267650.</a:t>
            </a:r>
            <a:endParaRPr sz="2650">
              <a:latin typeface="Cambria"/>
              <a:cs typeface="Cambria"/>
            </a:endParaRPr>
          </a:p>
          <a:p>
            <a:pPr marL="561975" indent="-535305">
              <a:lnSpc>
                <a:spcPct val="100000"/>
              </a:lnSpc>
              <a:spcBef>
                <a:spcPts val="190"/>
              </a:spcBef>
              <a:buAutoNum type="arabicPlain" startAt="2"/>
              <a:tabLst>
                <a:tab pos="561975" algn="l"/>
                <a:tab pos="2076450" algn="l"/>
                <a:tab pos="3921125" algn="l"/>
              </a:tabLst>
            </a:pPr>
            <a:r>
              <a:rPr dirty="0" baseline="2136" sz="3900">
                <a:latin typeface="Cambria"/>
                <a:cs typeface="Cambria"/>
              </a:rPr>
              <a:t>Pillai,</a:t>
            </a:r>
            <a:r>
              <a:rPr dirty="0" baseline="2136" sz="3900" spc="165">
                <a:latin typeface="Cambria"/>
                <a:cs typeface="Cambria"/>
              </a:rPr>
              <a:t>  </a:t>
            </a:r>
            <a:r>
              <a:rPr dirty="0" baseline="2136" sz="3900" spc="-37">
                <a:latin typeface="Cambria"/>
                <a:cs typeface="Cambria"/>
              </a:rPr>
              <a:t>R.,</a:t>
            </a:r>
            <a:r>
              <a:rPr dirty="0" baseline="2136" sz="3900">
                <a:latin typeface="Cambria"/>
                <a:cs typeface="Cambria"/>
              </a:rPr>
              <a:t>	Sharma,</a:t>
            </a:r>
            <a:r>
              <a:rPr dirty="0" baseline="2136" sz="3900" spc="480">
                <a:latin typeface="Cambria"/>
                <a:cs typeface="Cambria"/>
              </a:rPr>
              <a:t> </a:t>
            </a:r>
            <a:r>
              <a:rPr dirty="0" baseline="2136" sz="3900" spc="-37">
                <a:latin typeface="Cambria"/>
                <a:cs typeface="Cambria"/>
              </a:rPr>
              <a:t>N.,</a:t>
            </a:r>
            <a:r>
              <a:rPr dirty="0" baseline="2136" sz="3900">
                <a:latin typeface="Cambria"/>
                <a:cs typeface="Cambria"/>
              </a:rPr>
              <a:t>	&amp;</a:t>
            </a:r>
            <a:r>
              <a:rPr dirty="0" baseline="2136" sz="3900" spc="127">
                <a:latin typeface="Cambria"/>
                <a:cs typeface="Cambria"/>
              </a:rPr>
              <a:t>  </a:t>
            </a:r>
            <a:r>
              <a:rPr dirty="0" sz="2600" spc="80">
                <a:latin typeface="Cambria"/>
                <a:cs typeface="Cambria"/>
              </a:rPr>
              <a:t>G</a:t>
            </a:r>
            <a:r>
              <a:rPr dirty="0" baseline="2136" sz="3900" spc="120">
                <a:latin typeface="Cambria"/>
                <a:cs typeface="Cambria"/>
              </a:rPr>
              <a:t>upta,</a:t>
            </a:r>
            <a:r>
              <a:rPr dirty="0" baseline="2136" sz="3900" spc="337">
                <a:latin typeface="Cambria"/>
                <a:cs typeface="Cambria"/>
              </a:rPr>
              <a:t> </a:t>
            </a:r>
            <a:r>
              <a:rPr dirty="0" baseline="2136" sz="3900" spc="104">
                <a:latin typeface="Cambria"/>
                <a:cs typeface="Cambria"/>
              </a:rPr>
              <a:t>R.</a:t>
            </a:r>
            <a:r>
              <a:rPr dirty="0" baseline="2136" sz="3900" spc="839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(2023,</a:t>
            </a:r>
            <a:r>
              <a:rPr dirty="0" baseline="2136" sz="3900" spc="847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November).</a:t>
            </a:r>
            <a:r>
              <a:rPr dirty="0" baseline="2136" sz="3900" spc="75">
                <a:latin typeface="Cambria"/>
                <a:cs typeface="Cambria"/>
              </a:rPr>
              <a:t>  </a:t>
            </a:r>
            <a:r>
              <a:rPr dirty="0" baseline="2136" sz="3900">
                <a:latin typeface="Cambria"/>
                <a:cs typeface="Cambria"/>
              </a:rPr>
              <a:t>Disease</a:t>
            </a:r>
            <a:r>
              <a:rPr dirty="0" baseline="2136" sz="3900" spc="652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Detection</a:t>
            </a:r>
            <a:r>
              <a:rPr dirty="0" baseline="2136" sz="3900" spc="855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&amp;</a:t>
            </a:r>
            <a:r>
              <a:rPr dirty="0" baseline="2136" sz="3900" spc="127">
                <a:latin typeface="Cambria"/>
                <a:cs typeface="Cambria"/>
              </a:rPr>
              <a:t>  </a:t>
            </a:r>
            <a:r>
              <a:rPr dirty="0" sz="2600">
                <a:latin typeface="Cambria"/>
                <a:cs typeface="Cambria"/>
              </a:rPr>
              <a:t>C</a:t>
            </a:r>
            <a:r>
              <a:rPr dirty="0" baseline="2136" sz="3900">
                <a:latin typeface="Cambria"/>
                <a:cs typeface="Cambria"/>
              </a:rPr>
              <a:t>lassification</a:t>
            </a:r>
            <a:r>
              <a:rPr dirty="0" baseline="2136" sz="3900" spc="765">
                <a:latin typeface="Cambria"/>
                <a:cs typeface="Cambria"/>
              </a:rPr>
              <a:t> </a:t>
            </a:r>
            <a:r>
              <a:rPr dirty="0" baseline="2136" sz="3900" spc="89">
                <a:latin typeface="Cambria"/>
                <a:cs typeface="Cambria"/>
              </a:rPr>
              <a:t>of</a:t>
            </a:r>
            <a:r>
              <a:rPr dirty="0" baseline="2136" sz="3900" spc="615">
                <a:latin typeface="Cambria"/>
                <a:cs typeface="Cambria"/>
              </a:rPr>
              <a:t> </a:t>
            </a:r>
            <a:r>
              <a:rPr dirty="0" baseline="2136" sz="3900" spc="89">
                <a:latin typeface="Cambria"/>
                <a:cs typeface="Cambria"/>
              </a:rPr>
              <a:t>Maize</a:t>
            </a:r>
            <a:r>
              <a:rPr dirty="0" baseline="2136" sz="3900" spc="555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Leaves</a:t>
            </a:r>
            <a:r>
              <a:rPr dirty="0" baseline="2136" sz="3900" spc="960">
                <a:latin typeface="Cambria"/>
                <a:cs typeface="Cambria"/>
              </a:rPr>
              <a:t> </a:t>
            </a:r>
            <a:r>
              <a:rPr dirty="0" baseline="2136" sz="3900">
                <a:latin typeface="Cambria"/>
                <a:cs typeface="Cambria"/>
              </a:rPr>
              <a:t>Using</a:t>
            </a:r>
            <a:r>
              <a:rPr dirty="0" baseline="2136" sz="3900" spc="735">
                <a:latin typeface="Cambria"/>
                <a:cs typeface="Cambria"/>
              </a:rPr>
              <a:t> </a:t>
            </a:r>
            <a:r>
              <a:rPr dirty="0" baseline="2136" sz="3900" spc="-15">
                <a:latin typeface="Cambria"/>
                <a:cs typeface="Cambria"/>
              </a:rPr>
              <a:t>Fusion</a:t>
            </a:r>
            <a:endParaRPr baseline="2136" sz="39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204"/>
              </a:spcBef>
            </a:pPr>
            <a:r>
              <a:rPr dirty="0" sz="2600">
                <a:latin typeface="Cambria"/>
                <a:cs typeface="Cambria"/>
              </a:rPr>
              <a:t>Model.</a:t>
            </a:r>
            <a:r>
              <a:rPr dirty="0" sz="2600" spc="365">
                <a:latin typeface="Cambria"/>
                <a:cs typeface="Cambria"/>
              </a:rPr>
              <a:t> </a:t>
            </a:r>
            <a:r>
              <a:rPr dirty="0" sz="2600" spc="65">
                <a:latin typeface="Cambria"/>
                <a:cs typeface="Cambria"/>
              </a:rPr>
              <a:t>In</a:t>
            </a:r>
            <a:r>
              <a:rPr dirty="0" sz="2600" spc="260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2023</a:t>
            </a:r>
            <a:r>
              <a:rPr dirty="0" sz="2600" spc="409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Annual</a:t>
            </a:r>
            <a:r>
              <a:rPr dirty="0" sz="2600" spc="45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International</a:t>
            </a:r>
            <a:r>
              <a:rPr dirty="0" sz="2600" spc="60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Conference</a:t>
            </a:r>
            <a:r>
              <a:rPr dirty="0" sz="2600" spc="50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on</a:t>
            </a:r>
            <a:r>
              <a:rPr dirty="0" sz="2600" spc="22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Emerging</a:t>
            </a:r>
            <a:r>
              <a:rPr dirty="0" sz="2600" spc="34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Research</a:t>
            </a:r>
            <a:r>
              <a:rPr dirty="0" sz="2600" spc="400" i="1">
                <a:latin typeface="Cambria"/>
                <a:cs typeface="Cambria"/>
              </a:rPr>
              <a:t> </a:t>
            </a:r>
            <a:r>
              <a:rPr dirty="0" sz="2600" spc="-70" i="1">
                <a:latin typeface="Cambria"/>
                <a:cs typeface="Cambria"/>
              </a:rPr>
              <a:t>Areas.•</a:t>
            </a:r>
            <a:r>
              <a:rPr dirty="0" sz="2600" spc="43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International</a:t>
            </a:r>
            <a:r>
              <a:rPr dirty="0" sz="2600" spc="56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Conference</a:t>
            </a:r>
            <a:r>
              <a:rPr dirty="0" sz="2600" spc="505" i="1">
                <a:latin typeface="Cambria"/>
                <a:cs typeface="Cambria"/>
              </a:rPr>
              <a:t> </a:t>
            </a:r>
            <a:r>
              <a:rPr dirty="0" sz="2600" spc="50" i="1">
                <a:latin typeface="Cambria"/>
                <a:cs typeface="Cambria"/>
              </a:rPr>
              <a:t>on</a:t>
            </a:r>
            <a:r>
              <a:rPr dirty="0" sz="2600" spc="204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Intelligent</a:t>
            </a:r>
            <a:r>
              <a:rPr dirty="0" sz="2600" spc="64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S</a:t>
            </a:r>
            <a:r>
              <a:rPr dirty="0" sz="2600" spc="-245" i="1">
                <a:latin typeface="Cambria"/>
                <a:cs typeface="Cambria"/>
              </a:rPr>
              <a:t> </a:t>
            </a:r>
            <a:r>
              <a:rPr dirty="0" sz="2600" spc="-10" i="1">
                <a:latin typeface="Cambria"/>
                <a:cs typeface="Cambria"/>
              </a:rPr>
              <a:t>y.stems</a:t>
            </a:r>
            <a:endParaRPr sz="2600">
              <a:latin typeface="Cambria"/>
              <a:cs typeface="Cambria"/>
            </a:endParaRPr>
          </a:p>
          <a:p>
            <a:pPr marL="27940">
              <a:lnSpc>
                <a:spcPct val="100000"/>
              </a:lnSpc>
              <a:spcBef>
                <a:spcPts val="75"/>
              </a:spcBef>
            </a:pPr>
            <a:r>
              <a:rPr dirty="0" baseline="2057" sz="4050" i="1">
                <a:latin typeface="Cambria"/>
                <a:cs typeface="Cambria"/>
              </a:rPr>
              <a:t>{AICERA7ICI</a:t>
            </a:r>
            <a:r>
              <a:rPr dirty="0" sz="2700" i="1">
                <a:latin typeface="Cambria"/>
                <a:cs typeface="Cambria"/>
              </a:rPr>
              <a:t>S)</a:t>
            </a:r>
            <a:r>
              <a:rPr dirty="0" sz="2700" spc="15" i="1">
                <a:latin typeface="Cambria"/>
                <a:cs typeface="Cambria"/>
              </a:rPr>
              <a:t> </a:t>
            </a:r>
            <a:r>
              <a:rPr dirty="0" baseline="2057" sz="4050">
                <a:latin typeface="Cambria"/>
                <a:cs typeface="Cambria"/>
              </a:rPr>
              <a:t>(pp.</a:t>
            </a:r>
            <a:r>
              <a:rPr dirty="0" baseline="2057" sz="4050" spc="562">
                <a:latin typeface="Cambria"/>
                <a:cs typeface="Cambria"/>
              </a:rPr>
              <a:t> </a:t>
            </a:r>
            <a:r>
              <a:rPr dirty="0" baseline="2057" sz="4050" spc="-187">
                <a:latin typeface="Cambria"/>
                <a:cs typeface="Cambria"/>
              </a:rPr>
              <a:t>1-</a:t>
            </a:r>
            <a:r>
              <a:rPr dirty="0" baseline="2057" sz="4050" spc="-15">
                <a:latin typeface="Cambria"/>
                <a:cs typeface="Cambria"/>
              </a:rPr>
              <a:t>5).</a:t>
            </a:r>
            <a:r>
              <a:rPr dirty="0" baseline="2057" sz="4050" spc="284">
                <a:latin typeface="Cambria"/>
                <a:cs typeface="Cambria"/>
              </a:rPr>
              <a:t> </a:t>
            </a:r>
            <a:r>
              <a:rPr dirty="0" baseline="2057" sz="4050" spc="120">
                <a:latin typeface="Cambria"/>
                <a:cs typeface="Cambria"/>
              </a:rPr>
              <a:t>IEEE.</a:t>
            </a:r>
            <a:endParaRPr baseline="2057" sz="4050">
              <a:latin typeface="Cambria"/>
              <a:cs typeface="Cambria"/>
            </a:endParaRPr>
          </a:p>
          <a:p>
            <a:pPr marL="26034">
              <a:lnSpc>
                <a:spcPct val="100000"/>
              </a:lnSpc>
              <a:spcBef>
                <a:spcPts val="135"/>
              </a:spcBef>
              <a:tabLst>
                <a:tab pos="2209800" algn="l"/>
                <a:tab pos="3460750" algn="l"/>
                <a:tab pos="5093970" algn="l"/>
                <a:tab pos="6839584" algn="l"/>
                <a:tab pos="8422005" algn="l"/>
                <a:tab pos="8985885" algn="l"/>
                <a:tab pos="10537190" algn="l"/>
                <a:tab pos="11106150" algn="l"/>
                <a:tab pos="13053694" algn="l"/>
              </a:tabLst>
            </a:pPr>
            <a:r>
              <a:rPr dirty="0" sz="2650">
                <a:latin typeface="Cambria"/>
                <a:cs typeface="Cambria"/>
              </a:rPr>
              <a:t>[S]</a:t>
            </a:r>
            <a:r>
              <a:rPr dirty="0" sz="2650" spc="39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Tariq,</a:t>
            </a:r>
            <a:r>
              <a:rPr dirty="0" sz="2650" spc="475">
                <a:latin typeface="Cambria"/>
                <a:cs typeface="Cambria"/>
              </a:rPr>
              <a:t> </a:t>
            </a:r>
            <a:r>
              <a:rPr dirty="0" sz="2650" spc="-25">
                <a:latin typeface="Cambria"/>
                <a:cs typeface="Cambria"/>
              </a:rPr>
              <a:t>M.,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75">
                <a:latin typeface="Cambria"/>
                <a:cs typeface="Cambria"/>
              </a:rPr>
              <a:t>Ali,</a:t>
            </a:r>
            <a:r>
              <a:rPr dirty="0" sz="2650" spc="45">
                <a:latin typeface="Cambria"/>
                <a:cs typeface="Cambria"/>
              </a:rPr>
              <a:t>  </a:t>
            </a:r>
            <a:r>
              <a:rPr dirty="0" sz="2650" spc="55">
                <a:latin typeface="Cambria"/>
                <a:cs typeface="Cambria"/>
              </a:rPr>
              <a:t>U.,</a:t>
            </a:r>
            <a:r>
              <a:rPr dirty="0" sz="2650">
                <a:latin typeface="Cambria"/>
                <a:cs typeface="Cambria"/>
              </a:rPr>
              <a:t>	Abbas,</a:t>
            </a:r>
            <a:r>
              <a:rPr dirty="0" sz="2650" spc="630">
                <a:latin typeface="Cambria"/>
                <a:cs typeface="Cambria"/>
              </a:rPr>
              <a:t> </a:t>
            </a:r>
            <a:r>
              <a:rPr dirty="0" sz="2650" spc="-25">
                <a:latin typeface="Cambria"/>
                <a:cs typeface="Cambria"/>
              </a:rPr>
              <a:t>S.,</a:t>
            </a:r>
            <a:r>
              <a:rPr dirty="0" sz="2650">
                <a:latin typeface="Cambria"/>
                <a:cs typeface="Cambria"/>
              </a:rPr>
              <a:t>	Hassan,</a:t>
            </a:r>
            <a:r>
              <a:rPr dirty="0" sz="2650" spc="420">
                <a:latin typeface="Cambria"/>
                <a:cs typeface="Cambria"/>
              </a:rPr>
              <a:t> </a:t>
            </a:r>
            <a:r>
              <a:rPr dirty="0" sz="2650" spc="-25">
                <a:latin typeface="Cambria"/>
                <a:cs typeface="Cambria"/>
              </a:rPr>
              <a:t>S.,</a:t>
            </a:r>
            <a:r>
              <a:rPr dirty="0" sz="2650">
                <a:latin typeface="Cambria"/>
                <a:cs typeface="Cambria"/>
              </a:rPr>
              <a:t>	Naqvi,</a:t>
            </a:r>
            <a:r>
              <a:rPr dirty="0" sz="2650" spc="145">
                <a:latin typeface="Cambria"/>
                <a:cs typeface="Cambria"/>
              </a:rPr>
              <a:t>  </a:t>
            </a:r>
            <a:r>
              <a:rPr dirty="0" sz="2650" spc="-25">
                <a:latin typeface="Cambria"/>
                <a:cs typeface="Cambria"/>
              </a:rPr>
              <a:t>R.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-25">
                <a:latin typeface="Cambria"/>
                <a:cs typeface="Cambria"/>
              </a:rPr>
              <a:t>A.,</a:t>
            </a:r>
            <a:r>
              <a:rPr dirty="0" sz="2650">
                <a:latin typeface="Cambria"/>
                <a:cs typeface="Cambria"/>
              </a:rPr>
              <a:t>	Khan,</a:t>
            </a:r>
            <a:r>
              <a:rPr dirty="0" sz="2650" spc="85">
                <a:latin typeface="Cambria"/>
                <a:cs typeface="Cambria"/>
              </a:rPr>
              <a:t>  </a:t>
            </a:r>
            <a:r>
              <a:rPr dirty="0" sz="2650" spc="-25">
                <a:latin typeface="Cambria"/>
                <a:cs typeface="Cambria"/>
              </a:rPr>
              <a:t>M.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-25">
                <a:latin typeface="Cambria"/>
                <a:cs typeface="Cambria"/>
              </a:rPr>
              <a:t>A.,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200">
                <a:latin typeface="Cambria"/>
                <a:cs typeface="Cambria"/>
              </a:rPr>
              <a:t>&amp;</a:t>
            </a:r>
            <a:r>
              <a:rPr dirty="0" sz="2650" spc="65">
                <a:latin typeface="Cambria"/>
                <a:cs typeface="Cambria"/>
              </a:rPr>
              <a:t>  </a:t>
            </a:r>
            <a:r>
              <a:rPr dirty="0" sz="2650">
                <a:latin typeface="Cambria"/>
                <a:cs typeface="Cambria"/>
              </a:rPr>
              <a:t>Jeong,</a:t>
            </a:r>
            <a:r>
              <a:rPr dirty="0" sz="2650" spc="620">
                <a:latin typeface="Cambria"/>
                <a:cs typeface="Cambria"/>
              </a:rPr>
              <a:t> </a:t>
            </a:r>
            <a:r>
              <a:rPr dirty="0" sz="2650" spc="-25">
                <a:latin typeface="Cambria"/>
                <a:cs typeface="Cambria"/>
              </a:rPr>
              <a:t>D.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-25">
                <a:latin typeface="Cambria"/>
                <a:cs typeface="Cambria"/>
              </a:rPr>
              <a:t>(2024).</a:t>
            </a:r>
            <a:r>
              <a:rPr dirty="0" sz="2650" spc="52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Corn</a:t>
            </a:r>
            <a:r>
              <a:rPr dirty="0" sz="2650" spc="42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leaf</a:t>
            </a:r>
            <a:r>
              <a:rPr dirty="0" sz="2650" spc="475">
                <a:latin typeface="Cambria"/>
                <a:cs typeface="Cambria"/>
              </a:rPr>
              <a:t> </a:t>
            </a:r>
            <a:r>
              <a:rPr dirty="0" sz="2650" spc="-20">
                <a:latin typeface="Cambria"/>
                <a:cs typeface="Cambria"/>
              </a:rPr>
              <a:t>disease:</a:t>
            </a:r>
            <a:r>
              <a:rPr dirty="0" sz="2650" spc="509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insightful</a:t>
            </a:r>
            <a:endParaRPr sz="2650">
              <a:latin typeface="Cambria"/>
              <a:cs typeface="Cambria"/>
            </a:endParaRPr>
          </a:p>
          <a:p>
            <a:pPr marL="26670">
              <a:lnSpc>
                <a:spcPct val="100000"/>
              </a:lnSpc>
              <a:spcBef>
                <a:spcPts val="100"/>
              </a:spcBef>
            </a:pPr>
            <a:r>
              <a:rPr dirty="0" sz="2600" spc="-20">
                <a:latin typeface="Cambria"/>
                <a:cs typeface="Cambria"/>
              </a:rPr>
              <a:t>diagnosis</a:t>
            </a:r>
            <a:r>
              <a:rPr dirty="0" sz="2600" spc="31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using</a:t>
            </a:r>
            <a:r>
              <a:rPr dirty="0" sz="2600" spc="135">
                <a:latin typeface="Cambria"/>
                <a:cs typeface="Cambria"/>
              </a:rPr>
              <a:t> </a:t>
            </a:r>
            <a:r>
              <a:rPr dirty="0" sz="2600" spc="175">
                <a:latin typeface="Cambria"/>
                <a:cs typeface="Cambria"/>
              </a:rPr>
              <a:t>VGG16</a:t>
            </a:r>
            <a:r>
              <a:rPr dirty="0" sz="2600" spc="70">
                <a:latin typeface="Cambria"/>
                <a:cs typeface="Cambria"/>
              </a:rPr>
              <a:t> </a:t>
            </a:r>
            <a:r>
              <a:rPr dirty="0" sz="2600" spc="-60">
                <a:latin typeface="Cambria"/>
                <a:cs typeface="Cambria"/>
              </a:rPr>
              <a:t>empowered</a:t>
            </a:r>
            <a:r>
              <a:rPr dirty="0" sz="2600" spc="37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by</a:t>
            </a:r>
            <a:r>
              <a:rPr dirty="0" sz="2600" spc="1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explainable</a:t>
            </a:r>
            <a:r>
              <a:rPr dirty="0" sz="2600" spc="110">
                <a:latin typeface="Cambria"/>
                <a:cs typeface="Cambria"/>
              </a:rPr>
              <a:t> </a:t>
            </a:r>
            <a:r>
              <a:rPr dirty="0" sz="2600" spc="105">
                <a:latin typeface="Cambria"/>
                <a:cs typeface="Cambria"/>
              </a:rPr>
              <a:t>AI.</a:t>
            </a:r>
            <a:r>
              <a:rPr dirty="0" sz="2600" spc="240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Frontiers</a:t>
            </a:r>
            <a:r>
              <a:rPr dirty="0" sz="2600" spc="36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in</a:t>
            </a:r>
            <a:r>
              <a:rPr dirty="0" sz="2600" spc="-10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plant</a:t>
            </a:r>
            <a:r>
              <a:rPr dirty="0" sz="2600" spc="29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.srienre,</a:t>
            </a:r>
            <a:r>
              <a:rPr dirty="0" sz="2600" spc="245" i="1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/5,</a:t>
            </a:r>
            <a:r>
              <a:rPr dirty="0" sz="2600" spc="32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l4028S5.</a:t>
            </a:r>
            <a:endParaRPr sz="2600">
              <a:latin typeface="Cambria"/>
              <a:cs typeface="Cambria"/>
            </a:endParaRPr>
          </a:p>
          <a:p>
            <a:pPr marL="537845" indent="-511809">
              <a:lnSpc>
                <a:spcPct val="100000"/>
              </a:lnSpc>
              <a:spcBef>
                <a:spcPts val="215"/>
              </a:spcBef>
              <a:buAutoNum type="arabicPlain" startAt="4"/>
              <a:tabLst>
                <a:tab pos="537845" algn="l"/>
                <a:tab pos="12024995" algn="l"/>
              </a:tabLst>
            </a:pPr>
            <a:r>
              <a:rPr dirty="0" baseline="2096" sz="3975" spc="-60">
                <a:latin typeface="Cambria"/>
                <a:cs typeface="Cambria"/>
              </a:rPr>
              <a:t>Theerthagiri,</a:t>
            </a:r>
            <a:r>
              <a:rPr dirty="0" baseline="2096" sz="3975" spc="705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P.,</a:t>
            </a:r>
            <a:r>
              <a:rPr dirty="0" baseline="2096" sz="3975" spc="254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Ruby,</a:t>
            </a:r>
            <a:r>
              <a:rPr dirty="0" baseline="2096" sz="3975" spc="735">
                <a:latin typeface="Cambria"/>
                <a:cs typeface="Cambria"/>
              </a:rPr>
              <a:t> </a:t>
            </a:r>
            <a:r>
              <a:rPr dirty="0" baseline="2096" sz="3975" spc="172">
                <a:latin typeface="Cambria"/>
                <a:cs typeface="Cambria"/>
              </a:rPr>
              <a:t>A.</a:t>
            </a:r>
            <a:r>
              <a:rPr dirty="0" baseline="2096" sz="3975" spc="525">
                <a:latin typeface="Cambria"/>
                <a:cs typeface="Cambria"/>
              </a:rPr>
              <a:t> </a:t>
            </a:r>
            <a:r>
              <a:rPr dirty="0" baseline="2096" sz="3975" spc="142">
                <a:latin typeface="Cambria"/>
                <a:cs typeface="Cambria"/>
              </a:rPr>
              <a:t>U.,</a:t>
            </a:r>
            <a:r>
              <a:rPr dirty="0" baseline="2096" sz="3975" spc="794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C</a:t>
            </a:r>
            <a:r>
              <a:rPr dirty="0" baseline="2096" sz="3975">
                <a:latin typeface="Cambria"/>
                <a:cs typeface="Cambria"/>
              </a:rPr>
              <a:t>handran,</a:t>
            </a:r>
            <a:r>
              <a:rPr dirty="0" baseline="2096" sz="3975" spc="-337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J.</a:t>
            </a:r>
            <a:r>
              <a:rPr dirty="0" baseline="2096" sz="3975" spc="817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G.</a:t>
            </a:r>
            <a:r>
              <a:rPr dirty="0" baseline="2096" sz="3975" spc="75">
                <a:latin typeface="Cambria"/>
                <a:cs typeface="Cambria"/>
              </a:rPr>
              <a:t>  </a:t>
            </a:r>
            <a:r>
              <a:rPr dirty="0" baseline="2096" sz="3975">
                <a:latin typeface="Cambria"/>
                <a:cs typeface="Cambria"/>
              </a:rPr>
              <a:t>C.,</a:t>
            </a:r>
            <a:r>
              <a:rPr dirty="0" baseline="2096" sz="3975" spc="217">
                <a:latin typeface="Cambria"/>
                <a:cs typeface="Cambria"/>
              </a:rPr>
              <a:t>  </a:t>
            </a:r>
            <a:r>
              <a:rPr dirty="0" baseline="2096" sz="3975" spc="-82">
                <a:latin typeface="Cambria"/>
                <a:cs typeface="Cambria"/>
              </a:rPr>
              <a:t>Sardar,</a:t>
            </a:r>
            <a:r>
              <a:rPr dirty="0" baseline="2096" sz="3975" spc="615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T.</a:t>
            </a:r>
            <a:r>
              <a:rPr dirty="0" baseline="2096" sz="3975" spc="480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H.,</a:t>
            </a:r>
            <a:r>
              <a:rPr dirty="0" baseline="2096" sz="3975" spc="127">
                <a:latin typeface="Cambria"/>
                <a:cs typeface="Cambria"/>
              </a:rPr>
              <a:t>  </a:t>
            </a:r>
            <a:r>
              <a:rPr dirty="0" baseline="2096" sz="3975" spc="217">
                <a:latin typeface="Cambria"/>
                <a:cs typeface="Cambria"/>
              </a:rPr>
              <a:t>&amp;</a:t>
            </a:r>
            <a:r>
              <a:rPr dirty="0" baseline="2096" sz="3975" spc="442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S</a:t>
            </a:r>
            <a:r>
              <a:rPr dirty="0" baseline="2096" sz="3975">
                <a:latin typeface="Cambria"/>
                <a:cs typeface="Cambria"/>
              </a:rPr>
              <a:t>hafeeq</a:t>
            </a:r>
            <a:r>
              <a:rPr dirty="0" baseline="2096" sz="3975" spc="112">
                <a:latin typeface="Cambria"/>
                <a:cs typeface="Cambria"/>
              </a:rPr>
              <a:t> </a:t>
            </a:r>
            <a:r>
              <a:rPr dirty="0" baseline="2096" sz="3975" spc="-37">
                <a:latin typeface="Cambria"/>
                <a:cs typeface="Cambria"/>
              </a:rPr>
              <a:t>BM,</a:t>
            </a:r>
            <a:r>
              <a:rPr dirty="0" baseline="2096" sz="3975">
                <a:latin typeface="Cambria"/>
                <a:cs typeface="Cambria"/>
              </a:rPr>
              <a:t>	A.</a:t>
            </a:r>
            <a:r>
              <a:rPr dirty="0" baseline="2096" sz="3975" spc="660">
                <a:latin typeface="Cambria"/>
                <a:cs typeface="Cambria"/>
              </a:rPr>
              <a:t> </a:t>
            </a:r>
            <a:r>
              <a:rPr dirty="0" baseline="2096" sz="3975" spc="-60">
                <a:latin typeface="Cambria"/>
                <a:cs typeface="Cambria"/>
              </a:rPr>
              <a:t>(2024).</a:t>
            </a:r>
            <a:r>
              <a:rPr dirty="0" baseline="2096" sz="3975" spc="509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Deep</a:t>
            </a:r>
            <a:r>
              <a:rPr dirty="0" baseline="2096" sz="3975" spc="247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S</a:t>
            </a:r>
            <a:r>
              <a:rPr dirty="0" baseline="2096" sz="3975">
                <a:latin typeface="Cambria"/>
                <a:cs typeface="Cambria"/>
              </a:rPr>
              <a:t>queezeNet</a:t>
            </a:r>
            <a:r>
              <a:rPr dirty="0" baseline="2096" sz="3975" spc="-187">
                <a:latin typeface="Cambria"/>
                <a:cs typeface="Cambria"/>
              </a:rPr>
              <a:t> </a:t>
            </a:r>
            <a:r>
              <a:rPr dirty="0" baseline="2096" sz="3975" spc="-52">
                <a:latin typeface="Cambria"/>
                <a:cs typeface="Cambria"/>
              </a:rPr>
              <a:t>learning</a:t>
            </a:r>
            <a:r>
              <a:rPr dirty="0" baseline="2096" sz="3975" spc="517">
                <a:latin typeface="Cambria"/>
                <a:cs typeface="Cambria"/>
              </a:rPr>
              <a:t> </a:t>
            </a:r>
            <a:r>
              <a:rPr dirty="0" baseline="2096" sz="3975" spc="-15">
                <a:latin typeface="Cambria"/>
                <a:cs typeface="Cambria"/>
              </a:rPr>
              <a:t>model</a:t>
            </a:r>
            <a:endParaRPr baseline="2096" sz="3975">
              <a:latin typeface="Cambria"/>
              <a:cs typeface="Cambria"/>
            </a:endParaRPr>
          </a:p>
          <a:p>
            <a:pPr marL="31115">
              <a:lnSpc>
                <a:spcPct val="100000"/>
              </a:lnSpc>
              <a:spcBef>
                <a:spcPts val="100"/>
              </a:spcBef>
            </a:pPr>
            <a:r>
              <a:rPr dirty="0" sz="2600">
                <a:latin typeface="Cambria"/>
                <a:cs typeface="Cambria"/>
              </a:rPr>
              <a:t>for</a:t>
            </a:r>
            <a:r>
              <a:rPr dirty="0" sz="2600" spc="-3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diagnosis</a:t>
            </a:r>
            <a:r>
              <a:rPr dirty="0" sz="2600" spc="245">
                <a:latin typeface="Cambria"/>
                <a:cs typeface="Cambria"/>
              </a:rPr>
              <a:t> </a:t>
            </a:r>
            <a:r>
              <a:rPr dirty="0" sz="2600" spc="-25">
                <a:latin typeface="Cambria"/>
                <a:cs typeface="Cambria"/>
              </a:rPr>
              <a:t>and</a:t>
            </a:r>
            <a:r>
              <a:rPr dirty="0" sz="2600" spc="40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prediction</a:t>
            </a:r>
            <a:r>
              <a:rPr dirty="0" sz="2600" spc="114">
                <a:latin typeface="Cambria"/>
                <a:cs typeface="Cambria"/>
              </a:rPr>
              <a:t> </a:t>
            </a:r>
            <a:r>
              <a:rPr dirty="0" sz="2600" spc="60">
                <a:latin typeface="Cambria"/>
                <a:cs typeface="Cambria"/>
              </a:rPr>
              <a:t>of</a:t>
            </a:r>
            <a:r>
              <a:rPr dirty="0" sz="2600" spc="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maize</a:t>
            </a:r>
            <a:r>
              <a:rPr dirty="0" sz="2600" spc="1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leaf</a:t>
            </a:r>
            <a:r>
              <a:rPr dirty="0" sz="2600" spc="10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diseases.</a:t>
            </a:r>
            <a:r>
              <a:rPr dirty="0" sz="2600" spc="465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Journal</a:t>
            </a:r>
            <a:r>
              <a:rPr dirty="0" sz="2600" spc="14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of</a:t>
            </a:r>
            <a:r>
              <a:rPr dirty="0" sz="2600" spc="15" i="1">
                <a:latin typeface="Cambria"/>
                <a:cs typeface="Cambria"/>
              </a:rPr>
              <a:t> </a:t>
            </a:r>
            <a:r>
              <a:rPr dirty="0" sz="2600" spc="80" i="1">
                <a:latin typeface="Cambria"/>
                <a:cs typeface="Cambria"/>
              </a:rPr>
              <a:t>Big</a:t>
            </a:r>
            <a:r>
              <a:rPr dirty="0" sz="2600" spc="5" i="1">
                <a:latin typeface="Cambria"/>
                <a:cs typeface="Cambria"/>
              </a:rPr>
              <a:t> </a:t>
            </a:r>
            <a:r>
              <a:rPr dirty="0" sz="2600" spc="65" i="1">
                <a:latin typeface="Cambria"/>
                <a:cs typeface="Cambria"/>
              </a:rPr>
              <a:t>Data,</a:t>
            </a:r>
            <a:r>
              <a:rPr dirty="0" sz="2600" spc="75" i="1">
                <a:latin typeface="Cambria"/>
                <a:cs typeface="Cambria"/>
              </a:rPr>
              <a:t> </a:t>
            </a:r>
            <a:r>
              <a:rPr dirty="0" sz="2600" spc="-60" i="1">
                <a:latin typeface="Cambria"/>
                <a:cs typeface="Cambria"/>
              </a:rPr>
              <a:t>1111),</a:t>
            </a:r>
            <a:r>
              <a:rPr dirty="0" sz="2600" spc="215" i="1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112.</a:t>
            </a:r>
            <a:endParaRPr sz="2600">
              <a:latin typeface="Cambria"/>
              <a:cs typeface="Cambria"/>
            </a:endParaRPr>
          </a:p>
          <a:p>
            <a:pPr marL="541020" indent="-515620">
              <a:lnSpc>
                <a:spcPct val="100000"/>
              </a:lnSpc>
              <a:spcBef>
                <a:spcPts val="105"/>
              </a:spcBef>
              <a:buAutoNum type="arabicPlain" startAt="5"/>
              <a:tabLst>
                <a:tab pos="541020" algn="l"/>
              </a:tabLst>
            </a:pPr>
            <a:r>
              <a:rPr dirty="0" sz="2700" spc="80">
                <a:latin typeface="Cambria"/>
                <a:cs typeface="Cambria"/>
              </a:rPr>
              <a:t>Liu,</a:t>
            </a:r>
            <a:r>
              <a:rPr dirty="0" sz="2700" spc="185">
                <a:latin typeface="Cambria"/>
                <a:cs typeface="Cambria"/>
              </a:rPr>
              <a:t> </a:t>
            </a:r>
            <a:r>
              <a:rPr dirty="0" sz="2700" spc="60">
                <a:latin typeface="Cambria"/>
                <a:cs typeface="Cambria"/>
              </a:rPr>
              <a:t>L.,</a:t>
            </a:r>
            <a:r>
              <a:rPr dirty="0" sz="2700" spc="66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Qiao,</a:t>
            </a:r>
            <a:r>
              <a:rPr dirty="0" sz="2700" spc="34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S.,</a:t>
            </a:r>
            <a:r>
              <a:rPr dirty="0" sz="2700" spc="64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Chang,</a:t>
            </a:r>
            <a:r>
              <a:rPr dirty="0" sz="2700" spc="47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J.,</a:t>
            </a:r>
            <a:r>
              <a:rPr dirty="0" sz="2700" spc="55">
                <a:latin typeface="Cambria"/>
                <a:cs typeface="Cambria"/>
              </a:rPr>
              <a:t>  </a:t>
            </a:r>
            <a:r>
              <a:rPr dirty="0" sz="2700">
                <a:latin typeface="Cambria"/>
                <a:cs typeface="Cambria"/>
              </a:rPr>
              <a:t>Ding,</a:t>
            </a:r>
            <a:r>
              <a:rPr dirty="0" sz="2700" spc="40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W.,</a:t>
            </a:r>
            <a:r>
              <a:rPr dirty="0" sz="2700" spc="375">
                <a:latin typeface="Cambria"/>
                <a:cs typeface="Cambria"/>
              </a:rPr>
              <a:t> </a:t>
            </a:r>
            <a:r>
              <a:rPr dirty="0" sz="2700" spc="100">
                <a:latin typeface="Cambria"/>
                <a:cs typeface="Cambria"/>
              </a:rPr>
              <a:t>Xu,</a:t>
            </a:r>
            <a:r>
              <a:rPr dirty="0" sz="2700" spc="320">
                <a:latin typeface="Cambria"/>
                <a:cs typeface="Cambria"/>
              </a:rPr>
              <a:t> </a:t>
            </a:r>
            <a:r>
              <a:rPr dirty="0" sz="2700" spc="75">
                <a:latin typeface="Cambria"/>
                <a:cs typeface="Cambria"/>
              </a:rPr>
              <a:t>C.,</a:t>
            </a:r>
            <a:r>
              <a:rPr dirty="0" sz="2700" spc="620">
                <a:latin typeface="Cambria"/>
                <a:cs typeface="Cambria"/>
              </a:rPr>
              <a:t> </a:t>
            </a:r>
            <a:r>
              <a:rPr dirty="0" sz="2700" spc="95">
                <a:latin typeface="Cambria"/>
                <a:cs typeface="Cambria"/>
              </a:rPr>
              <a:t>Gu,</a:t>
            </a:r>
            <a:r>
              <a:rPr dirty="0" sz="2700" spc="32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J.,</a:t>
            </a:r>
            <a:r>
              <a:rPr dirty="0" sz="2700" spc="630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...</a:t>
            </a:r>
            <a:r>
              <a:rPr dirty="0" sz="2700" spc="490">
                <a:latin typeface="Cambria"/>
                <a:cs typeface="Cambria"/>
              </a:rPr>
              <a:t> </a:t>
            </a:r>
            <a:r>
              <a:rPr dirty="0" sz="2700" spc="145">
                <a:latin typeface="Cambria"/>
                <a:cs typeface="Cambria"/>
              </a:rPr>
              <a:t>&amp;</a:t>
            </a:r>
            <a:r>
              <a:rPr dirty="0" sz="2700" spc="33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Qiao,</a:t>
            </a:r>
            <a:r>
              <a:rPr dirty="0" sz="2700" spc="375">
                <a:latin typeface="Cambria"/>
                <a:cs typeface="Cambria"/>
              </a:rPr>
              <a:t> </a:t>
            </a:r>
            <a:r>
              <a:rPr dirty="0" sz="2700" spc="65">
                <a:latin typeface="Cambria"/>
                <a:cs typeface="Cambria"/>
              </a:rPr>
              <a:t>H.</a:t>
            </a:r>
            <a:r>
              <a:rPr dirty="0" sz="2700" spc="305">
                <a:latin typeface="Cambria"/>
                <a:cs typeface="Cambria"/>
              </a:rPr>
              <a:t> </a:t>
            </a:r>
            <a:r>
              <a:rPr dirty="0" sz="2700" spc="-55">
                <a:latin typeface="Cambria"/>
                <a:cs typeface="Cambria"/>
              </a:rPr>
              <a:t>(2024).</a:t>
            </a:r>
            <a:r>
              <a:rPr dirty="0" sz="2700" spc="585">
                <a:latin typeface="Cambria"/>
                <a:cs typeface="Cambria"/>
              </a:rPr>
              <a:t> </a:t>
            </a:r>
            <a:r>
              <a:rPr dirty="0" sz="2700" spc="165">
                <a:latin typeface="Cambria"/>
                <a:cs typeface="Cambria"/>
              </a:rPr>
              <a:t>A</a:t>
            </a:r>
            <a:r>
              <a:rPr dirty="0" sz="2700" spc="114">
                <a:latin typeface="Cambria"/>
                <a:cs typeface="Cambria"/>
              </a:rPr>
              <a:t> </a:t>
            </a:r>
            <a:r>
              <a:rPr dirty="0" sz="2700" spc="-85">
                <a:latin typeface="Cambria"/>
                <a:cs typeface="Cambria"/>
              </a:rPr>
              <a:t>multi-</a:t>
            </a:r>
            <a:r>
              <a:rPr dirty="0" sz="2700">
                <a:latin typeface="Cambria"/>
                <a:cs typeface="Cambria"/>
              </a:rPr>
              <a:t>scale</a:t>
            </a:r>
            <a:r>
              <a:rPr dirty="0" sz="2700" spc="445">
                <a:latin typeface="Cambria"/>
                <a:cs typeface="Cambria"/>
              </a:rPr>
              <a:t> </a:t>
            </a:r>
            <a:r>
              <a:rPr dirty="0" sz="2700" spc="-65">
                <a:latin typeface="Cambria"/>
                <a:cs typeface="Cambria"/>
              </a:rPr>
              <a:t>feature</a:t>
            </a:r>
            <a:r>
              <a:rPr dirty="0" sz="2700" spc="405">
                <a:latin typeface="Cambria"/>
                <a:cs typeface="Cambria"/>
              </a:rPr>
              <a:t> </a:t>
            </a:r>
            <a:r>
              <a:rPr dirty="0" sz="2700" spc="-20">
                <a:latin typeface="Cambria"/>
                <a:cs typeface="Cambria"/>
              </a:rPr>
              <a:t>fusion</a:t>
            </a:r>
            <a:r>
              <a:rPr dirty="0" sz="2700" spc="210">
                <a:latin typeface="Cambria"/>
                <a:cs typeface="Cambria"/>
              </a:rPr>
              <a:t> </a:t>
            </a:r>
            <a:r>
              <a:rPr dirty="0" sz="2700" spc="-75">
                <a:latin typeface="Cambria"/>
                <a:cs typeface="Cambria"/>
              </a:rPr>
              <a:t>neural</a:t>
            </a:r>
            <a:r>
              <a:rPr dirty="0" sz="2700" spc="380">
                <a:latin typeface="Cambria"/>
                <a:cs typeface="Cambria"/>
              </a:rPr>
              <a:t> </a:t>
            </a:r>
            <a:r>
              <a:rPr dirty="0" sz="2700" spc="-100">
                <a:latin typeface="Cambria"/>
                <a:cs typeface="Cambria"/>
              </a:rPr>
              <a:t>network</a:t>
            </a:r>
            <a:r>
              <a:rPr dirty="0" sz="2700" spc="37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for</a:t>
            </a:r>
            <a:endParaRPr sz="2700">
              <a:latin typeface="Cambria"/>
              <a:cs typeface="Cambria"/>
            </a:endParaRPr>
          </a:p>
          <a:p>
            <a:pPr marL="30480">
              <a:lnSpc>
                <a:spcPct val="100000"/>
              </a:lnSpc>
              <a:spcBef>
                <a:spcPts val="155"/>
              </a:spcBef>
            </a:pPr>
            <a:r>
              <a:rPr dirty="0" sz="2600" spc="-45">
                <a:latin typeface="Cambria"/>
                <a:cs typeface="Cambria"/>
              </a:rPr>
              <a:t>multi-</a:t>
            </a:r>
            <a:r>
              <a:rPr dirty="0" sz="2600">
                <a:latin typeface="Cambria"/>
                <a:cs typeface="Cambria"/>
              </a:rPr>
              <a:t>class</a:t>
            </a:r>
            <a:r>
              <a:rPr dirty="0" sz="2600" spc="229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disease</a:t>
            </a:r>
            <a:r>
              <a:rPr dirty="0" sz="2600" spc="8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classification</a:t>
            </a:r>
            <a:r>
              <a:rPr dirty="0" sz="2600" spc="-10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on</a:t>
            </a:r>
            <a:r>
              <a:rPr dirty="0" sz="2600" spc="95">
                <a:latin typeface="Cambria"/>
                <a:cs typeface="Cambria"/>
              </a:rPr>
              <a:t> </a:t>
            </a:r>
            <a:r>
              <a:rPr dirty="0" sz="2600" spc="-20">
                <a:latin typeface="Cambria"/>
                <a:cs typeface="Cambria"/>
              </a:rPr>
              <a:t>the</a:t>
            </a:r>
            <a:r>
              <a:rPr dirty="0" sz="2600" spc="4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maize</a:t>
            </a:r>
            <a:r>
              <a:rPr dirty="0" sz="2600" spc="18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leaf</a:t>
            </a:r>
            <a:r>
              <a:rPr dirty="0" sz="2600" spc="12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images.</a:t>
            </a:r>
            <a:r>
              <a:rPr dirty="0" sz="2600" spc="280">
                <a:latin typeface="Cambria"/>
                <a:cs typeface="Cambria"/>
              </a:rPr>
              <a:t> </a:t>
            </a:r>
            <a:r>
              <a:rPr dirty="0" sz="2600" spc="70" i="1">
                <a:latin typeface="Cambria"/>
                <a:cs typeface="Cambria"/>
              </a:rPr>
              <a:t>Heli</a:t>
            </a:r>
            <a:r>
              <a:rPr dirty="0" sz="2600" spc="-250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yon,</a:t>
            </a:r>
            <a:r>
              <a:rPr dirty="0" sz="2600" spc="120" i="1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/0(7).</a:t>
            </a:r>
            <a:endParaRPr sz="2600">
              <a:latin typeface="Cambria"/>
              <a:cs typeface="Cambria"/>
            </a:endParaRPr>
          </a:p>
          <a:p>
            <a:pPr marL="40640" marR="15875" indent="-14604">
              <a:lnSpc>
                <a:spcPts val="3390"/>
              </a:lnSpc>
              <a:spcBef>
                <a:spcPts val="90"/>
              </a:spcBef>
              <a:buAutoNum type="arabicPlain" startAt="6"/>
              <a:tabLst>
                <a:tab pos="40640" algn="l"/>
                <a:tab pos="548640" algn="l"/>
                <a:tab pos="3152140" algn="l"/>
              </a:tabLst>
            </a:pPr>
            <a:r>
              <a:rPr dirty="0" sz="2650" spc="95">
                <a:latin typeface="Cambria"/>
                <a:cs typeface="Cambria"/>
              </a:rPr>
              <a:t>Hu,</a:t>
            </a:r>
            <a:r>
              <a:rPr dirty="0" sz="2650" spc="55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J.,</a:t>
            </a:r>
            <a:r>
              <a:rPr dirty="0" sz="2650" spc="145">
                <a:latin typeface="Cambria"/>
                <a:cs typeface="Cambria"/>
              </a:rPr>
              <a:t>  </a:t>
            </a:r>
            <a:r>
              <a:rPr dirty="0" sz="2650">
                <a:latin typeface="Cambria"/>
                <a:cs typeface="Cambria"/>
              </a:rPr>
              <a:t>Jiang,</a:t>
            </a:r>
            <a:r>
              <a:rPr dirty="0" sz="2650" spc="40">
                <a:latin typeface="Cambria"/>
                <a:cs typeface="Cambria"/>
              </a:rPr>
              <a:t>  </a:t>
            </a:r>
            <a:r>
              <a:rPr dirty="0" sz="2650" spc="-25">
                <a:latin typeface="Cambria"/>
                <a:cs typeface="Cambria"/>
              </a:rPr>
              <a:t>X.,</a:t>
            </a:r>
            <a:r>
              <a:rPr dirty="0" sz="2650">
                <a:latin typeface="Cambria"/>
                <a:cs typeface="Cambria"/>
              </a:rPr>
              <a:t>	</a:t>
            </a:r>
            <a:r>
              <a:rPr dirty="0" sz="2650" spc="80">
                <a:latin typeface="Cambria"/>
                <a:cs typeface="Cambria"/>
              </a:rPr>
              <a:t>Gao,</a:t>
            </a:r>
            <a:r>
              <a:rPr dirty="0" sz="2650" spc="38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J.,</a:t>
            </a:r>
            <a:r>
              <a:rPr dirty="0" sz="2650" spc="610">
                <a:latin typeface="Cambria"/>
                <a:cs typeface="Cambria"/>
              </a:rPr>
              <a:t> </a:t>
            </a:r>
            <a:r>
              <a:rPr dirty="0" sz="2650" spc="200">
                <a:latin typeface="Cambria"/>
                <a:cs typeface="Cambria"/>
              </a:rPr>
              <a:t>&amp;</a:t>
            </a:r>
            <a:r>
              <a:rPr dirty="0" sz="2650" spc="46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Yu,</a:t>
            </a:r>
            <a:r>
              <a:rPr dirty="0" sz="2650" spc="45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X.</a:t>
            </a:r>
            <a:r>
              <a:rPr dirty="0" sz="2650" spc="45">
                <a:latin typeface="Cambria"/>
                <a:cs typeface="Cambria"/>
              </a:rPr>
              <a:t>  </a:t>
            </a:r>
            <a:r>
              <a:rPr dirty="0" sz="2650" spc="-35">
                <a:latin typeface="Cambria"/>
                <a:cs typeface="Cambria"/>
              </a:rPr>
              <a:t>(2024).</a:t>
            </a:r>
            <a:r>
              <a:rPr dirty="0" sz="2650" spc="484">
                <a:latin typeface="Cambria"/>
                <a:cs typeface="Cambria"/>
              </a:rPr>
              <a:t> </a:t>
            </a:r>
            <a:r>
              <a:rPr dirty="0" sz="2650" spc="65">
                <a:latin typeface="Cambria"/>
                <a:cs typeface="Cambria"/>
              </a:rPr>
              <a:t>LFMNet:</a:t>
            </a:r>
            <a:r>
              <a:rPr dirty="0" sz="2650" spc="51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a</a:t>
            </a:r>
            <a:r>
              <a:rPr dirty="0" sz="2650" spc="270">
                <a:latin typeface="Cambria"/>
                <a:cs typeface="Cambria"/>
              </a:rPr>
              <a:t> </a:t>
            </a:r>
            <a:r>
              <a:rPr dirty="0" sz="2650" spc="-30">
                <a:latin typeface="Cambria"/>
                <a:cs typeface="Cambria"/>
              </a:rPr>
              <a:t>lightweight</a:t>
            </a:r>
            <a:r>
              <a:rPr dirty="0" sz="2650" spc="56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model</a:t>
            </a:r>
            <a:r>
              <a:rPr dirty="0" sz="2650" spc="41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for</a:t>
            </a:r>
            <a:r>
              <a:rPr dirty="0" sz="2650" spc="320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identifying</a:t>
            </a:r>
            <a:r>
              <a:rPr dirty="0" sz="2650" spc="44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leaf</a:t>
            </a:r>
            <a:r>
              <a:rPr dirty="0" sz="2650" spc="385">
                <a:latin typeface="Cambria"/>
                <a:cs typeface="Cambria"/>
              </a:rPr>
              <a:t> </a:t>
            </a:r>
            <a:r>
              <a:rPr dirty="0" sz="2650" spc="-45">
                <a:latin typeface="Cambria"/>
                <a:cs typeface="Cambria"/>
              </a:rPr>
              <a:t>diseases</a:t>
            </a:r>
            <a:r>
              <a:rPr dirty="0" sz="2650" spc="440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of</a:t>
            </a:r>
            <a:r>
              <a:rPr dirty="0" sz="2650" spc="395">
                <a:latin typeface="Cambria"/>
                <a:cs typeface="Cambria"/>
              </a:rPr>
              <a:t> </a:t>
            </a:r>
            <a:r>
              <a:rPr dirty="0" sz="2650">
                <a:latin typeface="Cambria"/>
                <a:cs typeface="Cambria"/>
              </a:rPr>
              <a:t>maize</a:t>
            </a:r>
            <a:r>
              <a:rPr dirty="0" sz="2650" spc="500">
                <a:latin typeface="Cambria"/>
                <a:cs typeface="Cambria"/>
              </a:rPr>
              <a:t> </a:t>
            </a:r>
            <a:r>
              <a:rPr dirty="0" sz="2650" spc="-20">
                <a:latin typeface="Cambria"/>
                <a:cs typeface="Cambria"/>
              </a:rPr>
              <a:t>with</a:t>
            </a:r>
            <a:r>
              <a:rPr dirty="0" sz="2650" spc="225">
                <a:latin typeface="Cambria"/>
                <a:cs typeface="Cambria"/>
              </a:rPr>
              <a:t> </a:t>
            </a:r>
            <a:r>
              <a:rPr dirty="0" sz="2650" spc="-20">
                <a:latin typeface="Cambria"/>
                <a:cs typeface="Cambria"/>
              </a:rPr>
              <a:t>high </a:t>
            </a:r>
            <a:r>
              <a:rPr dirty="0" baseline="2096" sz="3975" spc="-75">
                <a:latin typeface="Cambria"/>
                <a:cs typeface="Cambria"/>
              </a:rPr>
              <a:t>similarity.</a:t>
            </a:r>
            <a:r>
              <a:rPr dirty="0" baseline="2096" sz="3975" spc="480">
                <a:latin typeface="Cambria"/>
                <a:cs typeface="Cambria"/>
              </a:rPr>
              <a:t> </a:t>
            </a:r>
            <a:r>
              <a:rPr dirty="0" baseline="2096" sz="3975" i="1">
                <a:latin typeface="Cambria"/>
                <a:cs typeface="Cambria"/>
              </a:rPr>
              <a:t>Frontiers</a:t>
            </a:r>
            <a:r>
              <a:rPr dirty="0" baseline="2096" sz="3975" spc="540" i="1">
                <a:latin typeface="Cambria"/>
                <a:cs typeface="Cambria"/>
              </a:rPr>
              <a:t> </a:t>
            </a:r>
            <a:r>
              <a:rPr dirty="0" baseline="2096" sz="3975" i="1">
                <a:latin typeface="Cambria"/>
                <a:cs typeface="Cambria"/>
              </a:rPr>
              <a:t>in</a:t>
            </a:r>
            <a:r>
              <a:rPr dirty="0" baseline="2096" sz="3975" spc="-52" i="1">
                <a:latin typeface="Cambria"/>
                <a:cs typeface="Cambria"/>
              </a:rPr>
              <a:t> </a:t>
            </a:r>
            <a:r>
              <a:rPr dirty="0" baseline="2096" sz="3975" i="1">
                <a:latin typeface="Cambria"/>
                <a:cs typeface="Cambria"/>
              </a:rPr>
              <a:t>Plant</a:t>
            </a:r>
            <a:r>
              <a:rPr dirty="0" baseline="2096" sz="3975" spc="547" i="1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S</a:t>
            </a:r>
            <a:r>
              <a:rPr dirty="0" baseline="2096" sz="3975" i="1">
                <a:latin typeface="Cambria"/>
                <a:cs typeface="Cambria"/>
              </a:rPr>
              <a:t>cience,</a:t>
            </a:r>
            <a:r>
              <a:rPr dirty="0" baseline="2096" sz="3975" spc="480" i="1">
                <a:latin typeface="Cambria"/>
                <a:cs typeface="Cambria"/>
              </a:rPr>
              <a:t> </a:t>
            </a:r>
            <a:r>
              <a:rPr dirty="0" baseline="2096" sz="3975" i="1">
                <a:latin typeface="Cambria"/>
                <a:cs typeface="Cambria"/>
              </a:rPr>
              <a:t>15,</a:t>
            </a:r>
            <a:r>
              <a:rPr dirty="0" baseline="2096" sz="3975" spc="315" i="1">
                <a:latin typeface="Cambria"/>
                <a:cs typeface="Cambria"/>
              </a:rPr>
              <a:t> </a:t>
            </a:r>
            <a:r>
              <a:rPr dirty="0" baseline="2096" sz="3975" spc="-15">
                <a:latin typeface="Cambria"/>
                <a:cs typeface="Cambria"/>
              </a:rPr>
              <a:t>1368697.</a:t>
            </a:r>
            <a:endParaRPr baseline="2096" sz="3975">
              <a:latin typeface="Cambria"/>
              <a:cs typeface="Cambria"/>
            </a:endParaRPr>
          </a:p>
          <a:p>
            <a:pPr marL="561975" indent="-535940">
              <a:lnSpc>
                <a:spcPts val="3175"/>
              </a:lnSpc>
              <a:buAutoNum type="arabicPlain" startAt="6"/>
              <a:tabLst>
                <a:tab pos="561975" algn="l"/>
                <a:tab pos="5837555" algn="l"/>
                <a:tab pos="8115300" algn="l"/>
                <a:tab pos="9979025" algn="l"/>
                <a:tab pos="12028170" algn="l"/>
                <a:tab pos="12421235" algn="l"/>
              </a:tabLst>
            </a:pPr>
            <a:r>
              <a:rPr dirty="0" baseline="2096" sz="3975">
                <a:latin typeface="Cambria"/>
                <a:cs typeface="Cambria"/>
              </a:rPr>
              <a:t>Bachhal,</a:t>
            </a:r>
            <a:r>
              <a:rPr dirty="0" baseline="2096" sz="3975" spc="914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P.,</a:t>
            </a:r>
            <a:r>
              <a:rPr dirty="0" baseline="2096" sz="3975" spc="637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Kukreja,</a:t>
            </a:r>
            <a:r>
              <a:rPr dirty="0" baseline="2096" sz="3975" spc="135">
                <a:latin typeface="Cambria"/>
                <a:cs typeface="Cambria"/>
              </a:rPr>
              <a:t>  </a:t>
            </a:r>
            <a:r>
              <a:rPr dirty="0" baseline="2096" sz="3975">
                <a:latin typeface="Cambria"/>
                <a:cs typeface="Cambria"/>
              </a:rPr>
              <a:t>V.,</a:t>
            </a:r>
            <a:r>
              <a:rPr dirty="0" baseline="2096" sz="3975" spc="885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Ahuja,</a:t>
            </a:r>
            <a:r>
              <a:rPr dirty="0" baseline="2096" sz="3975" spc="975">
                <a:latin typeface="Cambria"/>
                <a:cs typeface="Cambria"/>
              </a:rPr>
              <a:t> </a:t>
            </a:r>
            <a:r>
              <a:rPr dirty="0" baseline="2096" sz="3975" spc="-37">
                <a:latin typeface="Cambria"/>
                <a:cs typeface="Cambria"/>
              </a:rPr>
              <a:t>S.,</a:t>
            </a:r>
            <a:r>
              <a:rPr dirty="0" baseline="2096" sz="3975">
                <a:latin typeface="Cambria"/>
                <a:cs typeface="Cambria"/>
              </a:rPr>
              <a:t>	Lilhore,</a:t>
            </a:r>
            <a:r>
              <a:rPr dirty="0" baseline="2096" sz="3975" spc="937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U.</a:t>
            </a:r>
            <a:r>
              <a:rPr dirty="0" baseline="2096" sz="3975" spc="150">
                <a:latin typeface="Cambria"/>
                <a:cs typeface="Cambria"/>
              </a:rPr>
              <a:t>  </a:t>
            </a:r>
            <a:r>
              <a:rPr dirty="0" baseline="2096" sz="3975" spc="-37">
                <a:latin typeface="Cambria"/>
                <a:cs typeface="Cambria"/>
              </a:rPr>
              <a:t>K.,</a:t>
            </a:r>
            <a:r>
              <a:rPr dirty="0" baseline="2096" sz="3975">
                <a:latin typeface="Cambria"/>
                <a:cs typeface="Cambria"/>
              </a:rPr>
              <a:t>	</a:t>
            </a:r>
            <a:r>
              <a:rPr dirty="0" sz="2650">
                <a:latin typeface="Cambria"/>
                <a:cs typeface="Cambria"/>
              </a:rPr>
              <a:t>S</a:t>
            </a:r>
            <a:r>
              <a:rPr dirty="0" baseline="2096" sz="3975">
                <a:latin typeface="Cambria"/>
                <a:cs typeface="Cambria"/>
              </a:rPr>
              <a:t>imaiya,</a:t>
            </a:r>
            <a:r>
              <a:rPr dirty="0" baseline="2096" sz="3975" spc="900">
                <a:latin typeface="Cambria"/>
                <a:cs typeface="Cambria"/>
              </a:rPr>
              <a:t> </a:t>
            </a:r>
            <a:r>
              <a:rPr dirty="0" baseline="2096" sz="3975" spc="-37">
                <a:latin typeface="Cambria"/>
                <a:cs typeface="Cambria"/>
              </a:rPr>
              <a:t>S.,</a:t>
            </a:r>
            <a:r>
              <a:rPr dirty="0" baseline="2096" sz="3975">
                <a:latin typeface="Cambria"/>
                <a:cs typeface="Cambria"/>
              </a:rPr>
              <a:t>	Bijalwan,</a:t>
            </a:r>
            <a:r>
              <a:rPr dirty="0" baseline="2096" sz="3975" spc="67">
                <a:latin typeface="Cambria"/>
                <a:cs typeface="Cambria"/>
              </a:rPr>
              <a:t>  </a:t>
            </a:r>
            <a:r>
              <a:rPr dirty="0" baseline="2096" sz="3975" spc="-37">
                <a:latin typeface="Cambria"/>
                <a:cs typeface="Cambria"/>
              </a:rPr>
              <a:t>A.,</a:t>
            </a:r>
            <a:r>
              <a:rPr dirty="0" baseline="2096" sz="3975">
                <a:latin typeface="Cambria"/>
                <a:cs typeface="Cambria"/>
              </a:rPr>
              <a:t>	</a:t>
            </a:r>
            <a:r>
              <a:rPr dirty="0" baseline="2096" sz="3975" spc="-37">
                <a:latin typeface="Cambria"/>
                <a:cs typeface="Cambria"/>
              </a:rPr>
              <a:t>...</a:t>
            </a:r>
            <a:r>
              <a:rPr dirty="0" baseline="2096" sz="3975">
                <a:latin typeface="Cambria"/>
                <a:cs typeface="Cambria"/>
              </a:rPr>
              <a:t>	&amp;</a:t>
            </a:r>
            <a:r>
              <a:rPr dirty="0" baseline="2096" sz="3975" spc="120">
                <a:latin typeface="Cambria"/>
                <a:cs typeface="Cambria"/>
              </a:rPr>
              <a:t>  </a:t>
            </a:r>
            <a:r>
              <a:rPr dirty="0" baseline="2096" sz="3975">
                <a:latin typeface="Cambria"/>
                <a:cs typeface="Cambria"/>
              </a:rPr>
              <a:t>Algarni,</a:t>
            </a:r>
            <a:r>
              <a:rPr dirty="0" baseline="2096" sz="3975" spc="825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S.</a:t>
            </a:r>
            <a:r>
              <a:rPr dirty="0" baseline="2096" sz="3975" spc="104">
                <a:latin typeface="Cambria"/>
                <a:cs typeface="Cambria"/>
              </a:rPr>
              <a:t>  </a:t>
            </a:r>
            <a:r>
              <a:rPr dirty="0" baseline="2096" sz="3975" spc="-30">
                <a:latin typeface="Cambria"/>
                <a:cs typeface="Cambria"/>
              </a:rPr>
              <a:t>(2024).</a:t>
            </a:r>
            <a:r>
              <a:rPr dirty="0" baseline="2096" sz="3975" spc="862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Maize</a:t>
            </a:r>
            <a:r>
              <a:rPr dirty="0" baseline="2096" sz="3975" spc="615">
                <a:latin typeface="Cambria"/>
                <a:cs typeface="Cambria"/>
              </a:rPr>
              <a:t> </a:t>
            </a:r>
            <a:r>
              <a:rPr dirty="0" baseline="2096" sz="3975">
                <a:latin typeface="Cambria"/>
                <a:cs typeface="Cambria"/>
              </a:rPr>
              <a:t>leaf</a:t>
            </a:r>
            <a:r>
              <a:rPr dirty="0" baseline="2096" sz="3975" spc="682">
                <a:latin typeface="Cambria"/>
                <a:cs typeface="Cambria"/>
              </a:rPr>
              <a:t> </a:t>
            </a:r>
            <a:r>
              <a:rPr dirty="0" baseline="2096" sz="3975" spc="-60">
                <a:latin typeface="Cambria"/>
                <a:cs typeface="Cambria"/>
              </a:rPr>
              <a:t>disease</a:t>
            </a:r>
            <a:endParaRPr baseline="2096" sz="3975">
              <a:latin typeface="Cambria"/>
              <a:cs typeface="Cambria"/>
            </a:endParaRPr>
          </a:p>
          <a:p>
            <a:pPr marL="18415">
              <a:lnSpc>
                <a:spcPct val="100000"/>
              </a:lnSpc>
              <a:spcBef>
                <a:spcPts val="100"/>
              </a:spcBef>
            </a:pPr>
            <a:r>
              <a:rPr dirty="0" sz="2600" spc="-25">
                <a:latin typeface="Cambria"/>
                <a:cs typeface="Cambria"/>
              </a:rPr>
              <a:t>recognition</a:t>
            </a:r>
            <a:r>
              <a:rPr dirty="0" sz="2600" spc="33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using</a:t>
            </a:r>
            <a:r>
              <a:rPr dirty="0" sz="2600" spc="120">
                <a:latin typeface="Cambria"/>
                <a:cs typeface="Cambria"/>
              </a:rPr>
              <a:t> </a:t>
            </a:r>
            <a:r>
              <a:rPr dirty="0" sz="2600" spc="155">
                <a:latin typeface="Cambria"/>
                <a:cs typeface="Cambria"/>
              </a:rPr>
              <a:t>PRF-</a:t>
            </a:r>
            <a:r>
              <a:rPr dirty="0" sz="2600" spc="195">
                <a:latin typeface="Cambria"/>
                <a:cs typeface="Cambria"/>
              </a:rPr>
              <a:t>SVM</a:t>
            </a:r>
            <a:r>
              <a:rPr dirty="0" sz="2600" spc="295">
                <a:latin typeface="Cambria"/>
                <a:cs typeface="Cambria"/>
              </a:rPr>
              <a:t> </a:t>
            </a:r>
            <a:r>
              <a:rPr dirty="0" sz="2600" spc="-45">
                <a:latin typeface="Cambria"/>
                <a:cs typeface="Cambria"/>
              </a:rPr>
              <a:t>integration:</a:t>
            </a:r>
            <a:r>
              <a:rPr dirty="0" sz="2600" spc="37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a</a:t>
            </a:r>
            <a:r>
              <a:rPr dirty="0" sz="2600" spc="-10">
                <a:latin typeface="Cambria"/>
                <a:cs typeface="Cambria"/>
              </a:rPr>
              <a:t> </a:t>
            </a:r>
            <a:r>
              <a:rPr dirty="0" sz="2600" spc="-65">
                <a:latin typeface="Cambria"/>
                <a:cs typeface="Cambria"/>
              </a:rPr>
              <a:t>breakthrough</a:t>
            </a:r>
            <a:r>
              <a:rPr dirty="0" sz="2600" spc="484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technique.</a:t>
            </a:r>
            <a:r>
              <a:rPr dirty="0" sz="2600" spc="425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Scientific</a:t>
            </a:r>
            <a:r>
              <a:rPr dirty="0" sz="2600" spc="22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Reports,</a:t>
            </a:r>
            <a:r>
              <a:rPr dirty="0" sz="2600" spc="175" i="1">
                <a:latin typeface="Cambria"/>
                <a:cs typeface="Cambria"/>
              </a:rPr>
              <a:t> </a:t>
            </a:r>
            <a:r>
              <a:rPr dirty="0" sz="2600" i="1">
                <a:latin typeface="Cambria"/>
                <a:cs typeface="Cambria"/>
              </a:rPr>
              <a:t>14;</a:t>
            </a:r>
            <a:r>
              <a:rPr dirty="0" sz="2600">
                <a:latin typeface="Cambria"/>
                <a:cs typeface="Cambria"/>
              </a:rPr>
              <a:t>1),</a:t>
            </a:r>
            <a:r>
              <a:rPr dirty="0" sz="2600" spc="20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10219.</a:t>
            </a:r>
            <a:endParaRPr sz="2600">
              <a:latin typeface="Cambria"/>
              <a:cs typeface="Cambria"/>
            </a:endParaRPr>
          </a:p>
          <a:p>
            <a:pPr marL="541655" indent="-514984">
              <a:lnSpc>
                <a:spcPct val="100000"/>
              </a:lnSpc>
              <a:spcBef>
                <a:spcPts val="170"/>
              </a:spcBef>
              <a:buAutoNum type="arabicPlain" startAt="8"/>
              <a:tabLst>
                <a:tab pos="541655" algn="l"/>
                <a:tab pos="4150360" algn="l"/>
              </a:tabLst>
            </a:pPr>
            <a:r>
              <a:rPr dirty="0" sz="2600" spc="-10">
                <a:latin typeface="Cambria"/>
                <a:cs typeface="Cambria"/>
              </a:rPr>
              <a:t>Nakatumba-</a:t>
            </a:r>
            <a:r>
              <a:rPr dirty="0" sz="2600">
                <a:latin typeface="Cambria"/>
                <a:cs typeface="Cambria"/>
              </a:rPr>
              <a:t>Nabende,</a:t>
            </a:r>
            <a:r>
              <a:rPr dirty="0" sz="2600" spc="200">
                <a:latin typeface="Cambria"/>
                <a:cs typeface="Cambria"/>
              </a:rPr>
              <a:t> </a:t>
            </a:r>
            <a:r>
              <a:rPr dirty="0" sz="2600" spc="-25">
                <a:latin typeface="Cambria"/>
                <a:cs typeface="Cambria"/>
              </a:rPr>
              <a:t>J.,</a:t>
            </a:r>
            <a:r>
              <a:rPr dirty="0" sz="2600">
                <a:latin typeface="Cambria"/>
                <a:cs typeface="Cambria"/>
              </a:rPr>
              <a:t>	&amp;</a:t>
            </a:r>
            <a:r>
              <a:rPr dirty="0" sz="2600" spc="33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Murindanyi,</a:t>
            </a:r>
            <a:r>
              <a:rPr dirty="0" sz="2600" spc="50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S.</a:t>
            </a:r>
            <a:r>
              <a:rPr dirty="0" sz="2600" spc="490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(2025).</a:t>
            </a:r>
            <a:r>
              <a:rPr dirty="0" sz="2600" spc="39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Deep</a:t>
            </a:r>
            <a:r>
              <a:rPr dirty="0" sz="2600" spc="19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learning</a:t>
            </a:r>
            <a:r>
              <a:rPr dirty="0" sz="2600" spc="31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models</a:t>
            </a:r>
            <a:r>
              <a:rPr dirty="0" sz="2600" spc="26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for</a:t>
            </a:r>
            <a:r>
              <a:rPr dirty="0" sz="2600" spc="140">
                <a:latin typeface="Cambria"/>
                <a:cs typeface="Cambria"/>
              </a:rPr>
              <a:t> </a:t>
            </a:r>
            <a:r>
              <a:rPr dirty="0" sz="2600" spc="-30">
                <a:latin typeface="Cambria"/>
                <a:cs typeface="Cambria"/>
              </a:rPr>
              <a:t>enhanced</a:t>
            </a:r>
            <a:r>
              <a:rPr dirty="0" sz="2600" spc="44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in-</a:t>
            </a:r>
            <a:r>
              <a:rPr dirty="0" sz="2600">
                <a:latin typeface="Cambria"/>
                <a:cs typeface="Cambria"/>
              </a:rPr>
              <a:t>field</a:t>
            </a:r>
            <a:r>
              <a:rPr dirty="0" sz="2600" spc="295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maize</a:t>
            </a:r>
            <a:r>
              <a:rPr dirty="0" sz="2600" spc="180">
                <a:latin typeface="Cambria"/>
                <a:cs typeface="Cambria"/>
              </a:rPr>
              <a:t> </a:t>
            </a:r>
            <a:r>
              <a:rPr dirty="0" sz="2600">
                <a:latin typeface="Cambria"/>
                <a:cs typeface="Cambria"/>
              </a:rPr>
              <a:t>leaf</a:t>
            </a:r>
            <a:r>
              <a:rPr dirty="0" sz="2600" spc="245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disease</a:t>
            </a:r>
            <a:r>
              <a:rPr dirty="0" sz="2600" spc="240">
                <a:latin typeface="Cambria"/>
                <a:cs typeface="Cambria"/>
              </a:rPr>
              <a:t> </a:t>
            </a:r>
            <a:r>
              <a:rPr dirty="0" sz="2600" spc="-10">
                <a:latin typeface="Cambria"/>
                <a:cs typeface="Cambria"/>
              </a:rPr>
              <a:t>diagnosis.</a:t>
            </a:r>
            <a:endParaRPr sz="2600">
              <a:latin typeface="Cambria"/>
              <a:cs typeface="Cambria"/>
            </a:endParaRPr>
          </a:p>
          <a:p>
            <a:pPr marL="25400">
              <a:lnSpc>
                <a:spcPct val="100000"/>
              </a:lnSpc>
              <a:spcBef>
                <a:spcPts val="155"/>
              </a:spcBef>
            </a:pPr>
            <a:r>
              <a:rPr dirty="0" sz="2650" i="1">
                <a:latin typeface="Cambria"/>
                <a:cs typeface="Cambria"/>
              </a:rPr>
              <a:t>Machine</a:t>
            </a:r>
            <a:r>
              <a:rPr dirty="0" sz="2650" spc="295" i="1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Learning</a:t>
            </a:r>
            <a:r>
              <a:rPr dirty="0" sz="2650" spc="229" i="1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wifh</a:t>
            </a:r>
            <a:r>
              <a:rPr dirty="0" sz="2650" spc="130" i="1">
                <a:latin typeface="Cambria"/>
                <a:cs typeface="Cambria"/>
              </a:rPr>
              <a:t> </a:t>
            </a:r>
            <a:r>
              <a:rPr dirty="0" sz="2650" i="1">
                <a:latin typeface="Cambria"/>
                <a:cs typeface="Cambria"/>
              </a:rPr>
              <a:t>Applications,</a:t>
            </a:r>
            <a:r>
              <a:rPr dirty="0" sz="2650" spc="345" i="1">
                <a:latin typeface="Cambria"/>
                <a:cs typeface="Cambria"/>
              </a:rPr>
              <a:t> </a:t>
            </a:r>
            <a:r>
              <a:rPr dirty="0" sz="2650" spc="-10">
                <a:latin typeface="Cambria"/>
                <a:cs typeface="Cambria"/>
              </a:rPr>
              <a:t>100675.</a:t>
            </a:r>
            <a:endParaRPr sz="2650">
              <a:latin typeface="Cambria"/>
              <a:cs typeface="Cambria"/>
            </a:endParaRPr>
          </a:p>
          <a:p>
            <a:pPr marL="516890" indent="-491490">
              <a:lnSpc>
                <a:spcPct val="100000"/>
              </a:lnSpc>
              <a:spcBef>
                <a:spcPts val="95"/>
              </a:spcBef>
              <a:buAutoNum type="arabicPlain" startAt="9"/>
              <a:tabLst>
                <a:tab pos="516890" algn="l"/>
              </a:tabLst>
            </a:pPr>
            <a:r>
              <a:rPr dirty="0" sz="2700">
                <a:latin typeface="Cambria"/>
                <a:cs typeface="Cambria"/>
              </a:rPr>
              <a:t>Kaggle</a:t>
            </a:r>
            <a:r>
              <a:rPr dirty="0" sz="2700" spc="95">
                <a:latin typeface="Cambria"/>
                <a:cs typeface="Cambria"/>
              </a:rPr>
              <a:t> </a:t>
            </a:r>
            <a:r>
              <a:rPr dirty="0" sz="2700">
                <a:latin typeface="Cambria"/>
                <a:cs typeface="Cambria"/>
              </a:rPr>
              <a:t>Leaf</a:t>
            </a:r>
            <a:r>
              <a:rPr dirty="0" sz="2700" spc="155">
                <a:latin typeface="Cambria"/>
                <a:cs typeface="Cambria"/>
              </a:rPr>
              <a:t> </a:t>
            </a:r>
            <a:r>
              <a:rPr dirty="0" sz="2700" spc="-20">
                <a:latin typeface="Cambria"/>
                <a:cs typeface="Cambria"/>
              </a:rPr>
              <a:t>Disease</a:t>
            </a:r>
            <a:r>
              <a:rPr dirty="0" sz="2700" spc="-25">
                <a:latin typeface="Cambria"/>
                <a:cs typeface="Cambria"/>
              </a:rPr>
              <a:t> </a:t>
            </a:r>
            <a:r>
              <a:rPr dirty="0" sz="2700" spc="-45">
                <a:latin typeface="Cambria"/>
                <a:cs typeface="Cambria"/>
              </a:rPr>
              <a:t>Dataset</a:t>
            </a:r>
            <a:r>
              <a:rPr dirty="0" sz="2700" spc="335">
                <a:latin typeface="Cambria"/>
                <a:cs typeface="Cambria"/>
              </a:rPr>
              <a:t> </a:t>
            </a:r>
            <a:r>
              <a:rPr dirty="0" sz="2700" spc="-25">
                <a:latin typeface="Cambria"/>
                <a:cs typeface="Cambria"/>
              </a:rPr>
              <a:t>1,</a:t>
            </a:r>
            <a:endParaRPr sz="2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60"/>
              </a:spcBef>
              <a:buAutoNum type="arabicPlain" startAt="9"/>
            </a:pPr>
            <a:endParaRPr sz="2700">
              <a:latin typeface="Cambria"/>
              <a:cs typeface="Cambria"/>
            </a:endParaRPr>
          </a:p>
          <a:p>
            <a:pPr marL="717550" indent="-681355">
              <a:lnSpc>
                <a:spcPct val="100000"/>
              </a:lnSpc>
              <a:spcBef>
                <a:spcPts val="5"/>
              </a:spcBef>
              <a:buAutoNum type="arabicPlain" startAt="9"/>
              <a:tabLst>
                <a:tab pos="717550" algn="l"/>
              </a:tabLst>
            </a:pPr>
            <a:r>
              <a:rPr dirty="0" sz="2650">
                <a:latin typeface="Times New Roman"/>
                <a:cs typeface="Times New Roman"/>
              </a:rPr>
              <a:t>Kaggle</a:t>
            </a:r>
            <a:r>
              <a:rPr dirty="0" sz="2650" spc="345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Leaf</a:t>
            </a:r>
            <a:r>
              <a:rPr dirty="0" sz="2650" spc="35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Disease</a:t>
            </a:r>
            <a:r>
              <a:rPr dirty="0" sz="2650" spc="120">
                <a:latin typeface="Times New Roman"/>
                <a:cs typeface="Times New Roman"/>
              </a:rPr>
              <a:t> </a:t>
            </a:r>
            <a:r>
              <a:rPr dirty="0" sz="2650">
                <a:latin typeface="Times New Roman"/>
                <a:cs typeface="Times New Roman"/>
              </a:rPr>
              <a:t>Dataset</a:t>
            </a:r>
            <a:r>
              <a:rPr dirty="0" sz="2650" spc="220">
                <a:latin typeface="Times New Roman"/>
                <a:cs typeface="Times New Roman"/>
              </a:rPr>
              <a:t> </a:t>
            </a:r>
            <a:r>
              <a:rPr dirty="0" sz="2650" spc="-25">
                <a:latin typeface="Times New Roman"/>
                <a:cs typeface="Times New Roman"/>
              </a:rPr>
              <a:t>2,</a:t>
            </a:r>
            <a:endParaRPr sz="2650">
              <a:latin typeface="Times New Roman"/>
              <a:cs typeface="Times New Roman"/>
            </a:endParaRPr>
          </a:p>
          <a:p>
            <a:pPr marL="34290">
              <a:lnSpc>
                <a:spcPct val="100000"/>
              </a:lnSpc>
              <a:spcBef>
                <a:spcPts val="240"/>
              </a:spcBef>
              <a:tabLst>
                <a:tab pos="1022350" algn="l"/>
                <a:tab pos="2467610" algn="l"/>
                <a:tab pos="3072765" algn="l"/>
                <a:tab pos="4709795" algn="l"/>
                <a:tab pos="7774305" algn="l"/>
              </a:tabLst>
            </a:pPr>
            <a:r>
              <a:rPr dirty="0" sz="2550" spc="-30">
                <a:solidFill>
                  <a:srgbClr val="E69911"/>
                </a:solidFill>
                <a:latin typeface="Times New Roman"/>
                <a:cs typeface="Times New Roman"/>
              </a:rPr>
              <a:t>l›%i</a:t>
            </a:r>
            <a:r>
              <a:rPr dirty="0" sz="2550" spc="-130">
                <a:solidFill>
                  <a:srgbClr val="E69911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E69911"/>
                </a:solidFill>
                <a:latin typeface="Times New Roman"/>
                <a:cs typeface="Times New Roman"/>
              </a:rPr>
              <a:t>.:</a:t>
            </a:r>
            <a:r>
              <a:rPr dirty="0" sz="2550">
                <a:solidFill>
                  <a:srgbClr val="E69911"/>
                </a:solidFill>
                <a:latin typeface="Times New Roman"/>
                <a:cs typeface="Times New Roman"/>
              </a:rPr>
              <a:t>	</a:t>
            </a:r>
            <a:r>
              <a:rPr dirty="0" sz="2550" spc="-365">
                <a:solidFill>
                  <a:srgbClr val="EDA731"/>
                </a:solidFill>
                <a:latin typeface="Times New Roman"/>
                <a:cs typeface="Times New Roman"/>
              </a:rPr>
              <a:t>v›</a:t>
            </a:r>
            <a:r>
              <a:rPr dirty="0" sz="2550" spc="275">
                <a:solidFill>
                  <a:srgbClr val="EDA731"/>
                </a:solidFill>
                <a:latin typeface="Times New Roman"/>
                <a:cs typeface="Times New Roman"/>
              </a:rPr>
              <a:t> </a:t>
            </a:r>
            <a:r>
              <a:rPr dirty="0" sz="2550" spc="-120">
                <a:solidFill>
                  <a:srgbClr val="E4A313"/>
                </a:solidFill>
                <a:latin typeface="Times New Roman"/>
                <a:cs typeface="Times New Roman"/>
              </a:rPr>
              <a:t>›</a:t>
            </a:r>
            <a:r>
              <a:rPr dirty="0" sz="2550" spc="-125">
                <a:solidFill>
                  <a:srgbClr val="E4A313"/>
                </a:solidFill>
                <a:latin typeface="Times New Roman"/>
                <a:cs typeface="Times New Roman"/>
              </a:rPr>
              <a:t> </a:t>
            </a:r>
            <a:r>
              <a:rPr dirty="0" sz="2550" spc="-10">
                <a:solidFill>
                  <a:srgbClr val="DDA336"/>
                </a:solidFill>
                <a:latin typeface="Times New Roman"/>
                <a:cs typeface="Times New Roman"/>
              </a:rPr>
              <a:t>›•</a:t>
            </a:r>
            <a:r>
              <a:rPr dirty="0" sz="2550" spc="500">
                <a:solidFill>
                  <a:srgbClr val="DDA336"/>
                </a:solidFill>
                <a:latin typeface="Times New Roman"/>
                <a:cs typeface="Times New Roman"/>
              </a:rPr>
              <a:t> </a:t>
            </a:r>
            <a:r>
              <a:rPr dirty="0" sz="2550">
                <a:solidFill>
                  <a:srgbClr val="DDA336"/>
                </a:solidFill>
                <a:latin typeface="Times New Roman"/>
                <a:cs typeface="Times New Roman"/>
              </a:rPr>
              <a:t>\</a:t>
            </a:r>
            <a:r>
              <a:rPr dirty="0" sz="2550" spc="440">
                <a:solidFill>
                  <a:srgbClr val="DDA336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DDA336"/>
                </a:solidFill>
                <a:latin typeface="Times New Roman"/>
                <a:cs typeface="Times New Roman"/>
              </a:rPr>
              <a:t>.</a:t>
            </a:r>
            <a:r>
              <a:rPr dirty="0" sz="2550">
                <a:solidFill>
                  <a:srgbClr val="DDA336"/>
                </a:solidFill>
                <a:latin typeface="Times New Roman"/>
                <a:cs typeface="Times New Roman"/>
              </a:rPr>
              <a:t>	'</a:t>
            </a:r>
            <a:r>
              <a:rPr dirty="0" sz="2550" spc="130">
                <a:solidFill>
                  <a:srgbClr val="DDA336"/>
                </a:solidFill>
                <a:latin typeface="Times New Roman"/>
                <a:cs typeface="Times New Roman"/>
              </a:rPr>
              <a:t> </a:t>
            </a:r>
            <a:r>
              <a:rPr dirty="0" sz="2550" spc="-50">
                <a:solidFill>
                  <a:srgbClr val="E6A32F"/>
                </a:solidFill>
                <a:latin typeface="Times New Roman"/>
                <a:cs typeface="Times New Roman"/>
              </a:rPr>
              <a:t>:</a:t>
            </a:r>
            <a:r>
              <a:rPr dirty="0" sz="2550">
                <a:solidFill>
                  <a:srgbClr val="E6A32F"/>
                </a:solidFill>
                <a:latin typeface="Times New Roman"/>
                <a:cs typeface="Times New Roman"/>
              </a:rPr>
              <a:t>	</a:t>
            </a:r>
            <a:r>
              <a:rPr dirty="0" sz="2550" spc="95">
                <a:solidFill>
                  <a:srgbClr val="DBAC3F"/>
                </a:solidFill>
                <a:latin typeface="Times New Roman"/>
                <a:cs typeface="Times New Roman"/>
              </a:rPr>
              <a:t>.ii;‹_._,</a:t>
            </a:r>
            <a:r>
              <a:rPr dirty="0" sz="2550" spc="165">
                <a:solidFill>
                  <a:srgbClr val="DBAC3F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DBAC3F"/>
                </a:solidFill>
                <a:latin typeface="Times New Roman"/>
                <a:cs typeface="Times New Roman"/>
              </a:rPr>
              <a:t>.‹</a:t>
            </a:r>
            <a:r>
              <a:rPr dirty="0" u="heavy" sz="2550">
                <a:solidFill>
                  <a:srgbClr val="DBAC3F"/>
                </a:solidFill>
                <a:uFill>
                  <a:solidFill>
                    <a:srgbClr val="DAAB3E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sz="2550" spc="-80">
                <a:solidFill>
                  <a:srgbClr val="DBAC3F"/>
                </a:solidFill>
                <a:latin typeface="Times New Roman"/>
                <a:cs typeface="Times New Roman"/>
              </a:rPr>
              <a:t>i_,t;.i._.ir.@:i</a:t>
            </a:r>
            <a:r>
              <a:rPr dirty="0" sz="2550" spc="10">
                <a:solidFill>
                  <a:srgbClr val="DBAC3F"/>
                </a:solidFill>
                <a:latin typeface="Times New Roman"/>
                <a:cs typeface="Times New Roman"/>
              </a:rPr>
              <a:t> </a:t>
            </a:r>
            <a:r>
              <a:rPr dirty="0" sz="2550" spc="-365">
                <a:solidFill>
                  <a:srgbClr val="DBAC3F"/>
                </a:solidFill>
                <a:latin typeface="Times New Roman"/>
                <a:cs typeface="Times New Roman"/>
              </a:rPr>
              <a:t>¿;_i.!1_</a:t>
            </a:r>
            <a:r>
              <a:rPr dirty="0" sz="2550" spc="434">
                <a:solidFill>
                  <a:srgbClr val="DBAC3F"/>
                </a:solidFill>
                <a:latin typeface="Times New Roman"/>
                <a:cs typeface="Times New Roman"/>
              </a:rPr>
              <a:t> </a:t>
            </a:r>
            <a:r>
              <a:rPr dirty="0" sz="2550" spc="-25">
                <a:solidFill>
                  <a:srgbClr val="DBAC3F"/>
                </a:solidFill>
                <a:latin typeface="Times New Roman"/>
                <a:cs typeface="Times New Roman"/>
              </a:rPr>
              <a:t>c«r</a:t>
            </a:r>
            <a:r>
              <a:rPr dirty="0" sz="2550">
                <a:solidFill>
                  <a:srgbClr val="DBAC3F"/>
                </a:solidFill>
                <a:latin typeface="Times New Roman"/>
                <a:cs typeface="Times New Roman"/>
              </a:rPr>
              <a:t>	</a:t>
            </a:r>
            <a:r>
              <a:rPr dirty="0" sz="2550" spc="110" i="1">
                <a:solidFill>
                  <a:srgbClr val="DAA111"/>
                </a:solidFill>
                <a:latin typeface="Times New Roman"/>
                <a:cs typeface="Times New Roman"/>
              </a:rPr>
              <a:t>i</a:t>
            </a:r>
            <a:r>
              <a:rPr dirty="0" sz="2550" spc="110" i="1">
                <a:latin typeface="Times New Roman"/>
                <a:cs typeface="Times New Roman"/>
              </a:rPr>
              <a:t>,</a:t>
            </a:r>
            <a:r>
              <a:rPr dirty="0" sz="2550" spc="225" i="1">
                <a:latin typeface="Times New Roman"/>
                <a:cs typeface="Times New Roman"/>
              </a:rPr>
              <a:t> </a:t>
            </a:r>
            <a:r>
              <a:rPr dirty="0" sz="2550">
                <a:latin typeface="Times New Roman"/>
                <a:cs typeface="Times New Roman"/>
              </a:rPr>
              <a:t>last</a:t>
            </a:r>
            <a:r>
              <a:rPr dirty="0" sz="2550" spc="250">
                <a:latin typeface="Times New Roman"/>
                <a:cs typeface="Times New Roman"/>
              </a:rPr>
              <a:t> </a:t>
            </a:r>
            <a:r>
              <a:rPr dirty="0" sz="2550" spc="55">
                <a:latin typeface="Times New Roman"/>
                <a:cs typeface="Times New Roman"/>
              </a:rPr>
              <a:t>accessed</a:t>
            </a:r>
            <a:r>
              <a:rPr dirty="0" sz="2550" spc="260">
                <a:latin typeface="Times New Roman"/>
                <a:cs typeface="Times New Roman"/>
              </a:rPr>
              <a:t> </a:t>
            </a:r>
            <a:r>
              <a:rPr dirty="0" sz="2550" spc="45">
                <a:latin typeface="Times New Roman"/>
                <a:cs typeface="Times New Roman"/>
              </a:rPr>
              <a:t>2025/07/19.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20"/>
              </a:lnSpc>
            </a:pPr>
            <a:r>
              <a:rPr dirty="0">
                <a:solidFill>
                  <a:srgbClr val="007E4B"/>
                </a:solidFill>
              </a:rPr>
              <a:t>›</a:t>
            </a:r>
            <a:r>
              <a:rPr dirty="0" spc="450">
                <a:solidFill>
                  <a:srgbClr val="007E4B"/>
                </a:solidFill>
              </a:rPr>
              <a:t> </a:t>
            </a:r>
            <a:r>
              <a:rPr dirty="0"/>
              <a:t>Scanned</a:t>
            </a:r>
            <a:r>
              <a:rPr dirty="0" spc="50"/>
              <a:t> </a:t>
            </a:r>
            <a:r>
              <a:rPr dirty="0"/>
              <a:t>with</a:t>
            </a:r>
            <a:r>
              <a:rPr dirty="0" spc="30"/>
              <a:t> </a:t>
            </a:r>
            <a:r>
              <a:rPr dirty="0"/>
              <a:t>OKEN</a:t>
            </a:r>
            <a:r>
              <a:rPr dirty="0" spc="50"/>
              <a:t> </a:t>
            </a:r>
            <a:r>
              <a:rPr dirty="0" spc="-10"/>
              <a:t>Scanner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OKEN Scanner</dc:creator>
  <dc:subject>A-Lightweight-Attention-Enhanced-CNN-SVM-Hybrid-Approach-for-Maize-Leaf-Disease-Classification-1</dc:subject>
  <dc:title>A-Lightweight-Attention-Enhanced-CNN-SVM-Hybrid-Approach-for-Maize-Leaf-Disease-Classification-1</dc:title>
  <dcterms:created xsi:type="dcterms:W3CDTF">2026-10-13T20:29:27Z</dcterms:created>
  <dcterms:modified xsi:type="dcterms:W3CDTF">2026-10-13T20:29:27Z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2026-10-13T00:00:00Z</vt:filetime>
  </property>
  <property fmtid="{D5CDD505-2E9C-101B-9397-08002B2CF9AE}" pid="4" name="LastSaved">
    <vt:filetime>2026-10-13T00:00:00Z</vt:filetime>
  </property>
  <property fmtid="{D5CDD505-2E9C-101B-9397-08002B2CF9AE}" pid="5" name="Producer">
    <vt:lpwstr>intsig.com pdf producer</vt:lpwstr>
  </property>
</Properties>
</file>